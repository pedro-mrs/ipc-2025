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BFF41-FF3B-2142-A639-F2594708F882}" v="1" dt="2026-01-31T17:37:51.502"/>
    <p1510:client id="{B8D23FC1-9A01-4C43-810D-B206853D1915}" v="3" dt="2026-01-31T19:42:19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/>
    <p:restoredTop sz="94635"/>
  </p:normalViewPr>
  <p:slideViewPr>
    <p:cSldViewPr snapToGrid="0">
      <p:cViewPr>
        <p:scale>
          <a:sx n="75" d="100"/>
          <a:sy n="75" d="100"/>
        </p:scale>
        <p:origin x="557" y="-6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Norniella Jamart" userId="92dcd70e170e53a7" providerId="LiveId" clId="{963EB8FB-3F3D-597D-A817-5FBE33DBCB47}"/>
    <pc:docChg chg="undo redo custSel addSld delSld modSld">
      <pc:chgData name="Paula Norniella Jamart" userId="92dcd70e170e53a7" providerId="LiveId" clId="{963EB8FB-3F3D-597D-A817-5FBE33DBCB47}" dt="2026-01-31T19:47:40.562" v="840"/>
      <pc:docMkLst>
        <pc:docMk/>
      </pc:docMkLst>
      <pc:sldChg chg="del">
        <pc:chgData name="Paula Norniella Jamart" userId="92dcd70e170e53a7" providerId="LiveId" clId="{963EB8FB-3F3D-597D-A817-5FBE33DBCB47}" dt="2026-01-31T19:38:55.616" v="710" actId="2696"/>
        <pc:sldMkLst>
          <pc:docMk/>
          <pc:sldMk cId="3205397241" sldId="256"/>
        </pc:sldMkLst>
      </pc:sldChg>
      <pc:sldChg chg="add del">
        <pc:chgData name="Paula Norniella Jamart" userId="92dcd70e170e53a7" providerId="LiveId" clId="{963EB8FB-3F3D-597D-A817-5FBE33DBCB47}" dt="2026-01-31T19:39:52.597" v="714" actId="2696"/>
        <pc:sldMkLst>
          <pc:docMk/>
          <pc:sldMk cId="220350250" sldId="257"/>
        </pc:sldMkLst>
      </pc:sldChg>
      <pc:sldChg chg="modSp mod">
        <pc:chgData name="Paula Norniella Jamart" userId="92dcd70e170e53a7" providerId="LiveId" clId="{963EB8FB-3F3D-597D-A817-5FBE33DBCB47}" dt="2026-01-31T19:47:40.562" v="840"/>
        <pc:sldMkLst>
          <pc:docMk/>
          <pc:sldMk cId="4045999932" sldId="258"/>
        </pc:sldMkLst>
        <pc:spChg chg="mod">
          <ac:chgData name="Paula Norniella Jamart" userId="92dcd70e170e53a7" providerId="LiveId" clId="{963EB8FB-3F3D-597D-A817-5FBE33DBCB47}" dt="2026-01-31T17:37:51.502" v="86"/>
          <ac:spMkLst>
            <pc:docMk/>
            <pc:sldMk cId="4045999932" sldId="258"/>
            <ac:spMk id="3" creationId="{70138B42-E335-E05D-E193-37141538289E}"/>
          </ac:spMkLst>
        </pc:spChg>
        <pc:spChg chg="mod">
          <ac:chgData name="Paula Norniella Jamart" userId="92dcd70e170e53a7" providerId="LiveId" clId="{963EB8FB-3F3D-597D-A817-5FBE33DBCB47}" dt="2026-01-31T17:51:16.991" v="709" actId="20577"/>
          <ac:spMkLst>
            <pc:docMk/>
            <pc:sldMk cId="4045999932" sldId="258"/>
            <ac:spMk id="8" creationId="{C4D1F524-44A5-F16E-9FD3-EE5EA5819EAD}"/>
          </ac:spMkLst>
        </pc:spChg>
        <pc:spChg chg="mod">
          <ac:chgData name="Paula Norniella Jamart" userId="92dcd70e170e53a7" providerId="LiveId" clId="{963EB8FB-3F3D-597D-A817-5FBE33DBCB47}" dt="2026-01-31T19:47:40.562" v="840"/>
          <ac:spMkLst>
            <pc:docMk/>
            <pc:sldMk cId="4045999932" sldId="258"/>
            <ac:spMk id="34" creationId="{1B34C5B1-3A9B-391B-803D-711026F446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01/02/2026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La </a:t>
              </a:r>
              <a:r>
                <a:rPr lang="es-ES_tradnl" i="1" dirty="0" smtClean="0">
                  <a:solidFill>
                    <a:schemeClr val="tx1"/>
                  </a:solidFill>
                </a:rPr>
                <a:t>obesidad, o </a:t>
              </a:r>
              <a:r>
                <a:rPr lang="es-ES_tradnl" i="1" dirty="0">
                  <a:solidFill>
                    <a:schemeClr val="tx1"/>
                  </a:solidFill>
                </a:rPr>
                <a:t>acumulación excesiva de grasa </a:t>
              </a:r>
              <a:r>
                <a:rPr lang="es-ES_tradnl" i="1" dirty="0" smtClean="0">
                  <a:solidFill>
                    <a:schemeClr val="tx1"/>
                  </a:solidFill>
                </a:rPr>
                <a:t>corporal, </a:t>
              </a:r>
              <a:r>
                <a:rPr lang="es-ES_tradnl" i="1" dirty="0" smtClean="0">
                  <a:solidFill>
                    <a:schemeClr val="tx1"/>
                  </a:solidFill>
                </a:rPr>
                <a:t>causa graves problemas de </a:t>
              </a:r>
              <a:r>
                <a:rPr lang="es-ES_tradnl" i="1" dirty="0">
                  <a:solidFill>
                    <a:schemeClr val="tx1"/>
                  </a:solidFill>
                </a:rPr>
                <a:t>salud y enfermedades crónicas. </a:t>
              </a:r>
              <a:r>
                <a:rPr lang="es-ES_tradnl" i="1" dirty="0" smtClean="0">
                  <a:solidFill>
                    <a:schemeClr val="tx1"/>
                  </a:solidFill>
                </a:rPr>
                <a:t>Como caso de estudio, </a:t>
              </a:r>
              <a:r>
                <a:rPr lang="es-ES_tradnl" i="1" dirty="0">
                  <a:solidFill>
                    <a:schemeClr val="tx1"/>
                  </a:solidFill>
                </a:rPr>
                <a:t>se han </a:t>
              </a:r>
              <a:r>
                <a:rPr lang="es-ES_tradnl" i="1" dirty="0" smtClean="0">
                  <a:solidFill>
                    <a:schemeClr val="tx1"/>
                  </a:solidFill>
                </a:rPr>
                <a:t>estudiado las variantes genéticas en </a:t>
              </a:r>
              <a:r>
                <a:rPr lang="es-ES_tradnl" i="1" dirty="0">
                  <a:solidFill>
                    <a:schemeClr val="tx1"/>
                  </a:solidFill>
                </a:rPr>
                <a:t>diferentes miembros de la familia Simpson para </a:t>
              </a:r>
              <a:r>
                <a:rPr lang="es-ES_tradnl" i="1" dirty="0" smtClean="0">
                  <a:solidFill>
                    <a:schemeClr val="tx1"/>
                  </a:solidFill>
                </a:rPr>
                <a:t>establecer </a:t>
              </a:r>
              <a:r>
                <a:rPr lang="es-ES_tradnl" i="1" dirty="0">
                  <a:solidFill>
                    <a:schemeClr val="tx1"/>
                  </a:solidFill>
                </a:rPr>
                <a:t>la posible relación de esta patología con alteraciones a nivel </a:t>
              </a:r>
              <a:r>
                <a:rPr lang="es-ES_tradnl" i="1" dirty="0" smtClean="0">
                  <a:solidFill>
                    <a:schemeClr val="tx1"/>
                  </a:solidFill>
                </a:rPr>
                <a:t>genético.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1921805"/>
            <a:chOff x="207596" y="6110487"/>
            <a:chExt cx="14668990" cy="192180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35589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sz="1700" i="1" dirty="0" smtClean="0">
                  <a:solidFill>
                    <a:schemeClr val="tx1"/>
                  </a:solidFill>
                </a:rPr>
                <a:t>Se </a:t>
              </a:r>
              <a:r>
                <a:rPr lang="es-ES_tradnl" sz="1700" i="1" dirty="0">
                  <a:solidFill>
                    <a:schemeClr val="tx1"/>
                  </a:solidFill>
                </a:rPr>
                <a:t>analizaron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tres </a:t>
              </a:r>
              <a:r>
                <a:rPr lang="es-ES_tradnl" sz="1700" i="1" dirty="0">
                  <a:solidFill>
                    <a:schemeClr val="tx1"/>
                  </a:solidFill>
                </a:rPr>
                <a:t>variantes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de Abraham </a:t>
              </a:r>
              <a:r>
                <a:rPr lang="es-ES_tradnl" sz="1700" i="1" dirty="0">
                  <a:solidFill>
                    <a:schemeClr val="tx1"/>
                  </a:solidFill>
                </a:rPr>
                <a:t>y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Maggie</a:t>
              </a:r>
              <a:r>
                <a:rPr lang="es-ES_tradnl" sz="1700" i="1" dirty="0">
                  <a:solidFill>
                    <a:schemeClr val="tx1"/>
                  </a:solidFill>
                </a:rPr>
                <a:t>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Simpson </a:t>
              </a:r>
              <a:r>
                <a:rPr lang="es-ES_tradnl" sz="1700" i="1" dirty="0">
                  <a:solidFill>
                    <a:schemeClr val="tx1"/>
                  </a:solidFill>
                </a:rPr>
                <a:t>con VEP (https://www.ensembl.org/Tools/VEP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). Se exploraron la prevalencia en la población con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gnomAD</a:t>
              </a:r>
              <a:r>
                <a:rPr lang="es-ES_tradnl" sz="1700" i="1" dirty="0">
                  <a:solidFill>
                    <a:schemeClr val="tx1"/>
                  </a:solidFill>
                </a:rPr>
                <a:t> (https://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gnomad.broadinstitute.org); y su patogenicidad con </a:t>
              </a:r>
              <a:r>
                <a:rPr lang="es-ES_tradnl" sz="1700" i="1" dirty="0">
                  <a:solidFill>
                    <a:schemeClr val="tx1"/>
                  </a:solidFill>
                </a:rPr>
                <a:t>SIFT (https://sift.bii.a-star.edu.sg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/),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PolyPhen</a:t>
              </a:r>
              <a:r>
                <a:rPr lang="es-ES_tradnl" sz="1700" i="1" dirty="0">
                  <a:solidFill>
                    <a:schemeClr val="tx1"/>
                  </a:solidFill>
                </a:rPr>
                <a:t> (http://genetics.bwh.harvard.edu/pph2/),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y OMIM </a:t>
              </a:r>
              <a:r>
                <a:rPr lang="es-ES_tradnl" sz="1700" i="1" dirty="0">
                  <a:solidFill>
                    <a:schemeClr val="tx1"/>
                  </a:solidFill>
                </a:rPr>
                <a:t>(https://www.omim.org/).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Las variantes “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missense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” se analizaron con CLUSTAL </a:t>
              </a:r>
              <a:r>
                <a:rPr lang="es-ES_tradnl" sz="1700" i="1" dirty="0">
                  <a:solidFill>
                    <a:schemeClr val="tx1"/>
                  </a:solidFill>
                </a:rPr>
                <a:t>omega (https://www.ebi.ac.uk/jdispatcher/msa/clustalo)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para detectar si la región afectada estaba conservada. Las variantes “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nonsense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” se analizaron con </a:t>
              </a:r>
              <a:r>
                <a:rPr lang="es-ES_tradnl" sz="1700" i="1" dirty="0" err="1" smtClean="0">
                  <a:solidFill>
                    <a:schemeClr val="tx1"/>
                  </a:solidFill>
                </a:rPr>
                <a:t>Mutalyzer</a:t>
              </a:r>
              <a:r>
                <a:rPr lang="es-ES_tradnl" sz="1700" i="1" dirty="0">
                  <a:solidFill>
                    <a:schemeClr val="tx1"/>
                  </a:solidFill>
                </a:rPr>
                <a:t> (https://mutalyzer.nl/)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para comprobar la estructura del la proteína mutada. Consultamos las entradas </a:t>
              </a:r>
              <a:r>
                <a:rPr lang="es-ES_tradnl" sz="1700" i="1" dirty="0">
                  <a:solidFill>
                    <a:schemeClr val="tx1"/>
                  </a:solidFill>
                </a:rPr>
                <a:t>KEGG (https://www.kegg.jp/kegg/kegg2.html) </a:t>
              </a:r>
              <a:r>
                <a:rPr lang="es-ES_tradnl" sz="1700" i="1" dirty="0" smtClean="0">
                  <a:solidFill>
                    <a:schemeClr val="tx1"/>
                  </a:solidFill>
                </a:rPr>
                <a:t>para comprobar en qué rutas metabólicas está implicado cada gen.</a:t>
              </a:r>
              <a:endParaRPr lang="es-ES_tradnl" sz="17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Visualización de gráficos correspondientes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Anotación e interpretación de variantes</a:t>
            </a:r>
          </a:p>
          <a:p>
            <a:pPr algn="ctr">
              <a:lnSpc>
                <a:spcPct val="80000"/>
              </a:lnSpc>
            </a:pPr>
            <a:r>
              <a:rPr lang="es-ES_tradnl" sz="2800" b="1" i="1" dirty="0">
                <a:solidFill>
                  <a:schemeClr val="bg1"/>
                </a:solidFill>
              </a:rPr>
              <a:t>Genética clínica y de poblaciones</a:t>
            </a:r>
            <a:endParaRPr lang="es-ES_tradnl" sz="36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spc="-1" dirty="0">
                <a:solidFill>
                  <a:srgbClr val="FFFFFF"/>
                </a:solidFill>
                <a:ea typeface="DejaVu Sans"/>
              </a:rPr>
              <a:t>Paula Damián Moral - Paula Sofía Norniella Jamart - Pedro García Sáez - Pedro Manuel Rodríguez Santos - Pilar Navarro Sánchez - Rubén Martín Blázquez </a:t>
            </a:r>
            <a:endParaRPr lang="es-ES" sz="2000" spc="-1" dirty="0">
              <a:latin typeface="Arial"/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7596" y="17303689"/>
            <a:ext cx="9095800" cy="3844742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Maggie: </a:t>
              </a:r>
              <a:r>
                <a:rPr lang="es-ES_tradnl" i="1" dirty="0" smtClean="0">
                  <a:solidFill>
                    <a:schemeClr val="tx1"/>
                  </a:solidFill>
                </a:rPr>
                <a:t>presenta una 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deleción</a:t>
              </a:r>
              <a:r>
                <a:rPr lang="es-ES_tradnl" i="1" dirty="0" smtClean="0">
                  <a:solidFill>
                    <a:schemeClr val="tx1"/>
                  </a:solidFill>
                </a:rPr>
                <a:t> en </a:t>
              </a:r>
              <a:r>
                <a:rPr lang="es-ES_tradnl" i="1" dirty="0">
                  <a:solidFill>
                    <a:schemeClr val="tx1"/>
                  </a:solidFill>
                </a:rPr>
                <a:t>el gen receptor de </a:t>
              </a:r>
              <a:r>
                <a:rPr lang="es-ES_tradnl" i="1" dirty="0" err="1">
                  <a:solidFill>
                    <a:schemeClr val="tx1"/>
                  </a:solidFill>
                </a:rPr>
                <a:t>leptina</a:t>
              </a:r>
              <a:r>
                <a:rPr lang="es-ES_tradnl" i="1" dirty="0">
                  <a:solidFill>
                    <a:schemeClr val="tx1"/>
                  </a:solidFill>
                </a:rPr>
                <a:t> (LEPR</a:t>
              </a:r>
              <a:r>
                <a:rPr lang="es-ES_tradnl" i="1" dirty="0" smtClean="0">
                  <a:solidFill>
                    <a:schemeClr val="tx1"/>
                  </a:solidFill>
                </a:rPr>
                <a:t>), produciendo una mutación “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nonsense</a:t>
              </a:r>
              <a:r>
                <a:rPr lang="es-ES_tradnl" i="1" dirty="0" smtClean="0">
                  <a:solidFill>
                    <a:schemeClr val="tx1"/>
                  </a:solidFill>
                </a:rPr>
                <a:t>”. Esta 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deleción</a:t>
              </a:r>
              <a:r>
                <a:rPr lang="es-ES_tradnl" i="1" dirty="0" smtClean="0">
                  <a:solidFill>
                    <a:schemeClr val="tx1"/>
                  </a:solidFill>
                </a:rPr>
                <a:t> provoca la pérdida de </a:t>
              </a:r>
              <a:r>
                <a:rPr lang="es-ES_tradnl" i="1" dirty="0">
                  <a:solidFill>
                    <a:schemeClr val="tx1"/>
                  </a:solidFill>
                </a:rPr>
                <a:t>dominios necesarios para activar vías de </a:t>
              </a:r>
              <a:r>
                <a:rPr lang="es-ES_tradnl" i="1" dirty="0" smtClean="0">
                  <a:solidFill>
                    <a:schemeClr val="tx1"/>
                  </a:solidFill>
                </a:rPr>
                <a:t>señalización de </a:t>
              </a:r>
              <a:r>
                <a:rPr lang="es-ES_tradnl" i="1" dirty="0">
                  <a:solidFill>
                    <a:schemeClr val="tx1"/>
                  </a:solidFill>
                </a:rPr>
                <a:t>la hormona </a:t>
              </a:r>
              <a:r>
                <a:rPr lang="es-ES_tradnl" i="1" dirty="0" err="1">
                  <a:solidFill>
                    <a:schemeClr val="tx1"/>
                  </a:solidFill>
                </a:rPr>
                <a:t>leptina</a:t>
              </a:r>
              <a:r>
                <a:rPr lang="es-ES_tradnl" i="1" dirty="0">
                  <a:solidFill>
                    <a:schemeClr val="tx1"/>
                  </a:solidFill>
                </a:rPr>
                <a:t> (encargada de disminuir la ingesta y aumentar el consumo de energía).</a:t>
              </a:r>
            </a:p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Abraham: </a:t>
              </a:r>
              <a:r>
                <a:rPr lang="es-ES_tradnl" i="1" dirty="0" smtClean="0">
                  <a:solidFill>
                    <a:schemeClr val="tx1"/>
                  </a:solidFill>
                </a:rPr>
                <a:t>presenta una sustitución en el gen MC4R que provoca una mutación “</a:t>
              </a:r>
              <a:r>
                <a:rPr lang="es-ES_tradnl" i="1" dirty="0" err="1" smtClean="0">
                  <a:solidFill>
                    <a:schemeClr val="tx1"/>
                  </a:solidFill>
                </a:rPr>
                <a:t>missense</a:t>
              </a:r>
              <a:r>
                <a:rPr lang="es-ES_tradnl" i="1" dirty="0" smtClean="0">
                  <a:solidFill>
                    <a:schemeClr val="tx1"/>
                  </a:solidFill>
                </a:rPr>
                <a:t>”. </a:t>
              </a:r>
              <a:r>
                <a:rPr lang="es-ES_tradnl" i="1" dirty="0">
                  <a:solidFill>
                    <a:schemeClr val="tx1"/>
                  </a:solidFill>
                </a:rPr>
                <a:t>Esta alteración es altamente patogénica, afectando a </a:t>
              </a:r>
              <a:r>
                <a:rPr lang="es-ES_tradnl" i="1" dirty="0" smtClean="0">
                  <a:solidFill>
                    <a:schemeClr val="tx1"/>
                  </a:solidFill>
                </a:rPr>
                <a:t>una región </a:t>
              </a:r>
              <a:r>
                <a:rPr lang="es-ES_tradnl" i="1" dirty="0">
                  <a:solidFill>
                    <a:schemeClr val="tx1"/>
                  </a:solidFill>
                </a:rPr>
                <a:t>altamente </a:t>
              </a:r>
              <a:r>
                <a:rPr lang="es-ES_tradnl" i="1" dirty="0" smtClean="0">
                  <a:solidFill>
                    <a:schemeClr val="tx1"/>
                  </a:solidFill>
                </a:rPr>
                <a:t>conservada </a:t>
              </a:r>
              <a:r>
                <a:rPr lang="es-ES_tradnl" i="1" dirty="0">
                  <a:solidFill>
                    <a:schemeClr val="tx1"/>
                  </a:solidFill>
                </a:rPr>
                <a:t>evolutivamente. Como consecuencia, se altera </a:t>
              </a:r>
              <a:r>
                <a:rPr lang="es-ES_tradnl" i="1" dirty="0" smtClean="0">
                  <a:solidFill>
                    <a:schemeClr val="tx1"/>
                  </a:solidFill>
                </a:rPr>
                <a:t>el </a:t>
              </a:r>
              <a:r>
                <a:rPr lang="es-ES_tradnl" i="1" dirty="0">
                  <a:solidFill>
                    <a:schemeClr val="tx1"/>
                  </a:solidFill>
                </a:rPr>
                <a:t>control del apetito a nivel hipotalámico, </a:t>
              </a:r>
              <a:r>
                <a:rPr lang="es-ES_tradnl" i="1" dirty="0" smtClean="0">
                  <a:solidFill>
                    <a:schemeClr val="tx1"/>
                  </a:solidFill>
                </a:rPr>
                <a:t>derivando </a:t>
              </a:r>
              <a:r>
                <a:rPr lang="es-ES_tradnl" i="1" dirty="0">
                  <a:solidFill>
                    <a:schemeClr val="tx1"/>
                  </a:solidFill>
                </a:rPr>
                <a:t>en la característica </a:t>
              </a:r>
              <a:r>
                <a:rPr lang="es-ES_tradnl" i="1" dirty="0" err="1">
                  <a:solidFill>
                    <a:schemeClr val="tx1"/>
                  </a:solidFill>
                </a:rPr>
                <a:t>hiperfagia</a:t>
              </a:r>
              <a:r>
                <a:rPr lang="es-ES_tradnl" i="1" dirty="0">
                  <a:solidFill>
                    <a:schemeClr val="tx1"/>
                  </a:solidFill>
                </a:rPr>
                <a:t> típica de pacientes con obesidad </a:t>
              </a:r>
              <a:r>
                <a:rPr lang="es-ES_tradnl" i="1" dirty="0" err="1">
                  <a:solidFill>
                    <a:schemeClr val="tx1"/>
                  </a:solidFill>
                </a:rPr>
                <a:t>monogénica</a:t>
              </a:r>
              <a:r>
                <a:rPr lang="es-ES_tradnl" i="1" dirty="0">
                  <a:solidFill>
                    <a:schemeClr val="tx1"/>
                  </a:solidFill>
                </a:rPr>
                <a:t>.</a:t>
              </a:r>
            </a:p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Ambos presentan mutaciones en los genes MED12 y </a:t>
              </a:r>
              <a:r>
                <a:rPr lang="es-ES_tradnl" i="1" dirty="0" smtClean="0">
                  <a:solidFill>
                    <a:schemeClr val="tx1"/>
                  </a:solidFill>
                </a:rPr>
                <a:t>TP53, pero tienen un nivel de patogenicidad bajo o ambiguo.</a:t>
              </a: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 smtClean="0">
                  <a:solidFill>
                    <a:schemeClr val="tx1"/>
                  </a:solidFill>
                </a:rPr>
                <a:t>Las variantes de </a:t>
              </a:r>
              <a:r>
                <a:rPr lang="es-ES_tradnl" i="1" dirty="0">
                  <a:solidFill>
                    <a:schemeClr val="tx1"/>
                  </a:solidFill>
                </a:rPr>
                <a:t>los genes LEPR </a:t>
              </a:r>
              <a:r>
                <a:rPr lang="es-ES_tradnl" i="1" dirty="0" smtClean="0">
                  <a:solidFill>
                    <a:schemeClr val="tx1"/>
                  </a:solidFill>
                </a:rPr>
                <a:t>(portada por Maggie</a:t>
              </a:r>
              <a:r>
                <a:rPr lang="es-ES_tradnl" i="1" dirty="0">
                  <a:solidFill>
                    <a:schemeClr val="tx1"/>
                  </a:solidFill>
                </a:rPr>
                <a:t>) y MC4R </a:t>
              </a:r>
              <a:r>
                <a:rPr lang="es-ES_tradnl" i="1" dirty="0" smtClean="0">
                  <a:solidFill>
                    <a:schemeClr val="tx1"/>
                  </a:solidFill>
                </a:rPr>
                <a:t>(portada por Abraham) pueden indicar que los Simpson sean propensos a desarrollar obesidad. Por </a:t>
              </a:r>
              <a:r>
                <a:rPr lang="es-ES_tradnl" i="1" dirty="0">
                  <a:solidFill>
                    <a:schemeClr val="tx1"/>
                  </a:solidFill>
                </a:rPr>
                <a:t>otro lado, mutaciones que comparten ambos en los genes MED12 y TP53, no se consideran patogénicas ni se observa relación con el fenotipo </a:t>
              </a:r>
              <a:r>
                <a:rPr lang="es-ES_tradnl" i="1" dirty="0" smtClean="0">
                  <a:solidFill>
                    <a:schemeClr val="tx1"/>
                  </a:solidFill>
                </a:rPr>
                <a:t>observado. Por lo tanto, </a:t>
              </a:r>
              <a:r>
                <a:rPr lang="es-ES_tradnl" i="1" dirty="0" smtClean="0">
                  <a:solidFill>
                    <a:schemeClr val="tx1"/>
                  </a:solidFill>
                </a:rPr>
                <a:t>la familia Simpson debe tener una dieta controlada y hábitos de vida saludable si no desean desarrollar obesidad.</a:t>
              </a: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00673" y="8930920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Descripción.</a:t>
            </a: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518258" y="9799765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Descripción.</a:t>
            </a:r>
          </a:p>
        </p:txBody>
      </p:sp>
      <p:sp>
        <p:nvSpPr>
          <p:cNvPr id="41" name="Rectángulo redondeado 40">
            <a:extLst>
              <a:ext uri="{FF2B5EF4-FFF2-40B4-BE49-F238E27FC236}">
                <a16:creationId xmlns:a16="http://schemas.microsoft.com/office/drawing/2014/main" id="{A5674FB9-8324-DF2F-A950-34B0495EFB78}"/>
              </a:ext>
            </a:extLst>
          </p:cNvPr>
          <p:cNvSpPr/>
          <p:nvPr/>
        </p:nvSpPr>
        <p:spPr>
          <a:xfrm>
            <a:off x="518258" y="10660249"/>
            <a:ext cx="1395975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3.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Descripción.</a:t>
            </a:r>
          </a:p>
        </p:txBody>
      </p:sp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B638B7-22B7-4D35-BE84-714C8C34C1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BD36D8-5209-415C-A4C4-4F318B167F4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0a70e875-3d35-4be2-921f-7117c31bab9b"/>
    <ds:schemaRef ds:uri="http://purl.org/dc/elements/1.1/"/>
    <ds:schemaRef ds:uri="http://schemas.microsoft.com/office/2006/metadata/properties"/>
    <ds:schemaRef ds:uri="http://schemas.microsoft.com/office/infopath/2007/PartnerControls"/>
    <ds:schemaRef ds:uri="27c1adeb-3674-457c-b08c-8a73f31b6e2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6214829-4D9F-4687-8E37-8FF1875CAB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435</Words>
  <Application>Microsoft Office PowerPoint</Application>
  <PresentationFormat>Personalizado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DejaVu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Victor  de la O Pascual</dc:creator>
  <cp:lastModifiedBy>Ruben</cp:lastModifiedBy>
  <cp:revision>25</cp:revision>
  <dcterms:created xsi:type="dcterms:W3CDTF">2025-04-21T10:03:24Z</dcterms:created>
  <dcterms:modified xsi:type="dcterms:W3CDTF">2026-02-01T11:41:35Z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