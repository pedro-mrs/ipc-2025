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xml"/>
  <Override PartName="/customXml/item1.xml" ContentType="application/xml"/>
  <Override PartName="/customXml/itemProps1.xml" ContentType="application/vnd.openxmlformats-officedocument.customXmlProperties+xml"/>
  <Override PartName="/customXml/item2.xml" ContentType="application/xml"/>
  <Override PartName="/customXml/_rels/item1.xml.rels" ContentType="application/vnd.openxmlformats-package.relationships+xml"/>
  <Override PartName="/customXml/_rels/item2.xml.rels" ContentType="application/vnd.openxmlformats-package.relationships+xml"/>
  <Override PartName="/customXml/_rels/item3.xml.rels" ContentType="application/vnd.openxmlformats-package.relationships+xml"/>
  <Override PartName="/customXml/itemProps2.xml" ContentType="application/vnd.openxmlformats-officedocument.customXmlProperties+xml"/>
  <Override PartName="/customXml/item3.xml" ContentType="application/xml"/>
  <Override PartName="/customXml/itemProps3.xml" ContentType="application/vnd.openxmlformats-officedocument.customXml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_rels/slideMaster1.xml.rels" ContentType="application/vnd.openxmlformats-package.relationships+xml"/>
  <Override PartName="/ppt/theme/theme1.xml" ContentType="application/vnd.openxmlformats-officedocument.theme+xml"/>
  <Override PartName="/ppt/slideLayouts/slideLayout1.xml" ContentType="application/vnd.openxmlformats-officedocument.presentationml.slideLayout+xml"/>
  <Override PartName="/ppt/slideLayouts/slideLayout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_rels/slideLayout9.xml.rels" ContentType="application/vnd.openxmlformats-package.relationships+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3.xml.rels" ContentType="application/vnd.openxmlformats-package.relationships+xml"/>
  <Override PartName="/ppt/slideLayouts/_rels/slideLayout4.xml.rels" ContentType="application/vnd.openxmlformats-package.relationships+xml"/>
  <Override PartName="/ppt/slideLayouts/_rels/slideLayout5.xml.rels" ContentType="application/vnd.openxmlformats-package.relationships+xml"/>
  <Override PartName="/ppt/slideLayouts/_rels/slideLayout6.xml.rels" ContentType="application/vnd.openxmlformats-package.relationships+xml"/>
  <Override PartName="/ppt/slideLayouts/_rels/slideLayout7.xml.rels" ContentType="application/vnd.openxmlformats-package.relationships+xml"/>
  <Override PartName="/ppt/slideLayouts/_rels/slideLayout8.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_rels/presentation.xml.rels" ContentType="application/vnd.openxmlformats-package.relationships+xml"/>
  <Override PartName="/ppt/slides/slide1.xml" ContentType="application/vnd.openxmlformats-officedocument.presentationml.slide+xml"/>
  <Override PartName="/ppt/slides/_rels/slide1.xml.rels" ContentType="application/vnd.openxmlformats-package.relationships+xml"/>
  <Override PartName="/ppt/media/image1.png" ContentType="image/png"/>
  <Override PartName="/ppt/media/image2.png" ContentType="image/png"/>
  <Override PartName="/ppt/media/image3.png" ContentType="image/png"/>
  <Override PartName="/ppt/media/image4.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customXml" Target="../customXml/item1.xml"/><Relationship Id="rId5" Type="http://schemas.openxmlformats.org/officeDocument/2006/relationships/customXml" Target="../customXml/item2.xml"/><Relationship Id="rId6" Type="http://schemas.openxmlformats.org/officeDocument/2006/relationships/customXml" Target="../customXml/item3.xml"/><Relationship Id="rId7" Type="http://schemas.microsoft.com/office/2020/02/relationships/classificationlabels" Target="docMetadata/LabelInfo.xml"/><Relationship Id="rId8"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Lst>
  <p:sldSz cx="15119350" cy="21383625"/>
  <p:notesSz cx="7559675" cy="10691812"/>
</p:presentation>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1134000" y="3499560"/>
            <a:ext cx="12850920" cy="7444440"/>
          </a:xfrm>
          <a:prstGeom prst="rect">
            <a:avLst/>
          </a:prstGeom>
        </p:spPr>
        <p:txBody>
          <a:bodyPr lIns="0" rIns="0" tIns="0" bIns="0" anchor="ctr">
            <a:noAutofit/>
          </a:bodyPr>
          <a:p>
            <a:endParaRPr b="0" lang="en-US" sz="1800" spc="-1" strike="noStrike">
              <a:solidFill>
                <a:srgbClr val="000000"/>
              </a:solidFill>
              <a:latin typeface="Aptos"/>
            </a:endParaRPr>
          </a:p>
        </p:txBody>
      </p:sp>
      <p:sp>
        <p:nvSpPr>
          <p:cNvPr id="6" name="PlaceHolder 2"/>
          <p:cNvSpPr>
            <a:spLocks noGrp="1"/>
          </p:cNvSpPr>
          <p:nvPr>
            <p:ph type="subTitle"/>
          </p:nvPr>
        </p:nvSpPr>
        <p:spPr>
          <a:xfrm>
            <a:off x="755640" y="5003640"/>
            <a:ext cx="13606920" cy="1240200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1134000" y="3499560"/>
            <a:ext cx="12850920" cy="7444440"/>
          </a:xfrm>
          <a:prstGeom prst="rect">
            <a:avLst/>
          </a:prstGeom>
        </p:spPr>
        <p:txBody>
          <a:bodyPr lIns="0" rIns="0" tIns="0" bIns="0" anchor="ctr">
            <a:noAutofit/>
          </a:bodyPr>
          <a:p>
            <a:endParaRPr b="0" lang="en-US" sz="1800" spc="-1" strike="noStrike">
              <a:solidFill>
                <a:srgbClr val="000000"/>
              </a:solidFill>
              <a:latin typeface="Aptos"/>
            </a:endParaRPr>
          </a:p>
        </p:txBody>
      </p:sp>
      <p:sp>
        <p:nvSpPr>
          <p:cNvPr id="8" name="PlaceHolder 2"/>
          <p:cNvSpPr>
            <a:spLocks noGrp="1"/>
          </p:cNvSpPr>
          <p:nvPr>
            <p:ph type="body"/>
          </p:nvPr>
        </p:nvSpPr>
        <p:spPr>
          <a:xfrm>
            <a:off x="755640" y="5003640"/>
            <a:ext cx="13606920" cy="12402000"/>
          </a:xfrm>
          <a:prstGeom prst="rect">
            <a:avLst/>
          </a:prstGeom>
        </p:spPr>
        <p:txBody>
          <a:bodyPr lIns="0" rIns="0" tIns="0" bIns="0">
            <a:normAutofit/>
          </a:bodyPr>
          <a:p>
            <a:endParaRPr b="0" lang="en-US" sz="4630" spc="-1" strike="noStrike">
              <a:solidFill>
                <a:srgbClr val="000000"/>
              </a:solidFill>
              <a:latin typeface="Aptos"/>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1134000" y="3499560"/>
            <a:ext cx="12850920" cy="7444440"/>
          </a:xfrm>
          <a:prstGeom prst="rect">
            <a:avLst/>
          </a:prstGeom>
        </p:spPr>
        <p:txBody>
          <a:bodyPr lIns="0" rIns="0" tIns="0" bIns="0" anchor="ctr">
            <a:noAutofit/>
          </a:bodyPr>
          <a:p>
            <a:endParaRPr b="0" lang="en-US" sz="1800" spc="-1" strike="noStrike">
              <a:solidFill>
                <a:srgbClr val="000000"/>
              </a:solidFill>
              <a:latin typeface="Aptos"/>
            </a:endParaRPr>
          </a:p>
        </p:txBody>
      </p:sp>
      <p:sp>
        <p:nvSpPr>
          <p:cNvPr id="10" name="PlaceHolder 2"/>
          <p:cNvSpPr>
            <a:spLocks noGrp="1"/>
          </p:cNvSpPr>
          <p:nvPr>
            <p:ph type="body"/>
          </p:nvPr>
        </p:nvSpPr>
        <p:spPr>
          <a:xfrm>
            <a:off x="755640" y="5003640"/>
            <a:ext cx="6639840" cy="12402000"/>
          </a:xfrm>
          <a:prstGeom prst="rect">
            <a:avLst/>
          </a:prstGeom>
        </p:spPr>
        <p:txBody>
          <a:bodyPr lIns="0" rIns="0" tIns="0" bIns="0">
            <a:normAutofit/>
          </a:bodyPr>
          <a:p>
            <a:endParaRPr b="0" lang="en-US" sz="4630" spc="-1" strike="noStrike">
              <a:solidFill>
                <a:srgbClr val="000000"/>
              </a:solidFill>
              <a:latin typeface="Aptos"/>
            </a:endParaRPr>
          </a:p>
        </p:txBody>
      </p:sp>
      <p:sp>
        <p:nvSpPr>
          <p:cNvPr id="11" name="PlaceHolder 3"/>
          <p:cNvSpPr>
            <a:spLocks noGrp="1"/>
          </p:cNvSpPr>
          <p:nvPr>
            <p:ph type="body"/>
          </p:nvPr>
        </p:nvSpPr>
        <p:spPr>
          <a:xfrm>
            <a:off x="7727760" y="5003640"/>
            <a:ext cx="6639840" cy="12402000"/>
          </a:xfrm>
          <a:prstGeom prst="rect">
            <a:avLst/>
          </a:prstGeom>
        </p:spPr>
        <p:txBody>
          <a:bodyPr lIns="0" rIns="0" tIns="0" bIns="0">
            <a:normAutofit/>
          </a:bodyPr>
          <a:p>
            <a:endParaRPr b="0" lang="en-US" sz="4630" spc="-1" strike="noStrike">
              <a:solidFill>
                <a:srgbClr val="000000"/>
              </a:solidFill>
              <a:latin typeface="Aptos"/>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1134000" y="3499560"/>
            <a:ext cx="12850920" cy="7444440"/>
          </a:xfrm>
          <a:prstGeom prst="rect">
            <a:avLst/>
          </a:prstGeom>
        </p:spPr>
        <p:txBody>
          <a:bodyPr lIns="0" rIns="0" tIns="0" bIns="0" anchor="ctr">
            <a:noAutofit/>
          </a:bodyPr>
          <a:p>
            <a:endParaRPr b="0" lang="en-US" sz="1800" spc="-1" strike="noStrike">
              <a:solidFill>
                <a:srgbClr val="000000"/>
              </a:solidFill>
              <a:latin typeface="Aptos"/>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1134000" y="3499560"/>
            <a:ext cx="12850920" cy="34509240"/>
          </a:xfrm>
          <a:prstGeom prst="rect">
            <a:avLst/>
          </a:prstGeom>
        </p:spPr>
        <p:txBody>
          <a:bodyPr lIns="0" rIns="0" tIns="0" bIns="0" anchor="ctr">
            <a:noAutofit/>
          </a:bodyPr>
          <a:p>
            <a:pPr algn="ctr"/>
            <a:endParaRPr b="0" lang="es-E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1134000" y="3499560"/>
            <a:ext cx="12850920" cy="7444440"/>
          </a:xfrm>
          <a:prstGeom prst="rect">
            <a:avLst/>
          </a:prstGeom>
        </p:spPr>
        <p:txBody>
          <a:bodyPr lIns="0" rIns="0" tIns="0" bIns="0" anchor="ctr">
            <a:noAutofit/>
          </a:bodyPr>
          <a:p>
            <a:endParaRPr b="0" lang="en-US" sz="1800" spc="-1" strike="noStrike">
              <a:solidFill>
                <a:srgbClr val="000000"/>
              </a:solidFill>
              <a:latin typeface="Aptos"/>
            </a:endParaRPr>
          </a:p>
        </p:txBody>
      </p:sp>
      <p:sp>
        <p:nvSpPr>
          <p:cNvPr id="15" name="PlaceHolder 2"/>
          <p:cNvSpPr>
            <a:spLocks noGrp="1"/>
          </p:cNvSpPr>
          <p:nvPr>
            <p:ph type="body"/>
          </p:nvPr>
        </p:nvSpPr>
        <p:spPr>
          <a:xfrm>
            <a:off x="755640" y="5003640"/>
            <a:ext cx="6639840" cy="5915520"/>
          </a:xfrm>
          <a:prstGeom prst="rect">
            <a:avLst/>
          </a:prstGeom>
        </p:spPr>
        <p:txBody>
          <a:bodyPr lIns="0" rIns="0" tIns="0" bIns="0">
            <a:normAutofit/>
          </a:bodyPr>
          <a:p>
            <a:endParaRPr b="0" lang="en-US" sz="4630" spc="-1" strike="noStrike">
              <a:solidFill>
                <a:srgbClr val="000000"/>
              </a:solidFill>
              <a:latin typeface="Aptos"/>
            </a:endParaRPr>
          </a:p>
        </p:txBody>
      </p:sp>
      <p:sp>
        <p:nvSpPr>
          <p:cNvPr id="16" name="PlaceHolder 3"/>
          <p:cNvSpPr>
            <a:spLocks noGrp="1"/>
          </p:cNvSpPr>
          <p:nvPr>
            <p:ph type="body"/>
          </p:nvPr>
        </p:nvSpPr>
        <p:spPr>
          <a:xfrm>
            <a:off x="7727760" y="5003640"/>
            <a:ext cx="6639840" cy="12402000"/>
          </a:xfrm>
          <a:prstGeom prst="rect">
            <a:avLst/>
          </a:prstGeom>
        </p:spPr>
        <p:txBody>
          <a:bodyPr lIns="0" rIns="0" tIns="0" bIns="0">
            <a:normAutofit/>
          </a:bodyPr>
          <a:p>
            <a:endParaRPr b="0" lang="en-US" sz="4630" spc="-1" strike="noStrike">
              <a:solidFill>
                <a:srgbClr val="000000"/>
              </a:solidFill>
              <a:latin typeface="Aptos"/>
            </a:endParaRPr>
          </a:p>
        </p:txBody>
      </p:sp>
      <p:sp>
        <p:nvSpPr>
          <p:cNvPr id="17" name="PlaceHolder 4"/>
          <p:cNvSpPr>
            <a:spLocks noGrp="1"/>
          </p:cNvSpPr>
          <p:nvPr>
            <p:ph type="body"/>
          </p:nvPr>
        </p:nvSpPr>
        <p:spPr>
          <a:xfrm>
            <a:off x="755640" y="11481480"/>
            <a:ext cx="6639840" cy="5915520"/>
          </a:xfrm>
          <a:prstGeom prst="rect">
            <a:avLst/>
          </a:prstGeom>
        </p:spPr>
        <p:txBody>
          <a:bodyPr lIns="0" rIns="0" tIns="0" bIns="0">
            <a:normAutofit/>
          </a:bodyPr>
          <a:p>
            <a:endParaRPr b="0" lang="en-US" sz="4630" spc="-1" strike="noStrike">
              <a:solidFill>
                <a:srgbClr val="000000"/>
              </a:solidFill>
              <a:latin typeface="Aptos"/>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1134000" y="3499560"/>
            <a:ext cx="12850920" cy="7444440"/>
          </a:xfrm>
          <a:prstGeom prst="rect">
            <a:avLst/>
          </a:prstGeom>
        </p:spPr>
        <p:txBody>
          <a:bodyPr lIns="0" rIns="0" tIns="0" bIns="0" anchor="ctr">
            <a:noAutofit/>
          </a:bodyPr>
          <a:p>
            <a:endParaRPr b="0" lang="en-US" sz="1800" spc="-1" strike="noStrike">
              <a:solidFill>
                <a:srgbClr val="000000"/>
              </a:solidFill>
              <a:latin typeface="Aptos"/>
            </a:endParaRPr>
          </a:p>
        </p:txBody>
      </p:sp>
      <p:sp>
        <p:nvSpPr>
          <p:cNvPr id="19" name="PlaceHolder 2"/>
          <p:cNvSpPr>
            <a:spLocks noGrp="1"/>
          </p:cNvSpPr>
          <p:nvPr>
            <p:ph type="body"/>
          </p:nvPr>
        </p:nvSpPr>
        <p:spPr>
          <a:xfrm>
            <a:off x="755640" y="5003640"/>
            <a:ext cx="6639840" cy="12402000"/>
          </a:xfrm>
          <a:prstGeom prst="rect">
            <a:avLst/>
          </a:prstGeom>
        </p:spPr>
        <p:txBody>
          <a:bodyPr lIns="0" rIns="0" tIns="0" bIns="0">
            <a:normAutofit/>
          </a:bodyPr>
          <a:p>
            <a:endParaRPr b="0" lang="en-US" sz="4630" spc="-1" strike="noStrike">
              <a:solidFill>
                <a:srgbClr val="000000"/>
              </a:solidFill>
              <a:latin typeface="Aptos"/>
            </a:endParaRPr>
          </a:p>
        </p:txBody>
      </p:sp>
      <p:sp>
        <p:nvSpPr>
          <p:cNvPr id="20" name="PlaceHolder 3"/>
          <p:cNvSpPr>
            <a:spLocks noGrp="1"/>
          </p:cNvSpPr>
          <p:nvPr>
            <p:ph type="body"/>
          </p:nvPr>
        </p:nvSpPr>
        <p:spPr>
          <a:xfrm>
            <a:off x="7727760" y="5003640"/>
            <a:ext cx="6639840" cy="5915520"/>
          </a:xfrm>
          <a:prstGeom prst="rect">
            <a:avLst/>
          </a:prstGeom>
        </p:spPr>
        <p:txBody>
          <a:bodyPr lIns="0" rIns="0" tIns="0" bIns="0">
            <a:normAutofit/>
          </a:bodyPr>
          <a:p>
            <a:endParaRPr b="0" lang="en-US" sz="4630" spc="-1" strike="noStrike">
              <a:solidFill>
                <a:srgbClr val="000000"/>
              </a:solidFill>
              <a:latin typeface="Aptos"/>
            </a:endParaRPr>
          </a:p>
        </p:txBody>
      </p:sp>
      <p:sp>
        <p:nvSpPr>
          <p:cNvPr id="21" name="PlaceHolder 4"/>
          <p:cNvSpPr>
            <a:spLocks noGrp="1"/>
          </p:cNvSpPr>
          <p:nvPr>
            <p:ph type="body"/>
          </p:nvPr>
        </p:nvSpPr>
        <p:spPr>
          <a:xfrm>
            <a:off x="7727760" y="11481480"/>
            <a:ext cx="6639840" cy="5915520"/>
          </a:xfrm>
          <a:prstGeom prst="rect">
            <a:avLst/>
          </a:prstGeom>
        </p:spPr>
        <p:txBody>
          <a:bodyPr lIns="0" rIns="0" tIns="0" bIns="0">
            <a:normAutofit/>
          </a:bodyPr>
          <a:p>
            <a:endParaRPr b="0" lang="en-US" sz="4630" spc="-1" strike="noStrike">
              <a:solidFill>
                <a:srgbClr val="000000"/>
              </a:solidFill>
              <a:latin typeface="Aptos"/>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1134000" y="3499560"/>
            <a:ext cx="12850920" cy="7444440"/>
          </a:xfrm>
          <a:prstGeom prst="rect">
            <a:avLst/>
          </a:prstGeom>
        </p:spPr>
        <p:txBody>
          <a:bodyPr lIns="0" rIns="0" tIns="0" bIns="0" anchor="ctr">
            <a:noAutofit/>
          </a:bodyPr>
          <a:p>
            <a:endParaRPr b="0" lang="en-US" sz="1800" spc="-1" strike="noStrike">
              <a:solidFill>
                <a:srgbClr val="000000"/>
              </a:solidFill>
              <a:latin typeface="Aptos"/>
            </a:endParaRPr>
          </a:p>
        </p:txBody>
      </p:sp>
      <p:sp>
        <p:nvSpPr>
          <p:cNvPr id="23" name="PlaceHolder 2"/>
          <p:cNvSpPr>
            <a:spLocks noGrp="1"/>
          </p:cNvSpPr>
          <p:nvPr>
            <p:ph type="body"/>
          </p:nvPr>
        </p:nvSpPr>
        <p:spPr>
          <a:xfrm>
            <a:off x="755640" y="5003640"/>
            <a:ext cx="6639840" cy="5915520"/>
          </a:xfrm>
          <a:prstGeom prst="rect">
            <a:avLst/>
          </a:prstGeom>
        </p:spPr>
        <p:txBody>
          <a:bodyPr lIns="0" rIns="0" tIns="0" bIns="0">
            <a:normAutofit/>
          </a:bodyPr>
          <a:p>
            <a:endParaRPr b="0" lang="en-US" sz="4630" spc="-1" strike="noStrike">
              <a:solidFill>
                <a:srgbClr val="000000"/>
              </a:solidFill>
              <a:latin typeface="Aptos"/>
            </a:endParaRPr>
          </a:p>
        </p:txBody>
      </p:sp>
      <p:sp>
        <p:nvSpPr>
          <p:cNvPr id="24" name="PlaceHolder 3"/>
          <p:cNvSpPr>
            <a:spLocks noGrp="1"/>
          </p:cNvSpPr>
          <p:nvPr>
            <p:ph type="body"/>
          </p:nvPr>
        </p:nvSpPr>
        <p:spPr>
          <a:xfrm>
            <a:off x="7727760" y="5003640"/>
            <a:ext cx="6639840" cy="5915520"/>
          </a:xfrm>
          <a:prstGeom prst="rect">
            <a:avLst/>
          </a:prstGeom>
        </p:spPr>
        <p:txBody>
          <a:bodyPr lIns="0" rIns="0" tIns="0" bIns="0">
            <a:normAutofit/>
          </a:bodyPr>
          <a:p>
            <a:endParaRPr b="0" lang="en-US" sz="4630" spc="-1" strike="noStrike">
              <a:solidFill>
                <a:srgbClr val="000000"/>
              </a:solidFill>
              <a:latin typeface="Aptos"/>
            </a:endParaRPr>
          </a:p>
        </p:txBody>
      </p:sp>
      <p:sp>
        <p:nvSpPr>
          <p:cNvPr id="25" name="PlaceHolder 4"/>
          <p:cNvSpPr>
            <a:spLocks noGrp="1"/>
          </p:cNvSpPr>
          <p:nvPr>
            <p:ph type="body"/>
          </p:nvPr>
        </p:nvSpPr>
        <p:spPr>
          <a:xfrm>
            <a:off x="755640" y="11481480"/>
            <a:ext cx="13606920" cy="5915520"/>
          </a:xfrm>
          <a:prstGeom prst="rect">
            <a:avLst/>
          </a:prstGeom>
        </p:spPr>
        <p:txBody>
          <a:bodyPr lIns="0" rIns="0" tIns="0" bIns="0">
            <a:normAutofit/>
          </a:bodyPr>
          <a:p>
            <a:endParaRPr b="0" lang="en-US" sz="4630" spc="-1" strike="noStrike">
              <a:solidFill>
                <a:srgbClr val="000000"/>
              </a:solidFill>
              <a:latin typeface="Aptos"/>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1134000" y="3499560"/>
            <a:ext cx="12850920" cy="7444440"/>
          </a:xfrm>
          <a:prstGeom prst="rect">
            <a:avLst/>
          </a:prstGeom>
        </p:spPr>
        <p:txBody>
          <a:bodyPr lIns="0" rIns="0" tIns="0" bIns="0" anchor="ctr">
            <a:noAutofit/>
          </a:bodyPr>
          <a:p>
            <a:endParaRPr b="0" lang="en-US" sz="1800" spc="-1" strike="noStrike">
              <a:solidFill>
                <a:srgbClr val="000000"/>
              </a:solidFill>
              <a:latin typeface="Aptos"/>
            </a:endParaRPr>
          </a:p>
        </p:txBody>
      </p:sp>
      <p:sp>
        <p:nvSpPr>
          <p:cNvPr id="27" name="PlaceHolder 2"/>
          <p:cNvSpPr>
            <a:spLocks noGrp="1"/>
          </p:cNvSpPr>
          <p:nvPr>
            <p:ph type="body"/>
          </p:nvPr>
        </p:nvSpPr>
        <p:spPr>
          <a:xfrm>
            <a:off x="755640" y="5003640"/>
            <a:ext cx="13606920" cy="5915520"/>
          </a:xfrm>
          <a:prstGeom prst="rect">
            <a:avLst/>
          </a:prstGeom>
        </p:spPr>
        <p:txBody>
          <a:bodyPr lIns="0" rIns="0" tIns="0" bIns="0">
            <a:normAutofit/>
          </a:bodyPr>
          <a:p>
            <a:endParaRPr b="0" lang="en-US" sz="4630" spc="-1" strike="noStrike">
              <a:solidFill>
                <a:srgbClr val="000000"/>
              </a:solidFill>
              <a:latin typeface="Aptos"/>
            </a:endParaRPr>
          </a:p>
        </p:txBody>
      </p:sp>
      <p:sp>
        <p:nvSpPr>
          <p:cNvPr id="28" name="PlaceHolder 3"/>
          <p:cNvSpPr>
            <a:spLocks noGrp="1"/>
          </p:cNvSpPr>
          <p:nvPr>
            <p:ph type="body"/>
          </p:nvPr>
        </p:nvSpPr>
        <p:spPr>
          <a:xfrm>
            <a:off x="755640" y="11481480"/>
            <a:ext cx="13606920" cy="5915520"/>
          </a:xfrm>
          <a:prstGeom prst="rect">
            <a:avLst/>
          </a:prstGeom>
        </p:spPr>
        <p:txBody>
          <a:bodyPr lIns="0" rIns="0" tIns="0" bIns="0">
            <a:normAutofit/>
          </a:bodyPr>
          <a:p>
            <a:endParaRPr b="0" lang="en-US" sz="4630" spc="-1" strike="noStrike">
              <a:solidFill>
                <a:srgbClr val="000000"/>
              </a:solidFill>
              <a:latin typeface="Aptos"/>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1134000" y="3499560"/>
            <a:ext cx="12850920" cy="7444440"/>
          </a:xfrm>
          <a:prstGeom prst="rect">
            <a:avLst/>
          </a:prstGeom>
        </p:spPr>
        <p:txBody>
          <a:bodyPr lIns="0" rIns="0" tIns="0" bIns="0" anchor="ctr">
            <a:noAutofit/>
          </a:bodyPr>
          <a:p>
            <a:endParaRPr b="0" lang="en-US" sz="1800" spc="-1" strike="noStrike">
              <a:solidFill>
                <a:srgbClr val="000000"/>
              </a:solidFill>
              <a:latin typeface="Aptos"/>
            </a:endParaRPr>
          </a:p>
        </p:txBody>
      </p:sp>
      <p:sp>
        <p:nvSpPr>
          <p:cNvPr id="30" name="PlaceHolder 2"/>
          <p:cNvSpPr>
            <a:spLocks noGrp="1"/>
          </p:cNvSpPr>
          <p:nvPr>
            <p:ph type="body"/>
          </p:nvPr>
        </p:nvSpPr>
        <p:spPr>
          <a:xfrm>
            <a:off x="755640" y="5003640"/>
            <a:ext cx="6639840" cy="5915520"/>
          </a:xfrm>
          <a:prstGeom prst="rect">
            <a:avLst/>
          </a:prstGeom>
        </p:spPr>
        <p:txBody>
          <a:bodyPr lIns="0" rIns="0" tIns="0" bIns="0">
            <a:normAutofit/>
          </a:bodyPr>
          <a:p>
            <a:endParaRPr b="0" lang="en-US" sz="4630" spc="-1" strike="noStrike">
              <a:solidFill>
                <a:srgbClr val="000000"/>
              </a:solidFill>
              <a:latin typeface="Aptos"/>
            </a:endParaRPr>
          </a:p>
        </p:txBody>
      </p:sp>
      <p:sp>
        <p:nvSpPr>
          <p:cNvPr id="31" name="PlaceHolder 3"/>
          <p:cNvSpPr>
            <a:spLocks noGrp="1"/>
          </p:cNvSpPr>
          <p:nvPr>
            <p:ph type="body"/>
          </p:nvPr>
        </p:nvSpPr>
        <p:spPr>
          <a:xfrm>
            <a:off x="7727760" y="5003640"/>
            <a:ext cx="6639840" cy="5915520"/>
          </a:xfrm>
          <a:prstGeom prst="rect">
            <a:avLst/>
          </a:prstGeom>
        </p:spPr>
        <p:txBody>
          <a:bodyPr lIns="0" rIns="0" tIns="0" bIns="0">
            <a:normAutofit/>
          </a:bodyPr>
          <a:p>
            <a:endParaRPr b="0" lang="en-US" sz="4630" spc="-1" strike="noStrike">
              <a:solidFill>
                <a:srgbClr val="000000"/>
              </a:solidFill>
              <a:latin typeface="Aptos"/>
            </a:endParaRPr>
          </a:p>
        </p:txBody>
      </p:sp>
      <p:sp>
        <p:nvSpPr>
          <p:cNvPr id="32" name="PlaceHolder 4"/>
          <p:cNvSpPr>
            <a:spLocks noGrp="1"/>
          </p:cNvSpPr>
          <p:nvPr>
            <p:ph type="body"/>
          </p:nvPr>
        </p:nvSpPr>
        <p:spPr>
          <a:xfrm>
            <a:off x="755640" y="11481480"/>
            <a:ext cx="6639840" cy="5915520"/>
          </a:xfrm>
          <a:prstGeom prst="rect">
            <a:avLst/>
          </a:prstGeom>
        </p:spPr>
        <p:txBody>
          <a:bodyPr lIns="0" rIns="0" tIns="0" bIns="0">
            <a:normAutofit/>
          </a:bodyPr>
          <a:p>
            <a:endParaRPr b="0" lang="en-US" sz="4630" spc="-1" strike="noStrike">
              <a:solidFill>
                <a:srgbClr val="000000"/>
              </a:solidFill>
              <a:latin typeface="Aptos"/>
            </a:endParaRPr>
          </a:p>
        </p:txBody>
      </p:sp>
      <p:sp>
        <p:nvSpPr>
          <p:cNvPr id="33" name="PlaceHolder 5"/>
          <p:cNvSpPr>
            <a:spLocks noGrp="1"/>
          </p:cNvSpPr>
          <p:nvPr>
            <p:ph type="body"/>
          </p:nvPr>
        </p:nvSpPr>
        <p:spPr>
          <a:xfrm>
            <a:off x="7727760" y="11481480"/>
            <a:ext cx="6639840" cy="5915520"/>
          </a:xfrm>
          <a:prstGeom prst="rect">
            <a:avLst/>
          </a:prstGeom>
        </p:spPr>
        <p:txBody>
          <a:bodyPr lIns="0" rIns="0" tIns="0" bIns="0">
            <a:normAutofit/>
          </a:bodyPr>
          <a:p>
            <a:endParaRPr b="0" lang="en-US" sz="4630" spc="-1" strike="noStrike">
              <a:solidFill>
                <a:srgbClr val="000000"/>
              </a:solidFill>
              <a:latin typeface="Aptos"/>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1134000" y="3499560"/>
            <a:ext cx="12850920" cy="7444440"/>
          </a:xfrm>
          <a:prstGeom prst="rect">
            <a:avLst/>
          </a:prstGeom>
        </p:spPr>
        <p:txBody>
          <a:bodyPr lIns="0" rIns="0" tIns="0" bIns="0" anchor="ctr">
            <a:noAutofit/>
          </a:bodyPr>
          <a:p>
            <a:endParaRPr b="0" lang="en-US" sz="1800" spc="-1" strike="noStrike">
              <a:solidFill>
                <a:srgbClr val="000000"/>
              </a:solidFill>
              <a:latin typeface="Aptos"/>
            </a:endParaRPr>
          </a:p>
        </p:txBody>
      </p:sp>
      <p:sp>
        <p:nvSpPr>
          <p:cNvPr id="35" name="PlaceHolder 2"/>
          <p:cNvSpPr>
            <a:spLocks noGrp="1"/>
          </p:cNvSpPr>
          <p:nvPr>
            <p:ph type="body"/>
          </p:nvPr>
        </p:nvSpPr>
        <p:spPr>
          <a:xfrm>
            <a:off x="755640" y="5003640"/>
            <a:ext cx="4381200" cy="5915520"/>
          </a:xfrm>
          <a:prstGeom prst="rect">
            <a:avLst/>
          </a:prstGeom>
        </p:spPr>
        <p:txBody>
          <a:bodyPr lIns="0" rIns="0" tIns="0" bIns="0">
            <a:normAutofit/>
          </a:bodyPr>
          <a:p>
            <a:endParaRPr b="0" lang="en-US" sz="4630" spc="-1" strike="noStrike">
              <a:solidFill>
                <a:srgbClr val="000000"/>
              </a:solidFill>
              <a:latin typeface="Aptos"/>
            </a:endParaRPr>
          </a:p>
        </p:txBody>
      </p:sp>
      <p:sp>
        <p:nvSpPr>
          <p:cNvPr id="36" name="PlaceHolder 3"/>
          <p:cNvSpPr>
            <a:spLocks noGrp="1"/>
          </p:cNvSpPr>
          <p:nvPr>
            <p:ph type="body"/>
          </p:nvPr>
        </p:nvSpPr>
        <p:spPr>
          <a:xfrm>
            <a:off x="5356440" y="5003640"/>
            <a:ext cx="4381200" cy="5915520"/>
          </a:xfrm>
          <a:prstGeom prst="rect">
            <a:avLst/>
          </a:prstGeom>
        </p:spPr>
        <p:txBody>
          <a:bodyPr lIns="0" rIns="0" tIns="0" bIns="0">
            <a:normAutofit/>
          </a:bodyPr>
          <a:p>
            <a:endParaRPr b="0" lang="en-US" sz="4630" spc="-1" strike="noStrike">
              <a:solidFill>
                <a:srgbClr val="000000"/>
              </a:solidFill>
              <a:latin typeface="Aptos"/>
            </a:endParaRPr>
          </a:p>
        </p:txBody>
      </p:sp>
      <p:sp>
        <p:nvSpPr>
          <p:cNvPr id="37" name="PlaceHolder 4"/>
          <p:cNvSpPr>
            <a:spLocks noGrp="1"/>
          </p:cNvSpPr>
          <p:nvPr>
            <p:ph type="body"/>
          </p:nvPr>
        </p:nvSpPr>
        <p:spPr>
          <a:xfrm>
            <a:off x="9956880" y="5003640"/>
            <a:ext cx="4381200" cy="5915520"/>
          </a:xfrm>
          <a:prstGeom prst="rect">
            <a:avLst/>
          </a:prstGeom>
        </p:spPr>
        <p:txBody>
          <a:bodyPr lIns="0" rIns="0" tIns="0" bIns="0">
            <a:normAutofit/>
          </a:bodyPr>
          <a:p>
            <a:endParaRPr b="0" lang="en-US" sz="4630" spc="-1" strike="noStrike">
              <a:solidFill>
                <a:srgbClr val="000000"/>
              </a:solidFill>
              <a:latin typeface="Aptos"/>
            </a:endParaRPr>
          </a:p>
        </p:txBody>
      </p:sp>
      <p:sp>
        <p:nvSpPr>
          <p:cNvPr id="38" name="PlaceHolder 5"/>
          <p:cNvSpPr>
            <a:spLocks noGrp="1"/>
          </p:cNvSpPr>
          <p:nvPr>
            <p:ph type="body"/>
          </p:nvPr>
        </p:nvSpPr>
        <p:spPr>
          <a:xfrm>
            <a:off x="755640" y="11481480"/>
            <a:ext cx="4381200" cy="5915520"/>
          </a:xfrm>
          <a:prstGeom prst="rect">
            <a:avLst/>
          </a:prstGeom>
        </p:spPr>
        <p:txBody>
          <a:bodyPr lIns="0" rIns="0" tIns="0" bIns="0">
            <a:normAutofit/>
          </a:bodyPr>
          <a:p>
            <a:endParaRPr b="0" lang="en-US" sz="4630" spc="-1" strike="noStrike">
              <a:solidFill>
                <a:srgbClr val="000000"/>
              </a:solidFill>
              <a:latin typeface="Aptos"/>
            </a:endParaRPr>
          </a:p>
        </p:txBody>
      </p:sp>
      <p:sp>
        <p:nvSpPr>
          <p:cNvPr id="39" name="PlaceHolder 6"/>
          <p:cNvSpPr>
            <a:spLocks noGrp="1"/>
          </p:cNvSpPr>
          <p:nvPr>
            <p:ph type="body"/>
          </p:nvPr>
        </p:nvSpPr>
        <p:spPr>
          <a:xfrm>
            <a:off x="5356440" y="11481480"/>
            <a:ext cx="4381200" cy="5915520"/>
          </a:xfrm>
          <a:prstGeom prst="rect">
            <a:avLst/>
          </a:prstGeom>
        </p:spPr>
        <p:txBody>
          <a:bodyPr lIns="0" rIns="0" tIns="0" bIns="0">
            <a:normAutofit/>
          </a:bodyPr>
          <a:p>
            <a:endParaRPr b="0" lang="en-US" sz="4630" spc="-1" strike="noStrike">
              <a:solidFill>
                <a:srgbClr val="000000"/>
              </a:solidFill>
              <a:latin typeface="Aptos"/>
            </a:endParaRPr>
          </a:p>
        </p:txBody>
      </p:sp>
      <p:sp>
        <p:nvSpPr>
          <p:cNvPr id="40" name="PlaceHolder 7"/>
          <p:cNvSpPr>
            <a:spLocks noGrp="1"/>
          </p:cNvSpPr>
          <p:nvPr>
            <p:ph type="body"/>
          </p:nvPr>
        </p:nvSpPr>
        <p:spPr>
          <a:xfrm>
            <a:off x="9956880" y="11481480"/>
            <a:ext cx="4381200" cy="5915520"/>
          </a:xfrm>
          <a:prstGeom prst="rect">
            <a:avLst/>
          </a:prstGeom>
        </p:spPr>
        <p:txBody>
          <a:bodyPr lIns="0" rIns="0" tIns="0" bIns="0">
            <a:normAutofit/>
          </a:bodyPr>
          <a:p>
            <a:endParaRPr b="0" lang="en-US" sz="4630" spc="-1" strike="noStrike">
              <a:solidFill>
                <a:srgbClr val="000000"/>
              </a:solidFill>
              <a:latin typeface="Aptos"/>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1134000" y="3499560"/>
            <a:ext cx="12850920" cy="7444440"/>
          </a:xfrm>
          <a:prstGeom prst="rect">
            <a:avLst/>
          </a:prstGeom>
        </p:spPr>
        <p:txBody>
          <a:bodyPr anchor="b">
            <a:noAutofit/>
          </a:bodyPr>
          <a:p>
            <a:pPr algn="ctr">
              <a:lnSpc>
                <a:spcPct val="90000"/>
              </a:lnSpc>
            </a:pPr>
            <a:r>
              <a:rPr b="0" lang="es-ES" sz="9920" spc="-1" strike="noStrike">
                <a:solidFill>
                  <a:srgbClr val="000000"/>
                </a:solidFill>
                <a:latin typeface="Aptos Display"/>
              </a:rPr>
              <a:t>Haga clic para modificar el estilo de título del patrón</a:t>
            </a:r>
            <a:endParaRPr b="0" lang="en-US" sz="9920" spc="-1" strike="noStrike">
              <a:solidFill>
                <a:srgbClr val="000000"/>
              </a:solidFill>
              <a:latin typeface="Aptos"/>
            </a:endParaRPr>
          </a:p>
        </p:txBody>
      </p:sp>
      <p:sp>
        <p:nvSpPr>
          <p:cNvPr id="1" name="PlaceHolder 2"/>
          <p:cNvSpPr>
            <a:spLocks noGrp="1"/>
          </p:cNvSpPr>
          <p:nvPr>
            <p:ph type="dt"/>
          </p:nvPr>
        </p:nvSpPr>
        <p:spPr>
          <a:xfrm>
            <a:off x="1039320" y="19819440"/>
            <a:ext cx="3401640" cy="1137960"/>
          </a:xfrm>
          <a:prstGeom prst="rect">
            <a:avLst/>
          </a:prstGeom>
        </p:spPr>
        <p:txBody>
          <a:bodyPr anchor="ctr">
            <a:noAutofit/>
          </a:bodyPr>
          <a:p>
            <a:pPr>
              <a:lnSpc>
                <a:spcPct val="100000"/>
              </a:lnSpc>
            </a:pPr>
            <a:fld id="{9F1400D3-169B-4160-ACBD-F5964F8D1484}" type="datetime">
              <a:rPr b="0" lang="es-ES_tradnl" sz="1990" spc="-1" strike="noStrike">
                <a:solidFill>
                  <a:srgbClr val="787878"/>
                </a:solidFill>
                <a:latin typeface="Aptos"/>
              </a:rPr>
              <a:t>1/02/26</a:t>
            </a:fld>
            <a:endParaRPr b="0" lang="es-ES" sz="1990" spc="-1" strike="noStrike">
              <a:latin typeface="Times New Roman"/>
            </a:endParaRPr>
          </a:p>
        </p:txBody>
      </p:sp>
      <p:sp>
        <p:nvSpPr>
          <p:cNvPr id="2" name="PlaceHolder 3"/>
          <p:cNvSpPr>
            <a:spLocks noGrp="1"/>
          </p:cNvSpPr>
          <p:nvPr>
            <p:ph type="ftr"/>
          </p:nvPr>
        </p:nvSpPr>
        <p:spPr>
          <a:xfrm>
            <a:off x="5008320" y="19819440"/>
            <a:ext cx="5102280" cy="1137960"/>
          </a:xfrm>
          <a:prstGeom prst="rect">
            <a:avLst/>
          </a:prstGeom>
        </p:spPr>
        <p:txBody>
          <a:bodyPr anchor="ctr">
            <a:noAutofit/>
          </a:bodyPr>
          <a:p>
            <a:endParaRPr b="0" lang="es-ES" sz="2400" spc="-1" strike="noStrike">
              <a:latin typeface="Times New Roman"/>
            </a:endParaRPr>
          </a:p>
        </p:txBody>
      </p:sp>
      <p:sp>
        <p:nvSpPr>
          <p:cNvPr id="3" name="PlaceHolder 4"/>
          <p:cNvSpPr>
            <a:spLocks noGrp="1"/>
          </p:cNvSpPr>
          <p:nvPr>
            <p:ph type="sldNum"/>
          </p:nvPr>
        </p:nvSpPr>
        <p:spPr>
          <a:xfrm>
            <a:off x="10677960" y="19819440"/>
            <a:ext cx="3401640" cy="1137960"/>
          </a:xfrm>
          <a:prstGeom prst="rect">
            <a:avLst/>
          </a:prstGeom>
        </p:spPr>
        <p:txBody>
          <a:bodyPr anchor="ctr">
            <a:noAutofit/>
          </a:bodyPr>
          <a:p>
            <a:pPr algn="r">
              <a:lnSpc>
                <a:spcPct val="100000"/>
              </a:lnSpc>
            </a:pPr>
            <a:fld id="{C6142E2D-8A08-4215-B761-B0383F04405C}" type="slidenum">
              <a:rPr b="0" lang="es-ES_tradnl" sz="1990" spc="-1" strike="noStrike">
                <a:solidFill>
                  <a:srgbClr val="787878"/>
                </a:solidFill>
                <a:latin typeface="Aptos"/>
              </a:rPr>
              <a:t>1</a:t>
            </a:fld>
            <a:endParaRPr b="0" lang="es-ES" sz="1990" spc="-1" strike="noStrike">
              <a:latin typeface="Times New Roman"/>
            </a:endParaRPr>
          </a:p>
        </p:txBody>
      </p:sp>
      <p:sp>
        <p:nvSpPr>
          <p:cNvPr id="4" name="PlaceHolder 5"/>
          <p:cNvSpPr>
            <a:spLocks noGrp="1"/>
          </p:cNvSpPr>
          <p:nvPr>
            <p:ph type="body"/>
          </p:nvPr>
        </p:nvSpPr>
        <p:spPr>
          <a:xfrm>
            <a:off x="755640" y="5003640"/>
            <a:ext cx="13606920" cy="1240200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4630" spc="-1" strike="noStrike">
                <a:solidFill>
                  <a:srgbClr val="000000"/>
                </a:solidFill>
                <a:latin typeface="Aptos"/>
              </a:rPr>
              <a:t>Pulse para editar el formato de texto del esquema</a:t>
            </a:r>
            <a:endParaRPr b="0" lang="en-US" sz="4630" spc="-1" strike="noStrike">
              <a:solidFill>
                <a:srgbClr val="000000"/>
              </a:solidFill>
              <a:latin typeface="Aptos"/>
            </a:endParaRPr>
          </a:p>
          <a:p>
            <a:pPr lvl="1" marL="864000" indent="-324000">
              <a:spcBef>
                <a:spcPts val="1134"/>
              </a:spcBef>
              <a:buClr>
                <a:srgbClr val="000000"/>
              </a:buClr>
              <a:buSzPct val="75000"/>
              <a:buFont typeface="Symbol" charset="2"/>
              <a:buChar char=""/>
            </a:pPr>
            <a:r>
              <a:rPr b="0" lang="en-US" sz="3309" spc="-1" strike="noStrike">
                <a:solidFill>
                  <a:srgbClr val="000000"/>
                </a:solidFill>
                <a:latin typeface="Aptos"/>
              </a:rPr>
              <a:t>Segundo nivel del esquema</a:t>
            </a:r>
            <a:endParaRPr b="0" lang="en-US" sz="3309" spc="-1" strike="noStrike">
              <a:solidFill>
                <a:srgbClr val="000000"/>
              </a:solidFill>
              <a:latin typeface="Aptos"/>
            </a:endParaRPr>
          </a:p>
          <a:p>
            <a:pPr lvl="2" marL="1296000" indent="-288000">
              <a:spcBef>
                <a:spcPts val="850"/>
              </a:spcBef>
              <a:buClr>
                <a:srgbClr val="000000"/>
              </a:buClr>
              <a:buSzPct val="45000"/>
              <a:buFont typeface="Wingdings" charset="2"/>
              <a:buChar char=""/>
            </a:pPr>
            <a:r>
              <a:rPr b="0" lang="en-US" sz="2980" spc="-1" strike="noStrike">
                <a:solidFill>
                  <a:srgbClr val="000000"/>
                </a:solidFill>
                <a:latin typeface="Aptos"/>
              </a:rPr>
              <a:t>Tercer nivel del esquema</a:t>
            </a:r>
            <a:endParaRPr b="0" lang="en-US" sz="2980" spc="-1" strike="noStrike">
              <a:solidFill>
                <a:srgbClr val="000000"/>
              </a:solidFill>
              <a:latin typeface="Aptos"/>
            </a:endParaRPr>
          </a:p>
          <a:p>
            <a:pPr lvl="3" marL="1728000" indent="-216000">
              <a:spcBef>
                <a:spcPts val="567"/>
              </a:spcBef>
              <a:buClr>
                <a:srgbClr val="000000"/>
              </a:buClr>
              <a:buSzPct val="75000"/>
              <a:buFont typeface="Symbol" charset="2"/>
              <a:buChar char=""/>
            </a:pPr>
            <a:r>
              <a:rPr b="0" lang="en-US" sz="2980" spc="-1" strike="noStrike">
                <a:solidFill>
                  <a:srgbClr val="000000"/>
                </a:solidFill>
                <a:latin typeface="Aptos"/>
              </a:rPr>
              <a:t>Cuarto nivel del esquema</a:t>
            </a:r>
            <a:endParaRPr b="0" lang="en-US" sz="2980" spc="-1" strike="noStrike">
              <a:solidFill>
                <a:srgbClr val="000000"/>
              </a:solidFill>
              <a:latin typeface="Aptos"/>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ptos"/>
              </a:rPr>
              <a:t>Quinto nivel del esquema</a:t>
            </a:r>
            <a:endParaRPr b="0" lang="en-US" sz="2000" spc="-1" strike="noStrike">
              <a:solidFill>
                <a:srgbClr val="000000"/>
              </a:solidFill>
              <a:latin typeface="Aptos"/>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ptos"/>
              </a:rPr>
              <a:t>Sexto nivel del esquema</a:t>
            </a:r>
            <a:endParaRPr b="0" lang="en-US" sz="2000" spc="-1" strike="noStrike">
              <a:solidFill>
                <a:srgbClr val="000000"/>
              </a:solidFill>
              <a:latin typeface="Aptos"/>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ptos"/>
              </a:rPr>
              <a:t>Séptimo nivel del esquema</a:t>
            </a:r>
            <a:endParaRPr b="0" lang="en-US" sz="2000" spc="-1" strike="noStrike">
              <a:solidFill>
                <a:srgbClr val="000000"/>
              </a:solidFill>
              <a:latin typeface="Aptos"/>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Relationships xmlns="http://schemas.openxmlformats.org/package/2006/relationships"><Relationship Id="rId1" Type="http://schemas.openxmlformats.org/officeDocument/2006/relationships/hyperlink" Target="https://www.ensembl.org/Tools/VEP" TargetMode="External"/><Relationship Id="rId2" Type="http://schemas.openxmlformats.org/officeDocument/2006/relationships/hyperlink" Target="https://gnomad.broadinstitute.org/" TargetMode="External"/><Relationship Id="rId3" Type="http://schemas.openxmlformats.org/officeDocument/2006/relationships/hyperlink" Target="https://sift.bii.a-star.edu.sg/" TargetMode="External"/><Relationship Id="rId4" Type="http://schemas.openxmlformats.org/officeDocument/2006/relationships/hyperlink" Target="http://genetics.bwh.harvard.edu/pph2/" TargetMode="External"/><Relationship Id="rId5" Type="http://schemas.openxmlformats.org/officeDocument/2006/relationships/hyperlink" Target="https://www.omim.org/" TargetMode="External"/><Relationship Id="rId6" Type="http://schemas.openxmlformats.org/officeDocument/2006/relationships/hyperlink" Target="https://www.ebi.ac.uk/jdispatcher/msa/clustalo" TargetMode="External"/><Relationship Id="rId7" Type="http://schemas.openxmlformats.org/officeDocument/2006/relationships/hyperlink" Target="https://www.ebi.ac.uk/jdispatcher/msa/clustalo" TargetMode="External"/><Relationship Id="rId8" Type="http://schemas.openxmlformats.org/officeDocument/2006/relationships/hyperlink" Target="https://mutalyzer.nl/" TargetMode="External"/><Relationship Id="rId9" Type="http://schemas.openxmlformats.org/officeDocument/2006/relationships/hyperlink" Target="https://www.uniprot.org/" TargetMode="External"/><Relationship Id="rId10" Type="http://schemas.openxmlformats.org/officeDocument/2006/relationships/hyperlink" Target="https://www.ebi.ac.uk/interpro/" TargetMode="External"/><Relationship Id="rId11" Type="http://schemas.openxmlformats.org/officeDocument/2006/relationships/hyperlink" Target="https://www.kegg.jp/kegg/kegg2.html" TargetMode="External"/><Relationship Id="rId12" Type="http://schemas.openxmlformats.org/officeDocument/2006/relationships/image" Target="../media/image1.png"/><Relationship Id="rId13" Type="http://schemas.openxmlformats.org/officeDocument/2006/relationships/image" Target="../media/image2.png"/><Relationship Id="rId14" Type="http://schemas.openxmlformats.org/officeDocument/2006/relationships/image" Target="../media/image3.png"/><Relationship Id="rId15" Type="http://schemas.openxmlformats.org/officeDocument/2006/relationships/image" Target="../media/image4.png"/><Relationship Id="rId16" Type="http://schemas.openxmlformats.org/officeDocument/2006/relationships/slideLayout" Target="../slideLayouts/slideLayout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ffffff"/>
            </a:gs>
            <a:gs pos="100000">
              <a:srgbClr val="59c2e3">
                <a:alpha val="25098"/>
              </a:srgbClr>
            </a:gs>
          </a:gsLst>
          <a:lin ang="2700000"/>
        </a:gradFill>
      </p:bgPr>
    </p:bg>
    <p:spTree>
      <p:nvGrpSpPr>
        <p:cNvPr id="1" name=""/>
        <p:cNvGrpSpPr/>
        <p:nvPr/>
      </p:nvGrpSpPr>
      <p:grpSpPr>
        <a:xfrm>
          <a:off x="0" y="0"/>
          <a:ext cx="0" cy="0"/>
          <a:chOff x="0" y="0"/>
          <a:chExt cx="0" cy="0"/>
        </a:xfrm>
      </p:grpSpPr>
      <p:grpSp>
        <p:nvGrpSpPr>
          <p:cNvPr id="41" name="Group 1"/>
          <p:cNvGrpSpPr/>
          <p:nvPr/>
        </p:nvGrpSpPr>
        <p:grpSpPr>
          <a:xfrm>
            <a:off x="288000" y="3024000"/>
            <a:ext cx="14668560" cy="1504800"/>
            <a:chOff x="288000" y="3024000"/>
            <a:chExt cx="14668560" cy="1504800"/>
          </a:xfrm>
        </p:grpSpPr>
        <p:sp>
          <p:nvSpPr>
            <p:cNvPr id="42" name="CustomShape 2"/>
            <p:cNvSpPr/>
            <p:nvPr/>
          </p:nvSpPr>
          <p:spPr>
            <a:xfrm>
              <a:off x="288000" y="3340800"/>
              <a:ext cx="14668560" cy="118800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txBody>
            <a:bodyPr lIns="90000" rIns="90000" tIns="360000" bIns="45000">
              <a:noAutofit/>
            </a:bodyPr>
            <a:p>
              <a:pPr algn="just">
                <a:lnSpc>
                  <a:spcPct val="80000"/>
                </a:lnSpc>
              </a:pPr>
              <a:r>
                <a:rPr b="0" i="1" lang="es-ES_tradnl" sz="1800" spc="-1" strike="noStrike">
                  <a:solidFill>
                    <a:srgbClr val="000000"/>
                  </a:solidFill>
                  <a:latin typeface="Aptos"/>
                </a:rPr>
                <a:t>La obesidad, o acumulación excesiva de grasa corporal, causa graves problemas de salud y enfermedades crónicas. Como caso de estudio, se han estudiado las variantes genéticas en diferentes miembros de la familia Simpson para establecer la posible relación de esta patología con alteraciones a nivel genético.</a:t>
              </a:r>
              <a:endParaRPr b="0" lang="es-ES" sz="1800" spc="-1" strike="noStrike">
                <a:latin typeface="Arial"/>
              </a:endParaRPr>
            </a:p>
          </p:txBody>
        </p:sp>
        <p:sp>
          <p:nvSpPr>
            <p:cNvPr id="43" name="CustomShape 3"/>
            <p:cNvSpPr/>
            <p:nvPr/>
          </p:nvSpPr>
          <p:spPr>
            <a:xfrm>
              <a:off x="581040" y="3024000"/>
              <a:ext cx="5837760" cy="63252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r>
                <a:rPr b="1" lang="es-ES_tradnl" sz="2800" spc="-1" strike="noStrike">
                  <a:solidFill>
                    <a:srgbClr val="ffffff"/>
                  </a:solidFill>
                  <a:latin typeface="Aptos"/>
                </a:rPr>
                <a:t>INTRODUCCIÓN</a:t>
              </a:r>
              <a:endParaRPr b="0" lang="es-ES" sz="2800" spc="-1" strike="noStrike">
                <a:latin typeface="Arial"/>
              </a:endParaRPr>
            </a:p>
          </p:txBody>
        </p:sp>
      </p:grpSp>
      <p:grpSp>
        <p:nvGrpSpPr>
          <p:cNvPr id="44" name="Group 4"/>
          <p:cNvGrpSpPr/>
          <p:nvPr/>
        </p:nvGrpSpPr>
        <p:grpSpPr>
          <a:xfrm>
            <a:off x="207720" y="4630680"/>
            <a:ext cx="14668560" cy="1921320"/>
            <a:chOff x="207720" y="4630680"/>
            <a:chExt cx="14668560" cy="1921320"/>
          </a:xfrm>
        </p:grpSpPr>
        <p:sp>
          <p:nvSpPr>
            <p:cNvPr id="45" name="CustomShape 5"/>
            <p:cNvSpPr/>
            <p:nvPr/>
          </p:nvSpPr>
          <p:spPr>
            <a:xfrm>
              <a:off x="207720" y="4875840"/>
              <a:ext cx="14668560" cy="167616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txBody>
            <a:bodyPr lIns="90000" rIns="90000" tIns="360000" bIns="45000">
              <a:noAutofit/>
            </a:bodyPr>
            <a:p>
              <a:pPr algn="just">
                <a:lnSpc>
                  <a:spcPct val="80000"/>
                </a:lnSpc>
              </a:pPr>
              <a:r>
                <a:rPr b="0" i="1" lang="es-ES_tradnl" sz="1700" spc="-1" strike="noStrike">
                  <a:solidFill>
                    <a:srgbClr val="000000"/>
                  </a:solidFill>
                  <a:latin typeface="Aptos"/>
                </a:rPr>
                <a:t>Se analizaron tres variantes de Abraham y Maggie Simpson con </a:t>
              </a:r>
              <a:r>
                <a:rPr b="0" i="1" lang="es-ES_tradnl" sz="1700" spc="-1" strike="noStrike" u="sng">
                  <a:solidFill>
                    <a:srgbClr val="467886"/>
                  </a:solidFill>
                  <a:uFillTx/>
                  <a:latin typeface="Aptos"/>
                  <a:hlinkClick r:id="rId1"/>
                </a:rPr>
                <a:t>VEP</a:t>
              </a:r>
              <a:r>
                <a:rPr b="0" i="1" lang="es-ES_tradnl" sz="1700" spc="-1" strike="noStrike">
                  <a:solidFill>
                    <a:srgbClr val="000000"/>
                  </a:solidFill>
                  <a:latin typeface="Aptos"/>
                </a:rPr>
                <a:t>. Se exploraron la prevalencia en la población con </a:t>
              </a:r>
              <a:r>
                <a:rPr b="0" i="1" lang="es-ES_tradnl" sz="1700" spc="-1" strike="noStrike" u="sng">
                  <a:solidFill>
                    <a:srgbClr val="467886"/>
                  </a:solidFill>
                  <a:uFillTx/>
                  <a:latin typeface="Aptos"/>
                  <a:hlinkClick r:id="rId2"/>
                </a:rPr>
                <a:t>gnomAD</a:t>
              </a:r>
              <a:r>
                <a:rPr b="0" i="1" lang="es-ES_tradnl" sz="1700" spc="-1" strike="noStrike">
                  <a:solidFill>
                    <a:srgbClr val="000000"/>
                  </a:solidFill>
                  <a:latin typeface="Aptos"/>
                </a:rPr>
                <a:t>; y su patogenicidad con </a:t>
              </a:r>
              <a:r>
                <a:rPr b="0" i="1" lang="es-ES_tradnl" sz="1700" spc="-1" strike="noStrike" u="sng">
                  <a:solidFill>
                    <a:srgbClr val="467886"/>
                  </a:solidFill>
                  <a:uFillTx/>
                  <a:latin typeface="Aptos"/>
                  <a:hlinkClick r:id="rId3"/>
                </a:rPr>
                <a:t>SIFT</a:t>
              </a:r>
              <a:r>
                <a:rPr b="0" i="1" lang="es-ES_tradnl" sz="1700" spc="-1" strike="noStrike">
                  <a:solidFill>
                    <a:srgbClr val="000000"/>
                  </a:solidFill>
                  <a:latin typeface="Aptos"/>
                </a:rPr>
                <a:t>, </a:t>
              </a:r>
              <a:r>
                <a:rPr b="0" i="1" lang="es-ES_tradnl" sz="1700" spc="-1" strike="noStrike" u="sng">
                  <a:solidFill>
                    <a:srgbClr val="467886"/>
                  </a:solidFill>
                  <a:uFillTx/>
                  <a:latin typeface="Aptos"/>
                  <a:hlinkClick r:id="rId4"/>
                </a:rPr>
                <a:t>PolyPhen</a:t>
              </a:r>
              <a:r>
                <a:rPr b="0" i="1" lang="es-ES_tradnl" sz="1700" spc="-1" strike="noStrike">
                  <a:solidFill>
                    <a:srgbClr val="000000"/>
                  </a:solidFill>
                  <a:latin typeface="Aptos"/>
                </a:rPr>
                <a:t>, y </a:t>
              </a:r>
              <a:r>
                <a:rPr b="0" i="1" lang="es-ES_tradnl" sz="1700" spc="-1" strike="noStrike" u="sng">
                  <a:solidFill>
                    <a:srgbClr val="467886"/>
                  </a:solidFill>
                  <a:uFillTx/>
                  <a:latin typeface="Aptos"/>
                  <a:hlinkClick r:id="rId5"/>
                </a:rPr>
                <a:t>OMIM</a:t>
              </a:r>
              <a:r>
                <a:rPr b="0" i="1" lang="es-ES_tradnl" sz="1700" spc="-1" strike="noStrike">
                  <a:solidFill>
                    <a:srgbClr val="000000"/>
                  </a:solidFill>
                  <a:latin typeface="Aptos"/>
                </a:rPr>
                <a:t>. Las variantes “missense” se analizaron con </a:t>
              </a:r>
              <a:r>
                <a:rPr b="0" i="1" lang="es-ES_tradnl" sz="1700" spc="-1" strike="noStrike" u="sng">
                  <a:solidFill>
                    <a:srgbClr val="467886"/>
                  </a:solidFill>
                  <a:uFillTx/>
                  <a:latin typeface="Aptos"/>
                  <a:hlinkClick r:id="rId6"/>
                </a:rPr>
                <a:t>CLUSTAL </a:t>
              </a:r>
              <a:r>
                <a:rPr b="0" i="1" lang="es-ES_tradnl" sz="1700" spc="-1" strike="noStrike" u="sng">
                  <a:solidFill>
                    <a:srgbClr val="467886"/>
                  </a:solidFill>
                  <a:uFillTx/>
                  <a:latin typeface="Aptos"/>
                  <a:hlinkClick r:id="rId7"/>
                </a:rPr>
                <a:t>omega</a:t>
              </a:r>
              <a:r>
                <a:rPr b="0" i="1" lang="es-ES_tradnl" sz="1700" spc="-1" strike="noStrike">
                  <a:solidFill>
                    <a:srgbClr val="000000"/>
                  </a:solidFill>
                  <a:latin typeface="Aptos"/>
                </a:rPr>
                <a:t> para detectar si la región afectada estaba conservada. Las variantes “frameshift” se analizaron con </a:t>
              </a:r>
              <a:r>
                <a:rPr b="0" i="1" lang="es-ES_tradnl" sz="1700" spc="-1" strike="noStrike" u="sng">
                  <a:solidFill>
                    <a:srgbClr val="467886"/>
                  </a:solidFill>
                  <a:uFillTx/>
                  <a:latin typeface="Aptos"/>
                  <a:hlinkClick r:id="rId8"/>
                </a:rPr>
                <a:t>Mutalyzer</a:t>
              </a:r>
              <a:r>
                <a:rPr b="0" i="1" lang="es-ES_tradnl" sz="1700" spc="-1" strike="noStrike">
                  <a:solidFill>
                    <a:srgbClr val="000000"/>
                  </a:solidFill>
                  <a:latin typeface="Aptos"/>
                </a:rPr>
                <a:t> para comprobar la estructura del la proteína mutada. Consultamos </a:t>
              </a:r>
              <a:r>
                <a:rPr b="0" i="1" lang="es-ES_tradnl" sz="1700" spc="-1" strike="noStrike" u="sng">
                  <a:solidFill>
                    <a:srgbClr val="467886"/>
                  </a:solidFill>
                  <a:uFillTx/>
                  <a:latin typeface="Aptos"/>
                  <a:hlinkClick r:id="rId9"/>
                </a:rPr>
                <a:t>UniProt</a:t>
              </a:r>
              <a:r>
                <a:rPr b="0" i="1" lang="es-ES_tradnl" sz="1700" spc="-1" strike="noStrike">
                  <a:solidFill>
                    <a:srgbClr val="000000"/>
                  </a:solidFill>
                  <a:latin typeface="Aptos"/>
                </a:rPr>
                <a:t> e </a:t>
              </a:r>
              <a:r>
                <a:rPr b="0" i="1" lang="es-ES_tradnl" sz="1700" spc="-1" strike="noStrike" u="sng">
                  <a:solidFill>
                    <a:srgbClr val="467886"/>
                  </a:solidFill>
                  <a:uFillTx/>
                  <a:latin typeface="Aptos"/>
                  <a:hlinkClick r:id="rId10"/>
                </a:rPr>
                <a:t>InterPro</a:t>
              </a:r>
              <a:r>
                <a:rPr b="0" i="1" lang="es-ES_tradnl" sz="1700" spc="-1" strike="noStrike">
                  <a:solidFill>
                    <a:srgbClr val="000000"/>
                  </a:solidFill>
                  <a:latin typeface="Aptos"/>
                </a:rPr>
                <a:t> para comprobar los dominios proteicos afectados en las variantes, y las entradas en </a:t>
              </a:r>
              <a:r>
                <a:rPr b="0" i="1" lang="es-ES_tradnl" sz="1700" spc="-1" strike="noStrike" u="sng">
                  <a:solidFill>
                    <a:srgbClr val="467886"/>
                  </a:solidFill>
                  <a:uFillTx/>
                  <a:latin typeface="Aptos"/>
                  <a:hlinkClick r:id="rId11"/>
                </a:rPr>
                <a:t>KEGG</a:t>
              </a:r>
              <a:r>
                <a:rPr b="0" i="1" lang="es-ES_tradnl" sz="1700" spc="-1" strike="noStrike">
                  <a:solidFill>
                    <a:srgbClr val="000000"/>
                  </a:solidFill>
                  <a:latin typeface="Aptos"/>
                </a:rPr>
                <a:t> de los genes afectados para comprobar en qué rutas metabólicas está implicados.</a:t>
              </a:r>
              <a:endParaRPr b="0" lang="es-ES" sz="1700" spc="-1" strike="noStrike">
                <a:latin typeface="Arial"/>
              </a:endParaRPr>
            </a:p>
          </p:txBody>
        </p:sp>
        <p:sp>
          <p:nvSpPr>
            <p:cNvPr id="46" name="CustomShape 6"/>
            <p:cNvSpPr/>
            <p:nvPr/>
          </p:nvSpPr>
          <p:spPr>
            <a:xfrm>
              <a:off x="500760" y="4630680"/>
              <a:ext cx="5837760" cy="63252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r>
                <a:rPr b="1" lang="es-ES_tradnl" sz="2800" spc="-1" strike="noStrike">
                  <a:solidFill>
                    <a:srgbClr val="ffffff"/>
                  </a:solidFill>
                  <a:latin typeface="Aptos"/>
                </a:rPr>
                <a:t>METODOLOGÍA</a:t>
              </a:r>
              <a:endParaRPr b="0" lang="es-ES" sz="2800" spc="-1" strike="noStrike">
                <a:latin typeface="Arial"/>
              </a:endParaRPr>
            </a:p>
          </p:txBody>
        </p:sp>
      </p:grpSp>
      <p:grpSp>
        <p:nvGrpSpPr>
          <p:cNvPr id="47" name="Group 7"/>
          <p:cNvGrpSpPr/>
          <p:nvPr/>
        </p:nvGrpSpPr>
        <p:grpSpPr>
          <a:xfrm>
            <a:off x="144000" y="6552000"/>
            <a:ext cx="14668560" cy="11018520"/>
            <a:chOff x="144000" y="6552000"/>
            <a:chExt cx="14668560" cy="11018520"/>
          </a:xfrm>
        </p:grpSpPr>
        <p:sp>
          <p:nvSpPr>
            <p:cNvPr id="48" name="CustomShape 8"/>
            <p:cNvSpPr/>
            <p:nvPr/>
          </p:nvSpPr>
          <p:spPr>
            <a:xfrm>
              <a:off x="144000" y="6908400"/>
              <a:ext cx="14668560" cy="10662120"/>
            </a:xfrm>
            <a:prstGeom prst="roundRect">
              <a:avLst>
                <a:gd name="adj" fmla="val 1988"/>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sp>
        <p:sp>
          <p:nvSpPr>
            <p:cNvPr id="49" name="CustomShape 9"/>
            <p:cNvSpPr/>
            <p:nvPr/>
          </p:nvSpPr>
          <p:spPr>
            <a:xfrm>
              <a:off x="437040" y="6552000"/>
              <a:ext cx="5837760" cy="71244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r>
                <a:rPr b="1" lang="es-ES_tradnl" sz="2800" spc="-1" strike="noStrike">
                  <a:solidFill>
                    <a:srgbClr val="ffffff"/>
                  </a:solidFill>
                  <a:latin typeface="Aptos"/>
                </a:rPr>
                <a:t>RESULTADOS</a:t>
              </a:r>
              <a:endParaRPr b="0" lang="es-ES" sz="2800" spc="-1" strike="noStrike">
                <a:latin typeface="Arial"/>
              </a:endParaRPr>
            </a:p>
          </p:txBody>
        </p:sp>
      </p:grpSp>
      <p:pic>
        <p:nvPicPr>
          <p:cNvPr id="50" name="Picture 4" descr=""/>
          <p:cNvPicPr/>
          <p:nvPr/>
        </p:nvPicPr>
        <p:blipFill>
          <a:blip r:embed="rId12"/>
          <a:stretch/>
        </p:blipFill>
        <p:spPr>
          <a:xfrm>
            <a:off x="12550680" y="-95400"/>
            <a:ext cx="2325600" cy="1400400"/>
          </a:xfrm>
          <a:prstGeom prst="rect">
            <a:avLst/>
          </a:prstGeom>
          <a:ln>
            <a:noFill/>
          </a:ln>
        </p:spPr>
      </p:pic>
      <p:grpSp>
        <p:nvGrpSpPr>
          <p:cNvPr id="51" name="Group 10"/>
          <p:cNvGrpSpPr/>
          <p:nvPr/>
        </p:nvGrpSpPr>
        <p:grpSpPr>
          <a:xfrm>
            <a:off x="0" y="-5760"/>
            <a:ext cx="3396960" cy="2302560"/>
            <a:chOff x="0" y="-5760"/>
            <a:chExt cx="3396960" cy="2302560"/>
          </a:xfrm>
        </p:grpSpPr>
        <p:pic>
          <p:nvPicPr>
            <p:cNvPr id="52" name="Imagen 4" descr=""/>
            <p:cNvPicPr/>
            <p:nvPr/>
          </p:nvPicPr>
          <p:blipFill>
            <a:blip r:embed="rId13"/>
            <a:stretch/>
          </p:blipFill>
          <p:spPr>
            <a:xfrm>
              <a:off x="0" y="-5760"/>
              <a:ext cx="3396960" cy="2302560"/>
            </a:xfrm>
            <a:prstGeom prst="rect">
              <a:avLst/>
            </a:prstGeom>
            <a:ln>
              <a:noFill/>
            </a:ln>
          </p:spPr>
        </p:pic>
        <p:sp>
          <p:nvSpPr>
            <p:cNvPr id="53" name="CustomShape 11"/>
            <p:cNvSpPr/>
            <p:nvPr/>
          </p:nvSpPr>
          <p:spPr>
            <a:xfrm>
              <a:off x="677880" y="1086840"/>
              <a:ext cx="1586160" cy="471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p:style>
        </p:sp>
      </p:grpSp>
      <p:sp>
        <p:nvSpPr>
          <p:cNvPr id="54" name="CustomShape 12"/>
          <p:cNvSpPr/>
          <p:nvPr/>
        </p:nvSpPr>
        <p:spPr>
          <a:xfrm>
            <a:off x="780840" y="1086840"/>
            <a:ext cx="13763160" cy="1793160"/>
          </a:xfrm>
          <a:prstGeom prst="roundRect">
            <a:avLst>
              <a:gd name="adj" fmla="val 9702"/>
            </a:avLst>
          </a:prstGeom>
          <a:solidFill>
            <a:srgbClr val="4196c9"/>
          </a:solidFill>
          <a:ln>
            <a:noFill/>
          </a:ln>
        </p:spPr>
        <p:style>
          <a:lnRef idx="2">
            <a:schemeClr val="accent1">
              <a:shade val="15000"/>
            </a:schemeClr>
          </a:lnRef>
          <a:fillRef idx="1">
            <a:schemeClr val="accent1"/>
          </a:fillRef>
          <a:effectRef idx="0">
            <a:schemeClr val="accent1"/>
          </a:effectRef>
          <a:fontRef idx="minor"/>
        </p:style>
        <p:txBody>
          <a:bodyPr lIns="90000" rIns="90000" tIns="46800" bIns="45000" anchor="ctr">
            <a:noAutofit/>
          </a:bodyPr>
          <a:p>
            <a:pPr algn="ctr">
              <a:lnSpc>
                <a:spcPct val="100000"/>
              </a:lnSpc>
            </a:pPr>
            <a:r>
              <a:rPr b="1" lang="es-ES_tradnl" sz="4000" spc="-1" strike="noStrike">
                <a:solidFill>
                  <a:srgbClr val="ffffff"/>
                </a:solidFill>
                <a:latin typeface="Aptos"/>
              </a:rPr>
              <a:t>Anotación e interpretación de variantes</a:t>
            </a:r>
            <a:endParaRPr b="0" lang="es-ES" sz="4000" spc="-1" strike="noStrike">
              <a:latin typeface="Arial"/>
            </a:endParaRPr>
          </a:p>
          <a:p>
            <a:pPr algn="ctr">
              <a:lnSpc>
                <a:spcPct val="80000"/>
              </a:lnSpc>
            </a:pPr>
            <a:r>
              <a:rPr b="1" i="1" lang="es-ES_tradnl" sz="2800" spc="-1" strike="noStrike">
                <a:solidFill>
                  <a:srgbClr val="ffffff"/>
                </a:solidFill>
                <a:latin typeface="Aptos"/>
              </a:rPr>
              <a:t>Genética clínica y de poblaciones</a:t>
            </a:r>
            <a:endParaRPr b="0" lang="es-ES" sz="2800" spc="-1" strike="noStrike">
              <a:latin typeface="Arial"/>
            </a:endParaRPr>
          </a:p>
          <a:p>
            <a:pPr algn="ctr">
              <a:lnSpc>
                <a:spcPct val="80000"/>
              </a:lnSpc>
            </a:pPr>
            <a:r>
              <a:rPr b="1" i="1" lang="es-ES_tradnl" sz="2000" spc="-1" strike="noStrike">
                <a:solidFill>
                  <a:srgbClr val="ffffff"/>
                </a:solidFill>
                <a:latin typeface="Aptos"/>
                <a:ea typeface="DejaVu Sans"/>
              </a:rPr>
              <a:t>Paula Damián Moral - Paula Sofía Norniella Jamart - Pedro García Sáez - Pedro Manuel Rodríguez Santos - Pilar Navarro Sánchez - Rubén Martín Blázquez </a:t>
            </a:r>
            <a:endParaRPr b="0" lang="es-ES" sz="2000" spc="-1" strike="noStrike">
              <a:latin typeface="Arial"/>
            </a:endParaRPr>
          </a:p>
        </p:txBody>
      </p:sp>
      <p:grpSp>
        <p:nvGrpSpPr>
          <p:cNvPr id="55" name="Group 13"/>
          <p:cNvGrpSpPr/>
          <p:nvPr/>
        </p:nvGrpSpPr>
        <p:grpSpPr>
          <a:xfrm>
            <a:off x="144000" y="17570520"/>
            <a:ext cx="9095400" cy="3597480"/>
            <a:chOff x="144000" y="17570520"/>
            <a:chExt cx="9095400" cy="3597480"/>
          </a:xfrm>
        </p:grpSpPr>
        <p:sp>
          <p:nvSpPr>
            <p:cNvPr id="56" name="CustomShape 14"/>
            <p:cNvSpPr/>
            <p:nvPr/>
          </p:nvSpPr>
          <p:spPr>
            <a:xfrm>
              <a:off x="144000" y="17866440"/>
              <a:ext cx="9095400" cy="330156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txBody>
            <a:bodyPr lIns="90000" rIns="90000" tIns="360000" bIns="45000">
              <a:noAutofit/>
            </a:bodyPr>
            <a:p>
              <a:pPr algn="just">
                <a:lnSpc>
                  <a:spcPct val="80000"/>
                </a:lnSpc>
              </a:pPr>
              <a:r>
                <a:rPr b="0" i="1" lang="es-ES_tradnl" sz="1800" spc="-1" strike="noStrike">
                  <a:solidFill>
                    <a:srgbClr val="000000"/>
                  </a:solidFill>
                  <a:latin typeface="Aptos"/>
                </a:rPr>
                <a:t>Maggie: presenta una deleción en el gen receptor de leptina (LEPR), produciendo una mutación “frameshift”. Esta deleción provoca la pérdida de dominios necesarios para activar vías de señalización de la hormona leptina (encargada de disminuir la ingesta y aumentar el consumo de energía).</a:t>
              </a:r>
              <a:endParaRPr b="0" lang="es-ES" sz="1800" spc="-1" strike="noStrike">
                <a:latin typeface="Arial"/>
              </a:endParaRPr>
            </a:p>
            <a:p>
              <a:pPr algn="just">
                <a:lnSpc>
                  <a:spcPct val="80000"/>
                </a:lnSpc>
              </a:pPr>
              <a:r>
                <a:rPr b="0" i="1" lang="es-ES_tradnl" sz="1800" spc="-1" strike="noStrike">
                  <a:solidFill>
                    <a:srgbClr val="000000"/>
                  </a:solidFill>
                  <a:latin typeface="Aptos"/>
                </a:rPr>
                <a:t>Abraham y Maggie: presentan una sustitución en el gen receptor de la melanocortin 4 (MC4R) que provoca una mutación “missense”. Esta alteración es altamente patogénica, afectando a una región altamente conservada evolutivamente. Se ve alterada la ruta de señalizacion hormonal del cAMP inplicado en el control de la saciedad. Como consecuencia, se altera el control del apetito a nivel hipotalámico, derivando en la característica hiperfagia típica de pacientes con obesidad monogénica.</a:t>
              </a:r>
              <a:endParaRPr b="0" lang="es-ES" sz="1800" spc="-1" strike="noStrike">
                <a:latin typeface="Arial"/>
              </a:endParaRPr>
            </a:p>
            <a:p>
              <a:pPr algn="just">
                <a:lnSpc>
                  <a:spcPct val="80000"/>
                </a:lnSpc>
              </a:pPr>
              <a:r>
                <a:rPr b="0" i="1" lang="es-ES_tradnl" sz="1800" spc="-1" strike="noStrike">
                  <a:solidFill>
                    <a:srgbClr val="000000"/>
                  </a:solidFill>
                  <a:latin typeface="Aptos"/>
                </a:rPr>
                <a:t>Ambos presentan mutaciones en TP53, y Abraham es hemicigoto para la variante detectada en MED12, pero ambas tienen un nivel de patogenicidad bajo o ambiguo.</a:t>
              </a:r>
              <a:endParaRPr b="0" lang="es-ES" sz="1800" spc="-1" strike="noStrike">
                <a:latin typeface="Arial"/>
              </a:endParaRPr>
            </a:p>
          </p:txBody>
        </p:sp>
        <p:sp>
          <p:nvSpPr>
            <p:cNvPr id="57" name="CustomShape 15"/>
            <p:cNvSpPr/>
            <p:nvPr/>
          </p:nvSpPr>
          <p:spPr>
            <a:xfrm>
              <a:off x="437040" y="17570520"/>
              <a:ext cx="5837760" cy="59184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r>
                <a:rPr b="1" lang="es-ES_tradnl" sz="2800" spc="-1" strike="noStrike">
                  <a:solidFill>
                    <a:srgbClr val="ffffff"/>
                  </a:solidFill>
                  <a:latin typeface="Aptos"/>
                </a:rPr>
                <a:t>DISCUSIÓN</a:t>
              </a:r>
              <a:endParaRPr b="0" lang="es-ES" sz="2800" spc="-1" strike="noStrike">
                <a:latin typeface="Arial"/>
              </a:endParaRPr>
            </a:p>
          </p:txBody>
        </p:sp>
      </p:grpSp>
      <p:grpSp>
        <p:nvGrpSpPr>
          <p:cNvPr id="58" name="Group 16"/>
          <p:cNvGrpSpPr/>
          <p:nvPr/>
        </p:nvGrpSpPr>
        <p:grpSpPr>
          <a:xfrm>
            <a:off x="9509760" y="17936280"/>
            <a:ext cx="5366520" cy="3211920"/>
            <a:chOff x="9509760" y="17936280"/>
            <a:chExt cx="5366520" cy="3211920"/>
          </a:xfrm>
        </p:grpSpPr>
        <p:sp>
          <p:nvSpPr>
            <p:cNvPr id="59" name="CustomShape 17"/>
            <p:cNvSpPr/>
            <p:nvPr/>
          </p:nvSpPr>
          <p:spPr>
            <a:xfrm>
              <a:off x="9509760" y="18200520"/>
              <a:ext cx="5366520" cy="2947680"/>
            </a:xfrm>
            <a:prstGeom prst="roundRect">
              <a:avLst>
                <a:gd name="adj" fmla="val 9702"/>
              </a:avLst>
            </a:prstGeom>
            <a:solidFill>
              <a:schemeClr val="bg1"/>
            </a:solidFill>
            <a:ln>
              <a:solidFill>
                <a:schemeClr val="bg2">
                  <a:lumMod val="90000"/>
                </a:schemeClr>
              </a:solidFill>
            </a:ln>
          </p:spPr>
          <p:style>
            <a:lnRef idx="2">
              <a:schemeClr val="accent1">
                <a:shade val="15000"/>
              </a:schemeClr>
            </a:lnRef>
            <a:fillRef idx="1">
              <a:schemeClr val="accent1"/>
            </a:fillRef>
            <a:effectRef idx="0">
              <a:schemeClr val="accent1"/>
            </a:effectRef>
            <a:fontRef idx="minor"/>
          </p:style>
          <p:txBody>
            <a:bodyPr lIns="90000" rIns="90000" tIns="360000" bIns="45000">
              <a:noAutofit/>
            </a:bodyPr>
            <a:p>
              <a:pPr algn="just">
                <a:lnSpc>
                  <a:spcPct val="80000"/>
                </a:lnSpc>
              </a:pPr>
              <a:r>
                <a:rPr b="0" i="1" lang="es-ES_tradnl" sz="1800" spc="-1" strike="noStrike">
                  <a:solidFill>
                    <a:srgbClr val="000000"/>
                  </a:solidFill>
                  <a:latin typeface="Aptos"/>
                </a:rPr>
                <a:t>Las variantes de los genes LEPR (portada por Maggie) y MC4R (portada por Abraham y Maggie) pueden indicar que los Simpson sean propensos a desarrollar obesidad. Por otro lado, mutaciones que comparten ambos en los genes MED12 y TP53, no se consideran patogénicas ni se observa relación con el fenotipo observado. Por lo tanto, la familia Simpson debe tener una dieta controlada y hábitos de vida saludable si no desean desarrollar obesidad.</a:t>
              </a:r>
              <a:endParaRPr b="0" lang="es-ES" sz="1800" spc="-1" strike="noStrike">
                <a:latin typeface="Arial"/>
              </a:endParaRPr>
            </a:p>
          </p:txBody>
        </p:sp>
        <p:sp>
          <p:nvSpPr>
            <p:cNvPr id="60" name="CustomShape 18"/>
            <p:cNvSpPr/>
            <p:nvPr/>
          </p:nvSpPr>
          <p:spPr>
            <a:xfrm>
              <a:off x="9731160" y="17936280"/>
              <a:ext cx="4406760" cy="528480"/>
            </a:xfrm>
            <a:prstGeom prst="roundRect">
              <a:avLst>
                <a:gd name="adj" fmla="val 16667"/>
              </a:avLst>
            </a:prstGeom>
            <a:gradFill rotWithShape="0">
              <a:gsLst>
                <a:gs pos="0">
                  <a:srgbClr val="59c2e3"/>
                </a:gs>
                <a:gs pos="100000">
                  <a:srgbClr val="4196c9"/>
                </a:gs>
              </a:gsLst>
              <a:lin ang="2700000"/>
            </a:gra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a:lnSpc>
                  <a:spcPct val="100000"/>
                </a:lnSpc>
              </a:pPr>
              <a:r>
                <a:rPr b="1" lang="es-ES_tradnl" sz="2800" spc="-1" strike="noStrike">
                  <a:solidFill>
                    <a:srgbClr val="ffffff"/>
                  </a:solidFill>
                  <a:latin typeface="Aptos"/>
                </a:rPr>
                <a:t>CONCLUSIONES</a:t>
              </a:r>
              <a:endParaRPr b="0" lang="es-ES" sz="2800" spc="-1" strike="noStrike">
                <a:latin typeface="Arial"/>
              </a:endParaRPr>
            </a:p>
          </p:txBody>
        </p:sp>
      </p:grpSp>
      <p:sp>
        <p:nvSpPr>
          <p:cNvPr id="61" name="CustomShape 19"/>
          <p:cNvSpPr/>
          <p:nvPr/>
        </p:nvSpPr>
        <p:spPr>
          <a:xfrm>
            <a:off x="440640" y="7503480"/>
            <a:ext cx="13959360" cy="632520"/>
          </a:xfrm>
          <a:prstGeom prst="roundRect">
            <a:avLst>
              <a:gd name="adj" fmla="val 16667"/>
            </a:avLst>
          </a:prstGeom>
          <a:solidFill>
            <a:schemeClr val="bg2"/>
          </a:solidFill>
          <a:ln>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nSpc>
                <a:spcPct val="80000"/>
              </a:lnSpc>
              <a:tabLst>
                <a:tab algn="l" pos="0"/>
              </a:tabLst>
            </a:pPr>
            <a:r>
              <a:rPr b="1" lang="es-ES_tradnl" sz="1800" spc="-1" strike="noStrike">
                <a:solidFill>
                  <a:srgbClr val="4196c9"/>
                </a:solidFill>
                <a:latin typeface="Aptos"/>
              </a:rPr>
              <a:t>Tabla 1. </a:t>
            </a:r>
            <a:r>
              <a:rPr b="0" lang="es-ES_tradnl" sz="1800" spc="-1" strike="noStrike">
                <a:solidFill>
                  <a:srgbClr val="000000"/>
                </a:solidFill>
                <a:latin typeface="Aptos"/>
              </a:rPr>
              <a:t>Información de las variantes analizadas con VEP.</a:t>
            </a:r>
            <a:endParaRPr b="0" lang="es-ES" sz="1800" spc="-1" strike="noStrike">
              <a:latin typeface="Arial"/>
            </a:endParaRPr>
          </a:p>
        </p:txBody>
      </p:sp>
      <p:sp>
        <p:nvSpPr>
          <p:cNvPr id="62" name="CustomShape 20"/>
          <p:cNvSpPr/>
          <p:nvPr/>
        </p:nvSpPr>
        <p:spPr>
          <a:xfrm>
            <a:off x="288000" y="11592000"/>
            <a:ext cx="6176880" cy="632520"/>
          </a:xfrm>
          <a:prstGeom prst="roundRect">
            <a:avLst>
              <a:gd name="adj" fmla="val 16667"/>
            </a:avLst>
          </a:prstGeom>
          <a:solidFill>
            <a:schemeClr val="bg2"/>
          </a:solidFill>
          <a:ln>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nSpc>
                <a:spcPct val="80000"/>
              </a:lnSpc>
              <a:tabLst>
                <a:tab algn="l" pos="0"/>
              </a:tabLst>
            </a:pPr>
            <a:r>
              <a:rPr b="1" lang="es-ES_tradnl" sz="1800" spc="-1" strike="noStrike">
                <a:solidFill>
                  <a:srgbClr val="4196c9"/>
                </a:solidFill>
                <a:latin typeface="Aptos"/>
              </a:rPr>
              <a:t>Figura 1. </a:t>
            </a:r>
            <a:r>
              <a:rPr b="0" lang="es-ES_tradnl" sz="1800" spc="-1" strike="noStrike">
                <a:solidFill>
                  <a:srgbClr val="000000"/>
                </a:solidFill>
                <a:latin typeface="Aptos"/>
              </a:rPr>
              <a:t>Estructura de LEPR wt y variante.</a:t>
            </a:r>
            <a:endParaRPr b="0" lang="es-ES" sz="1800" spc="-1" strike="noStrike">
              <a:latin typeface="Arial"/>
            </a:endParaRPr>
          </a:p>
        </p:txBody>
      </p:sp>
      <p:sp>
        <p:nvSpPr>
          <p:cNvPr id="63" name="CustomShape 21"/>
          <p:cNvSpPr/>
          <p:nvPr/>
        </p:nvSpPr>
        <p:spPr>
          <a:xfrm>
            <a:off x="7065000" y="11592000"/>
            <a:ext cx="7407000" cy="632520"/>
          </a:xfrm>
          <a:prstGeom prst="roundRect">
            <a:avLst>
              <a:gd name="adj" fmla="val 16667"/>
            </a:avLst>
          </a:prstGeom>
          <a:solidFill>
            <a:schemeClr val="bg2"/>
          </a:solidFill>
          <a:ln>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nSpc>
                <a:spcPct val="80000"/>
              </a:lnSpc>
              <a:tabLst>
                <a:tab algn="l" pos="0"/>
              </a:tabLst>
            </a:pPr>
            <a:r>
              <a:rPr b="1" lang="es-ES_tradnl" sz="1800" spc="-1" strike="noStrike">
                <a:solidFill>
                  <a:srgbClr val="4196c9"/>
                </a:solidFill>
                <a:latin typeface="Aptos"/>
              </a:rPr>
              <a:t>Figura 2. </a:t>
            </a:r>
            <a:r>
              <a:rPr b="0" lang="es-ES_tradnl" sz="1800" spc="-1" strike="noStrike">
                <a:solidFill>
                  <a:srgbClr val="000000"/>
                </a:solidFill>
                <a:latin typeface="Aptos"/>
              </a:rPr>
              <a:t>Alineamiento múltiple de MCR4 por Custal Omega.</a:t>
            </a:r>
            <a:endParaRPr b="0" lang="es-ES" sz="1800" spc="-1" strike="noStrike">
              <a:latin typeface="Arial"/>
            </a:endParaRPr>
          </a:p>
        </p:txBody>
      </p:sp>
      <p:graphicFrame>
        <p:nvGraphicFramePr>
          <p:cNvPr id="64" name="Table 22"/>
          <p:cNvGraphicFramePr/>
          <p:nvPr/>
        </p:nvGraphicFramePr>
        <p:xfrm>
          <a:off x="327600" y="8251200"/>
          <a:ext cx="14437080" cy="1866600"/>
        </p:xfrm>
        <a:graphic>
          <a:graphicData uri="http://schemas.openxmlformats.org/drawingml/2006/table">
            <a:tbl>
              <a:tblPr/>
              <a:tblGrid>
                <a:gridCol w="642240"/>
                <a:gridCol w="1372320"/>
                <a:gridCol w="2098080"/>
                <a:gridCol w="540000"/>
                <a:gridCol w="1214640"/>
                <a:gridCol w="1285200"/>
                <a:gridCol w="1176480"/>
                <a:gridCol w="2014920"/>
                <a:gridCol w="1287720"/>
                <a:gridCol w="1516320"/>
                <a:gridCol w="1289160"/>
              </a:tblGrid>
              <a:tr h="242640">
                <a:tc>
                  <a:txBody>
                    <a:bodyPr lIns="7560" rIns="7560" tIns="7560" bIns="0" anchor="b">
                      <a:noAutofit/>
                    </a:bodyPr>
                    <a:p>
                      <a:pPr>
                        <a:lnSpc>
                          <a:spcPct val="100000"/>
                        </a:lnSpc>
                      </a:pPr>
                      <a:r>
                        <a:rPr b="0" lang="es-ES" sz="1600" spc="-1" strike="noStrike">
                          <a:solidFill>
                            <a:srgbClr val="000000"/>
                          </a:solidFill>
                          <a:latin typeface="Aptos"/>
                        </a:rPr>
                        <a:t>Gen</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Coordenada</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Nomenclatura.c</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Tipo</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Genotipo</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Frecuencia</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Proteína</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Nomenclatura.p</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Efecto</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SIFT</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PolyPhen</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r>
              <a:tr h="712080">
                <a:tc>
                  <a:txBody>
                    <a:bodyPr lIns="7560" rIns="7560" tIns="7560" bIns="0">
                      <a:noAutofit/>
                    </a:bodyPr>
                    <a:p>
                      <a:pPr>
                        <a:lnSpc>
                          <a:spcPct val="100000"/>
                        </a:lnSpc>
                      </a:pPr>
                      <a:r>
                        <a:rPr b="0" lang="es-ES" sz="1600" spc="-1" strike="noStrike">
                          <a:solidFill>
                            <a:srgbClr val="000000"/>
                          </a:solidFill>
                          <a:latin typeface="Aptos"/>
                        </a:rPr>
                        <a:t>LEPR</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1:65609983-65609984</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ENST00000349533.11:c.1790del</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indel</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heterocigoto</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6.19 x 10-7 (mutación)</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ENST00000349533.11</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ENSP00000330393.7:p.Ser597IlefsTer20</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Frameshift</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r>
              <a:tr h="712080">
                <a:tc>
                  <a:txBody>
                    <a:bodyPr lIns="7560" rIns="7560" tIns="7560" bIns="0">
                      <a:noAutofit/>
                    </a:bodyPr>
                    <a:p>
                      <a:pPr>
                        <a:lnSpc>
                          <a:spcPct val="100000"/>
                        </a:lnSpc>
                      </a:pPr>
                      <a:r>
                        <a:rPr b="0" lang="es-ES" sz="1600" spc="-1" strike="noStrike">
                          <a:solidFill>
                            <a:srgbClr val="000000"/>
                          </a:solidFill>
                          <a:latin typeface="Aptos"/>
                        </a:rPr>
                        <a:t>MC4R</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18:60371535</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ENST00000299766.5:c.815C&gt;A</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SNP</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heterocigoto</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nSpc>
                          <a:spcPct val="100000"/>
                        </a:lnSpc>
                      </a:pPr>
                      <a:r>
                        <a:rPr b="0" lang="es-ES" sz="1600" spc="-1" strike="noStrike">
                          <a:solidFill>
                            <a:srgbClr val="000000"/>
                          </a:solidFill>
                          <a:latin typeface="Aptos"/>
                        </a:rPr>
                        <a:t>6.195x10-7</a:t>
                      </a:r>
                      <a:endParaRPr b="0" lang="es-ES" sz="1600" spc="-1" strike="noStrike">
                        <a:latin typeface="Calibri"/>
                      </a:endParaRPr>
                    </a:p>
                    <a:p>
                      <a:pPr>
                        <a:lnSpc>
                          <a:spcPct val="100000"/>
                        </a:lnSpc>
                      </a:pPr>
                      <a:r>
                        <a:rPr b="0" lang="es-ES" sz="1600" spc="-1" strike="noStrike">
                          <a:solidFill>
                            <a:srgbClr val="000000"/>
                          </a:solidFill>
                          <a:latin typeface="Aptos"/>
                        </a:rPr>
                        <a:t>(mutación)</a:t>
                      </a:r>
                      <a:endParaRPr b="0" lang="es-ES" sz="1600" spc="-1" strike="noStrike">
                        <a:latin typeface="Calibri"/>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ENST00000299766.5</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ENSP00000299766.3:p.Pro272His</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Missense</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deleterious (0)</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probably damaging (1)</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r>
              <a:tr h="946800">
                <a:tc>
                  <a:txBody>
                    <a:bodyPr lIns="7560" rIns="7560" tIns="7560" bIns="0">
                      <a:noAutofit/>
                    </a:bodyPr>
                    <a:p>
                      <a:pPr>
                        <a:lnSpc>
                          <a:spcPct val="100000"/>
                        </a:lnSpc>
                      </a:pPr>
                      <a:r>
                        <a:rPr b="0" lang="es-ES" sz="1600" spc="-1" strike="noStrike">
                          <a:solidFill>
                            <a:srgbClr val="000000"/>
                          </a:solidFill>
                          <a:latin typeface="Aptos"/>
                        </a:rPr>
                        <a:t>MED12</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X:71121046</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ENST00000374080.8:c.629C&gt;T</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SNP</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hemicigoto</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4.553x10-6 (mutación)</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ENST00000374080.8</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ENSP00000363193.3:p.Ala210Val</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Missense</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deleterious low confidence (0.02)</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benign (0.19)</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r>
              <a:tr h="477360">
                <a:tc>
                  <a:txBody>
                    <a:bodyPr lIns="7560" rIns="7560" tIns="7560" bIns="0">
                      <a:noAutofit/>
                    </a:bodyPr>
                    <a:p>
                      <a:pPr>
                        <a:lnSpc>
                          <a:spcPct val="100000"/>
                        </a:lnSpc>
                      </a:pPr>
                      <a:r>
                        <a:rPr b="0" lang="es-ES" sz="1600" spc="-1" strike="noStrike">
                          <a:solidFill>
                            <a:srgbClr val="000000"/>
                          </a:solidFill>
                          <a:latin typeface="Aptos"/>
                        </a:rPr>
                        <a:t>TP53</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17:7676154</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ENST00000269305.9:c.215C&gt;T</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SNP</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heterocigoto</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6.19 x 10-7 (mutación)</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ENST00000269305.9</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ENSP00000269305.4:p.Pro72Leu</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Missense</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tolerated (0.13)</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c>
                  <a:txBody>
                    <a:bodyPr lIns="7560" rIns="7560" tIns="7560" bIns="0">
                      <a:noAutofit/>
                    </a:bodyPr>
                    <a:p>
                      <a:pPr algn="ctr">
                        <a:lnSpc>
                          <a:spcPct val="100000"/>
                        </a:lnSpc>
                      </a:pPr>
                      <a:r>
                        <a:rPr b="0" lang="es-ES" sz="1600" spc="-1" strike="noStrike">
                          <a:solidFill>
                            <a:srgbClr val="000000"/>
                          </a:solidFill>
                          <a:latin typeface="Aptos"/>
                        </a:rPr>
                        <a:t>benign (0.003)</a:t>
                      </a:r>
                      <a:endParaRPr b="0" lang="es-ES" sz="1600" spc="-1" strike="noStrike">
                        <a:latin typeface="Arial"/>
                      </a:endParaRPr>
                    </a:p>
                  </a:txBody>
                  <a:tcPr marL="7560" marR="7560">
                    <a:lnL w="12240">
                      <a:solidFill>
                        <a:srgbClr val="ffffff"/>
                      </a:solidFill>
                    </a:lnL>
                    <a:lnR w="12240">
                      <a:solidFill>
                        <a:srgbClr val="ffffff"/>
                      </a:solidFill>
                    </a:lnR>
                    <a:lnT w="12240">
                      <a:solidFill>
                        <a:srgbClr val="ffffff"/>
                      </a:solidFill>
                    </a:lnT>
                    <a:lnB w="12240">
                      <a:solidFill>
                        <a:srgbClr val="ffffff"/>
                      </a:solidFill>
                    </a:lnB>
                    <a:solidFill>
                      <a:srgbClr val="e7eaec"/>
                    </a:solidFill>
                  </a:tcPr>
                </a:tc>
              </a:tr>
            </a:tbl>
          </a:graphicData>
        </a:graphic>
      </p:graphicFrame>
      <p:pic>
        <p:nvPicPr>
          <p:cNvPr id="65" name="" descr=""/>
          <p:cNvPicPr/>
          <p:nvPr/>
        </p:nvPicPr>
        <p:blipFill>
          <a:blip r:embed="rId14"/>
          <a:stretch/>
        </p:blipFill>
        <p:spPr>
          <a:xfrm>
            <a:off x="6952320" y="12456000"/>
            <a:ext cx="7416000" cy="1434600"/>
          </a:xfrm>
          <a:prstGeom prst="rect">
            <a:avLst/>
          </a:prstGeom>
          <a:ln>
            <a:noFill/>
          </a:ln>
        </p:spPr>
      </p:pic>
      <p:sp>
        <p:nvSpPr>
          <p:cNvPr id="66" name="CustomShape 23"/>
          <p:cNvSpPr/>
          <p:nvPr/>
        </p:nvSpPr>
        <p:spPr>
          <a:xfrm>
            <a:off x="11448000" y="12312000"/>
            <a:ext cx="144000" cy="288000"/>
          </a:xfrm>
          <a:custGeom>
            <a:avLst/>
            <a:gdLst/>
            <a:ahLst/>
            <a:rect l="0" t="0" r="r" b="b"/>
            <a:pathLst>
              <a:path w="402" h="802">
                <a:moveTo>
                  <a:pt x="193" y="0"/>
                </a:moveTo>
                <a:lnTo>
                  <a:pt x="193" y="0"/>
                </a:lnTo>
                <a:lnTo>
                  <a:pt x="0" y="0"/>
                </a:lnTo>
                <a:lnTo>
                  <a:pt x="200" y="801"/>
                </a:lnTo>
                <a:lnTo>
                  <a:pt x="401" y="0"/>
                </a:lnTo>
                <a:lnTo>
                  <a:pt x="207" y="0"/>
                </a:lnTo>
                <a:lnTo>
                  <a:pt x="207" y="0"/>
                </a:lnTo>
                <a:lnTo>
                  <a:pt x="193" y="0"/>
                </a:lnTo>
              </a:path>
            </a:pathLst>
          </a:custGeom>
          <a:solidFill>
            <a:srgbClr val="729fcf"/>
          </a:solidFill>
          <a:ln>
            <a:solidFill>
              <a:srgbClr val="3465a4"/>
            </a:solidFill>
          </a:ln>
        </p:spPr>
        <p:style>
          <a:lnRef idx="0"/>
          <a:fillRef idx="0"/>
          <a:effectRef idx="0"/>
          <a:fontRef idx="minor"/>
        </p:style>
      </p:sp>
      <p:pic>
        <p:nvPicPr>
          <p:cNvPr id="67" name="" descr=""/>
          <p:cNvPicPr/>
          <p:nvPr/>
        </p:nvPicPr>
        <p:blipFill>
          <a:blip r:embed="rId15"/>
          <a:srcRect l="0" t="54151" r="0" b="0"/>
          <a:stretch/>
        </p:blipFill>
        <p:spPr>
          <a:xfrm>
            <a:off x="8064000" y="15120000"/>
            <a:ext cx="5400000" cy="2016000"/>
          </a:xfrm>
          <a:prstGeom prst="rect">
            <a:avLst/>
          </a:prstGeom>
          <a:ln>
            <a:noFill/>
          </a:ln>
        </p:spPr>
      </p:pic>
      <p:sp>
        <p:nvSpPr>
          <p:cNvPr id="68" name="CustomShape 24"/>
          <p:cNvSpPr/>
          <p:nvPr/>
        </p:nvSpPr>
        <p:spPr>
          <a:xfrm>
            <a:off x="7056000" y="14256000"/>
            <a:ext cx="7291440" cy="632520"/>
          </a:xfrm>
          <a:prstGeom prst="roundRect">
            <a:avLst>
              <a:gd name="adj" fmla="val 16667"/>
            </a:avLst>
          </a:prstGeom>
          <a:solidFill>
            <a:schemeClr val="bg2"/>
          </a:solidFill>
          <a:ln>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nSpc>
                <a:spcPct val="80000"/>
              </a:lnSpc>
              <a:tabLst>
                <a:tab algn="l" pos="0"/>
              </a:tabLst>
            </a:pPr>
            <a:r>
              <a:rPr b="1" lang="es-ES_tradnl" sz="1800" spc="-1" strike="noStrike">
                <a:solidFill>
                  <a:srgbClr val="4196c9"/>
                </a:solidFill>
                <a:latin typeface="Aptos"/>
              </a:rPr>
              <a:t>Figura 3. </a:t>
            </a:r>
            <a:r>
              <a:rPr b="0" lang="es-ES_tradnl" sz="1800" spc="-1" strike="noStrike">
                <a:solidFill>
                  <a:srgbClr val="000000"/>
                </a:solidFill>
                <a:latin typeface="Aptos"/>
              </a:rPr>
              <a:t>Rutas metabolicas implicadas en MC4R en KEGG.</a:t>
            </a:r>
            <a:endParaRPr b="0" lang="es-ES" sz="1800" spc="-1" strike="noStrike">
              <a:latin typeface="Arial"/>
            </a:endParaRPr>
          </a:p>
        </p:txBody>
      </p:sp>
      <p:sp>
        <p:nvSpPr>
          <p:cNvPr id="69" name="TextShape 25"/>
          <p:cNvSpPr txBox="1"/>
          <p:nvPr/>
        </p:nvSpPr>
        <p:spPr>
          <a:xfrm>
            <a:off x="8064000" y="17138520"/>
            <a:ext cx="5760000" cy="432000"/>
          </a:xfrm>
          <a:prstGeom prst="rect">
            <a:avLst/>
          </a:prstGeom>
          <a:noFill/>
          <a:ln>
            <a:noFill/>
          </a:ln>
        </p:spPr>
        <p:txBody>
          <a:bodyPr lIns="90000" rIns="90000" tIns="45000" bIns="45000">
            <a:noAutofit/>
          </a:bodyPr>
          <a:p>
            <a:r>
              <a:rPr b="0" lang="es-ES" sz="1500" spc="-1" strike="noStrike">
                <a:latin typeface="Arial"/>
              </a:rPr>
              <a:t>MC4R. Via de la señalización hormonal del AMP cíclico </a:t>
            </a:r>
            <a:endParaRPr b="0" lang="es-ES" sz="1500" spc="-1" strike="noStrike">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customXml/_rels/item1.xml.rels><?xml version="1.0" encoding="UTF-8"?>
<Relationships xmlns="http://schemas.openxmlformats.org/package/2006/relationships"><Relationship Id="rId1" Type="http://schemas.openxmlformats.org/officeDocument/2006/relationships/customXmlProps" Target="itemProps1.xml"/>
</Relationships>
</file>

<file path=customXml/_rels/item2.xml.rels><?xml version="1.0" encoding="UTF-8"?>
<Relationships xmlns="http://schemas.openxmlformats.org/package/2006/relationships"><Relationship Id="rId1" Type="http://schemas.openxmlformats.org/officeDocument/2006/relationships/customXmlProps" Target="itemProps2.xml"/>
</Relationships>
</file>

<file path=customXml/_rels/item3.xml.rels><?xml version="1.0" encoding="UTF-8"?>
<Relationships xmlns="http://schemas.openxmlformats.org/package/2006/relationships"><Relationship Id="rId1" Type="http://schemas.openxmlformats.org/officeDocument/2006/relationships/customXmlProps" Target="itemProps3.xml"/>
</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Flow_SignoffStatus xmlns="27c1adeb-3674-457c-b08c-8a73f31b6e23" xsi:nil="true"/>
    <lcf76f155ced4ddcb4097134ff3c332f xmlns="27c1adeb-3674-457c-b08c-8a73f31b6e23">
      <Terms xmlns="http://schemas.microsoft.com/office/infopath/2007/PartnerControls"/>
    </lcf76f155ced4ddcb4097134ff3c332f>
    <TaxCatchAll xmlns="0a70e875-3d35-4be2-921f-7117c31bab9b"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o" ma:contentTypeID="0x010100DF3D7C797EA12745A270EF30E38719B9" ma:contentTypeVersion="20" ma:contentTypeDescription="Crear nuevo documento." ma:contentTypeScope="" ma:versionID="98b23ce13f8ef13134c980882a27b8cc">
  <xsd:schema xmlns:xsd="http://www.w3.org/2001/XMLSchema" xmlns:xs="http://www.w3.org/2001/XMLSchema" xmlns:p="http://schemas.microsoft.com/office/2006/metadata/properties" xmlns:ns2="0a70e875-3d35-4be2-921f-7117c31bab9b" xmlns:ns3="27c1adeb-3674-457c-b08c-8a73f31b6e23" targetNamespace="http://schemas.microsoft.com/office/2006/metadata/properties" ma:root="true" ma:fieldsID="83d50475b18a8f95f7f8edf1c6caa3f2" ns2:_="" ns3:_="">
    <xsd:import namespace="0a70e875-3d35-4be2-921f-7117c31bab9b"/>
    <xsd:import namespace="27c1adeb-3674-457c-b08c-8a73f31b6e23"/>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Location" minOccurs="0"/>
                <xsd:element ref="ns3:lcf76f155ced4ddcb4097134ff3c332f" minOccurs="0"/>
                <xsd:element ref="ns2:TaxCatchAll" minOccurs="0"/>
                <xsd:element ref="ns3:MediaServiceSearchProperties" minOccurs="0"/>
                <xsd:element ref="ns3:_Flow_SignoffStatus" minOccurs="0"/>
                <xsd:element ref="ns3:MediaServiceObjectDetectorVersion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a70e875-3d35-4be2-921f-7117c31bab9b" elementFormDefault="qualified">
    <xsd:import namespace="http://schemas.microsoft.com/office/2006/documentManagement/types"/>
    <xsd:import namespace="http://schemas.microsoft.com/office/infopath/2007/PartnerControls"/>
    <xsd:element name="SharedWithUsers" ma:index="8"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Detalles de uso compartido" ma:internalName="SharedWithDetails" ma:readOnly="true">
      <xsd:simpleType>
        <xsd:restriction base="dms:Note">
          <xsd:maxLength value="255"/>
        </xsd:restriction>
      </xsd:simpleType>
    </xsd:element>
    <xsd:element name="TaxCatchAll" ma:index="23" nillable="true" ma:displayName="Taxonomy Catch All Column" ma:hidden="true" ma:list="{c7f67346-78c9-4c4d-b954-8d350fdf60db}" ma:internalName="TaxCatchAll" ma:showField="CatchAllData" ma:web="0a70e875-3d35-4be2-921f-7117c31bab9b">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27c1adeb-3674-457c-b08c-8a73f31b6e23"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Etiquetas de imagen" ma:readOnly="false" ma:fieldId="{5cf76f15-5ced-4ddc-b409-7134ff3c332f}" ma:taxonomyMulti="true" ma:sspId="17631b59-e624-4eb7-963c-219f14f887a3"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_Flow_SignoffStatus" ma:index="25" nillable="true" ma:displayName="Estado de aprobación" ma:internalName="Estado_x0020_de_x0020_aprobaci_x00f3_n">
      <xsd:simpleType>
        <xsd:restriction base="dms:Text"/>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15B638B7-22B7-4D35-BE84-714C8C34C119}">
  <ds:schemaRefs>
    <ds:schemaRef ds:uri="http://schemas.microsoft.com/sharepoint/v3/contenttype/forms"/>
  </ds:schemaRefs>
</ds:datastoreItem>
</file>

<file path=customXml/itemProps2.xml><?xml version="1.0" encoding="utf-8"?>
<ds:datastoreItem xmlns:ds="http://schemas.openxmlformats.org/officeDocument/2006/customXml" ds:itemID="{5CBD36D8-5209-415C-A4C4-4F318B167F44}">
  <ds:schemaRefs>
    <ds:schemaRef ds:uri="http://schemas.openxmlformats.org/package/2006/metadata/core-properties"/>
    <ds:schemaRef ds:uri="http://schemas.microsoft.com/office/2006/documentManagement/types"/>
    <ds:schemaRef ds:uri="0a70e875-3d35-4be2-921f-7117c31bab9b"/>
    <ds:schemaRef ds:uri="http://www.w3.org/XML/1998/namespace"/>
    <ds:schemaRef ds:uri="27c1adeb-3674-457c-b08c-8a73f31b6e23"/>
    <ds:schemaRef ds:uri="http://purl.org/dc/elements/1.1/"/>
    <ds:schemaRef ds:uri="http://schemas.microsoft.com/office/2006/metadata/properties"/>
    <ds:schemaRef ds:uri="http://schemas.microsoft.com/office/infopath/2007/PartnerControls"/>
    <ds:schemaRef ds:uri="http://purl.org/dc/dcmitype/"/>
    <ds:schemaRef ds:uri="http://purl.org/dc/terms/"/>
  </ds:schemaRefs>
</ds:datastoreItem>
</file>

<file path=customXml/itemProps3.xml><?xml version="1.0" encoding="utf-8"?>
<ds:datastoreItem xmlns:ds="http://schemas.openxmlformats.org/officeDocument/2006/customXml" ds:itemID="{56214829-4D9F-4687-8E37-8FF1875CABA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a70e875-3d35-4be2-921f-7117c31bab9b"/>
    <ds:schemaRef ds:uri="27c1adeb-3674-457c-b08c-8a73f31b6e2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0361ecad-3f61-4749-aa5c-87fde47ef9ad}" enabled="1" method="Privileged" siteId="{22c8b4a4-d926-43b2-bcc7-87b998590b47}" removed="0"/>
</clbl:labelList>
</file>

<file path=docProps/app.xml><?xml version="1.0" encoding="utf-8"?>
<Properties xmlns="http://schemas.openxmlformats.org/officeDocument/2006/extended-properties" xmlns:vt="http://schemas.openxmlformats.org/officeDocument/2006/docPropsVTypes">
  <Template>Office Theme</Template>
  <TotalTime>200</TotalTime>
  <Application>LibreOffice/6.4.5.2$Windows_X86_64 LibreOffice_project/a726b36747cf2001e06b58ad5db1aa3a9a1872d6</Application>
  <Words>528</Words>
  <Paragraphs>72</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2025-04-21T10:03:24Z</dcterms:created>
  <dc:creator>Victor  de la O Pascual</dc:creator>
  <dc:description/>
  <dc:language>es-ES</dc:language>
  <cp:lastModifiedBy/>
  <dcterms:modified xsi:type="dcterms:W3CDTF">2026-02-01T14:17:13Z</dcterms:modified>
  <cp:revision>33</cp:revision>
  <dc:subject/>
  <dc:title>Presentación de PowerPoint</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ntentTypeId">
    <vt:lpwstr>0x010100DF3D7C797EA12745A270EF30E38719B9</vt:lpwstr>
  </property>
  <property fmtid="{D5CDD505-2E9C-101B-9397-08002B2CF9AE}" pid="4" name="HiddenSlides">
    <vt:i4>0</vt:i4>
  </property>
  <property fmtid="{D5CDD505-2E9C-101B-9397-08002B2CF9AE}" pid="5" name="HyperlinksChanged">
    <vt:bool>0</vt:bool>
  </property>
  <property fmtid="{D5CDD505-2E9C-101B-9397-08002B2CF9AE}" pid="6" name="LinksUpToDate">
    <vt:bool>0</vt:bool>
  </property>
  <property fmtid="{D5CDD505-2E9C-101B-9397-08002B2CF9AE}" pid="7" name="MMClips">
    <vt:i4>0</vt:i4>
  </property>
  <property fmtid="{D5CDD505-2E9C-101B-9397-08002B2CF9AE}" pid="8" name="MediaServiceImageTags">
    <vt:lpwstr/>
  </property>
  <property fmtid="{D5CDD505-2E9C-101B-9397-08002B2CF9AE}" pid="9" name="Notes">
    <vt:i4>0</vt:i4>
  </property>
  <property fmtid="{D5CDD505-2E9C-101B-9397-08002B2CF9AE}" pid="10" name="PresentationFormat">
    <vt:lpwstr>Personalizado</vt:lpwstr>
  </property>
  <property fmtid="{D5CDD505-2E9C-101B-9397-08002B2CF9AE}" pid="11" name="ScaleCrop">
    <vt:bool>0</vt:bool>
  </property>
  <property fmtid="{D5CDD505-2E9C-101B-9397-08002B2CF9AE}" pid="12" name="ShareDoc">
    <vt:bool>0</vt:bool>
  </property>
  <property fmtid="{D5CDD505-2E9C-101B-9397-08002B2CF9AE}" pid="13" name="Slides">
    <vt:i4>1</vt:i4>
  </property>
</Properties>
</file>