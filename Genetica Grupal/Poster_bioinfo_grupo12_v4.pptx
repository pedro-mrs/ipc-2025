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15119350" cy="21383625"/>
  <p:notesSz cx="7559675" cy="106918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0014813-A212-B44D-BCA9-51EC712DEE5A}" v="1" dt="2026-02-01T19:09:10.4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208"/>
    <p:restoredTop sz="94635"/>
  </p:normalViewPr>
  <p:slideViewPr>
    <p:cSldViewPr snapToGrid="0">
      <p:cViewPr>
        <p:scale>
          <a:sx n="75" d="100"/>
          <a:sy n="75" d="100"/>
        </p:scale>
        <p:origin x="1216" y="-4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ula Norniella Jamart" userId="92dcd70e170e53a7" providerId="LiveId" clId="{963EB8FB-3F3D-597D-A817-5FBE33DBCB47}"/>
    <pc:docChg chg="modSld">
      <pc:chgData name="Paula Norniella Jamart" userId="92dcd70e170e53a7" providerId="LiveId" clId="{963EB8FB-3F3D-597D-A817-5FBE33DBCB47}" dt="2026-02-01T19:09:40.260" v="6" actId="1076"/>
      <pc:docMkLst>
        <pc:docMk/>
      </pc:docMkLst>
      <pc:sldChg chg="addSp modSp mod">
        <pc:chgData name="Paula Norniella Jamart" userId="92dcd70e170e53a7" providerId="LiveId" clId="{963EB8FB-3F3D-597D-A817-5FBE33DBCB47}" dt="2026-02-01T19:09:40.260" v="6" actId="1076"/>
        <pc:sldMkLst>
          <pc:docMk/>
          <pc:sldMk cId="0" sldId="256"/>
        </pc:sldMkLst>
        <pc:picChg chg="add mod">
          <ac:chgData name="Paula Norniella Jamart" userId="92dcd70e170e53a7" providerId="LiveId" clId="{963EB8FB-3F3D-597D-A817-5FBE33DBCB47}" dt="2026-02-01T19:09:40.260" v="6" actId="1076"/>
          <ac:picMkLst>
            <pc:docMk/>
            <pc:sldMk cId="0" sldId="256"/>
            <ac:picMk id="3" creationId="{77ED0077-7CDA-5232-C64C-3CA3DBB9B7D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48C9869D-3451-6C43-8CCE-BBD265B9C833}" type="datetimeFigureOut">
              <a:rPr lang="es-ES" smtClean="0"/>
              <a:t>1/2/26</a:t>
            </a:fld>
            <a:endParaRPr lang="es-ES"/>
          </a:p>
        </p:txBody>
      </p:sp>
      <p:sp>
        <p:nvSpPr>
          <p:cNvPr id="4" name="Marcador de imagen de diapositiva 3"/>
          <p:cNvSpPr>
            <a:spLocks noGrp="1" noRot="1" noChangeAspect="1"/>
          </p:cNvSpPr>
          <p:nvPr>
            <p:ph type="sldImg" idx="2"/>
          </p:nvPr>
        </p:nvSpPr>
        <p:spPr>
          <a:xfrm>
            <a:off x="2503488" y="1336675"/>
            <a:ext cx="2552700" cy="3608388"/>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B2462F95-8DF0-804F-B599-A38CA395DDBC}" type="slidenum">
              <a:rPr lang="es-ES" smtClean="0"/>
              <a:t>‹Nº›</a:t>
            </a:fld>
            <a:endParaRPr lang="es-ES"/>
          </a:p>
        </p:txBody>
      </p:sp>
    </p:spTree>
    <p:extLst>
      <p:ext uri="{BB962C8B-B14F-4D97-AF65-F5344CB8AC3E}">
        <p14:creationId xmlns:p14="http://schemas.microsoft.com/office/powerpoint/2010/main" val="15641072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B2462F95-8DF0-804F-B599-A38CA395DDBC}" type="slidenum">
              <a:rPr lang="es-ES" smtClean="0"/>
              <a:t>1</a:t>
            </a:fld>
            <a:endParaRPr lang="es-ES"/>
          </a:p>
        </p:txBody>
      </p:sp>
    </p:spTree>
    <p:extLst>
      <p:ext uri="{BB962C8B-B14F-4D97-AF65-F5344CB8AC3E}">
        <p14:creationId xmlns:p14="http://schemas.microsoft.com/office/powerpoint/2010/main" val="5925945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3" name="PlaceHolder 2"/>
          <p:cNvSpPr>
            <a:spLocks noGrp="1"/>
          </p:cNvSpPr>
          <p:nvPr>
            <p:ph type="subTitle"/>
          </p:nvPr>
        </p:nvSpPr>
        <p:spPr>
          <a:xfrm>
            <a:off x="755640" y="5003640"/>
            <a:ext cx="13606920" cy="12402000"/>
          </a:xfrm>
          <a:prstGeom prst="rect">
            <a:avLst/>
          </a:prstGeom>
        </p:spPr>
        <p:txBody>
          <a:bodyPr lIns="0" tIns="0" rIns="0" bIns="0" anchor="ctr">
            <a:noAutofit/>
          </a:bodyPr>
          <a:lstStyle/>
          <a:p>
            <a:pPr algn="ctr"/>
            <a:endParaRPr lang="es-E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5" name="PlaceHolder 2"/>
          <p:cNvSpPr>
            <a:spLocks noGrp="1"/>
          </p:cNvSpPr>
          <p:nvPr>
            <p:ph type="body"/>
          </p:nvPr>
        </p:nvSpPr>
        <p:spPr>
          <a:xfrm>
            <a:off x="755640" y="5003640"/>
            <a:ext cx="13606920" cy="12402000"/>
          </a:xfrm>
          <a:prstGeom prst="rect">
            <a:avLst/>
          </a:prstGeom>
        </p:spPr>
        <p:txBody>
          <a:bodyPr lIns="0" tIns="0" rIns="0" bIns="0">
            <a:normAutofit/>
          </a:bodyPr>
          <a:lstStyle/>
          <a:p>
            <a:endParaRPr lang="es-ES" sz="2800" b="0" strike="noStrike" spc="-1">
              <a:solidFill>
                <a:srgbClr val="000000"/>
              </a:solidFill>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7" name="PlaceHolder 2"/>
          <p:cNvSpPr>
            <a:spLocks noGrp="1"/>
          </p:cNvSpPr>
          <p:nvPr>
            <p:ph type="body"/>
          </p:nvPr>
        </p:nvSpPr>
        <p:spPr>
          <a:xfrm>
            <a:off x="755640" y="5003640"/>
            <a:ext cx="6639840" cy="1240200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8" name="PlaceHolder 3"/>
          <p:cNvSpPr>
            <a:spLocks noGrp="1"/>
          </p:cNvSpPr>
          <p:nvPr>
            <p:ph type="body"/>
          </p:nvPr>
        </p:nvSpPr>
        <p:spPr>
          <a:xfrm>
            <a:off x="7727760" y="5003640"/>
            <a:ext cx="6639840" cy="12402000"/>
          </a:xfrm>
          <a:prstGeom prst="rect">
            <a:avLst/>
          </a:prstGeom>
        </p:spPr>
        <p:txBody>
          <a:bodyPr lIns="0" tIns="0" rIns="0" bIns="0">
            <a:normAutofit/>
          </a:bodyPr>
          <a:lstStyle/>
          <a:p>
            <a:endParaRPr lang="es-ES" sz="2800" b="0" strike="noStrike" spc="-1">
              <a:solidFill>
                <a:srgbClr val="000000"/>
              </a:solidFill>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1134000" y="3499560"/>
            <a:ext cx="12850560" cy="34507440"/>
          </a:xfrm>
          <a:prstGeom prst="rect">
            <a:avLst/>
          </a:prstGeom>
        </p:spPr>
        <p:txBody>
          <a:bodyPr lIns="0" tIns="0" rIns="0" bIns="0" anchor="ctr">
            <a:noAutofit/>
          </a:bodyPr>
          <a:lstStyle/>
          <a:p>
            <a:pPr algn="ctr"/>
            <a:endParaRPr lang="es-E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12"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13" name="PlaceHolder 3"/>
          <p:cNvSpPr>
            <a:spLocks noGrp="1"/>
          </p:cNvSpPr>
          <p:nvPr>
            <p:ph type="body"/>
          </p:nvPr>
        </p:nvSpPr>
        <p:spPr>
          <a:xfrm>
            <a:off x="7727760" y="5003640"/>
            <a:ext cx="6639840" cy="1240200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14" name="PlaceHolder 4"/>
          <p:cNvSpPr>
            <a:spLocks noGrp="1"/>
          </p:cNvSpPr>
          <p:nvPr>
            <p:ph type="body"/>
          </p:nvPr>
        </p:nvSpPr>
        <p:spPr>
          <a:xfrm>
            <a:off x="755640" y="1148148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16" name="PlaceHolder 2"/>
          <p:cNvSpPr>
            <a:spLocks noGrp="1"/>
          </p:cNvSpPr>
          <p:nvPr>
            <p:ph type="body"/>
          </p:nvPr>
        </p:nvSpPr>
        <p:spPr>
          <a:xfrm>
            <a:off x="755640" y="5003640"/>
            <a:ext cx="6639840" cy="1240200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17"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18" name="PlaceHolder 4"/>
          <p:cNvSpPr>
            <a:spLocks noGrp="1"/>
          </p:cNvSpPr>
          <p:nvPr>
            <p:ph type="body"/>
          </p:nvPr>
        </p:nvSpPr>
        <p:spPr>
          <a:xfrm>
            <a:off x="7727760" y="1148148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20"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21"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22" name="PlaceHolder 4"/>
          <p:cNvSpPr>
            <a:spLocks noGrp="1"/>
          </p:cNvSpPr>
          <p:nvPr>
            <p:ph type="body"/>
          </p:nvPr>
        </p:nvSpPr>
        <p:spPr>
          <a:xfrm>
            <a:off x="755640" y="11481480"/>
            <a:ext cx="13606920" cy="5915520"/>
          </a:xfrm>
          <a:prstGeom prst="rect">
            <a:avLst/>
          </a:prstGeom>
        </p:spPr>
        <p:txBody>
          <a:bodyPr lIns="0" tIns="0" rIns="0" bIns="0">
            <a:normAutofit/>
          </a:bodyPr>
          <a:lstStyle/>
          <a:p>
            <a:endParaRPr lang="es-ES" sz="2800" b="0" strike="noStrike" spc="-1">
              <a:solidFill>
                <a:srgbClr val="000000"/>
              </a:solidFill>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24" name="PlaceHolder 2"/>
          <p:cNvSpPr>
            <a:spLocks noGrp="1"/>
          </p:cNvSpPr>
          <p:nvPr>
            <p:ph type="body"/>
          </p:nvPr>
        </p:nvSpPr>
        <p:spPr>
          <a:xfrm>
            <a:off x="755640" y="5003640"/>
            <a:ext cx="1360692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25" name="PlaceHolder 3"/>
          <p:cNvSpPr>
            <a:spLocks noGrp="1"/>
          </p:cNvSpPr>
          <p:nvPr>
            <p:ph type="body"/>
          </p:nvPr>
        </p:nvSpPr>
        <p:spPr>
          <a:xfrm>
            <a:off x="755640" y="11481480"/>
            <a:ext cx="13606920" cy="5915520"/>
          </a:xfrm>
          <a:prstGeom prst="rect">
            <a:avLst/>
          </a:prstGeom>
        </p:spPr>
        <p:txBody>
          <a:bodyPr lIns="0" tIns="0" rIns="0" bIns="0">
            <a:normAutofit/>
          </a:bodyPr>
          <a:lstStyle/>
          <a:p>
            <a:endParaRPr lang="es-ES" sz="2800" b="0" strike="noStrike" spc="-1">
              <a:solidFill>
                <a:srgbClr val="000000"/>
              </a:solidFill>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27" name="PlaceHolder 2"/>
          <p:cNvSpPr>
            <a:spLocks noGrp="1"/>
          </p:cNvSpPr>
          <p:nvPr>
            <p:ph type="body"/>
          </p:nvPr>
        </p:nvSpPr>
        <p:spPr>
          <a:xfrm>
            <a:off x="755640" y="500364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28" name="PlaceHolder 3"/>
          <p:cNvSpPr>
            <a:spLocks noGrp="1"/>
          </p:cNvSpPr>
          <p:nvPr>
            <p:ph type="body"/>
          </p:nvPr>
        </p:nvSpPr>
        <p:spPr>
          <a:xfrm>
            <a:off x="7727760" y="500364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29" name="PlaceHolder 4"/>
          <p:cNvSpPr>
            <a:spLocks noGrp="1"/>
          </p:cNvSpPr>
          <p:nvPr>
            <p:ph type="body"/>
          </p:nvPr>
        </p:nvSpPr>
        <p:spPr>
          <a:xfrm>
            <a:off x="755640" y="1148148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30" name="PlaceHolder 5"/>
          <p:cNvSpPr>
            <a:spLocks noGrp="1"/>
          </p:cNvSpPr>
          <p:nvPr>
            <p:ph type="body"/>
          </p:nvPr>
        </p:nvSpPr>
        <p:spPr>
          <a:xfrm>
            <a:off x="7727760" y="11481480"/>
            <a:ext cx="6639840" cy="5915520"/>
          </a:xfrm>
          <a:prstGeom prst="rect">
            <a:avLst/>
          </a:prstGeom>
        </p:spPr>
        <p:txBody>
          <a:bodyPr lIns="0" tIns="0" rIns="0" bIns="0">
            <a:normAutofit/>
          </a:bodyPr>
          <a:lstStyle/>
          <a:p>
            <a:endParaRPr lang="es-ES" sz="2800" b="0" strike="noStrike" spc="-1">
              <a:solidFill>
                <a:srgbClr val="000000"/>
              </a:solidFill>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1134000" y="3499560"/>
            <a:ext cx="12850560" cy="7444080"/>
          </a:xfrm>
          <a:prstGeom prst="rect">
            <a:avLst/>
          </a:prstGeom>
        </p:spPr>
        <p:txBody>
          <a:bodyPr lIns="0" tIns="0" rIns="0" bIns="0" anchor="ctr">
            <a:noAutofit/>
          </a:bodyPr>
          <a:lstStyle/>
          <a:p>
            <a:endParaRPr lang="es-ES" sz="1800" b="0" strike="noStrike" spc="-1">
              <a:solidFill>
                <a:srgbClr val="000000"/>
              </a:solidFill>
              <a:latin typeface="Arial"/>
            </a:endParaRPr>
          </a:p>
        </p:txBody>
      </p:sp>
      <p:sp>
        <p:nvSpPr>
          <p:cNvPr id="32" name="PlaceHolder 2"/>
          <p:cNvSpPr>
            <a:spLocks noGrp="1"/>
          </p:cNvSpPr>
          <p:nvPr>
            <p:ph type="body"/>
          </p:nvPr>
        </p:nvSpPr>
        <p:spPr>
          <a:xfrm>
            <a:off x="755640" y="5003640"/>
            <a:ext cx="438120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33" name="PlaceHolder 3"/>
          <p:cNvSpPr>
            <a:spLocks noGrp="1"/>
          </p:cNvSpPr>
          <p:nvPr>
            <p:ph type="body"/>
          </p:nvPr>
        </p:nvSpPr>
        <p:spPr>
          <a:xfrm>
            <a:off x="5356440" y="5003640"/>
            <a:ext cx="438120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34" name="PlaceHolder 4"/>
          <p:cNvSpPr>
            <a:spLocks noGrp="1"/>
          </p:cNvSpPr>
          <p:nvPr>
            <p:ph type="body"/>
          </p:nvPr>
        </p:nvSpPr>
        <p:spPr>
          <a:xfrm>
            <a:off x="9956880" y="5003640"/>
            <a:ext cx="438120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35" name="PlaceHolder 5"/>
          <p:cNvSpPr>
            <a:spLocks noGrp="1"/>
          </p:cNvSpPr>
          <p:nvPr>
            <p:ph type="body"/>
          </p:nvPr>
        </p:nvSpPr>
        <p:spPr>
          <a:xfrm>
            <a:off x="755640" y="11481480"/>
            <a:ext cx="438120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36" name="PlaceHolder 6"/>
          <p:cNvSpPr>
            <a:spLocks noGrp="1"/>
          </p:cNvSpPr>
          <p:nvPr>
            <p:ph type="body"/>
          </p:nvPr>
        </p:nvSpPr>
        <p:spPr>
          <a:xfrm>
            <a:off x="5356440" y="11481480"/>
            <a:ext cx="4381200" cy="5915520"/>
          </a:xfrm>
          <a:prstGeom prst="rect">
            <a:avLst/>
          </a:prstGeom>
        </p:spPr>
        <p:txBody>
          <a:bodyPr lIns="0" tIns="0" rIns="0" bIns="0">
            <a:normAutofit/>
          </a:bodyPr>
          <a:lstStyle/>
          <a:p>
            <a:endParaRPr lang="es-ES" sz="2800" b="0" strike="noStrike" spc="-1">
              <a:solidFill>
                <a:srgbClr val="000000"/>
              </a:solidFill>
              <a:latin typeface="Arial"/>
            </a:endParaRPr>
          </a:p>
        </p:txBody>
      </p:sp>
      <p:sp>
        <p:nvSpPr>
          <p:cNvPr id="37" name="PlaceHolder 7"/>
          <p:cNvSpPr>
            <a:spLocks noGrp="1"/>
          </p:cNvSpPr>
          <p:nvPr>
            <p:ph type="body"/>
          </p:nvPr>
        </p:nvSpPr>
        <p:spPr>
          <a:xfrm>
            <a:off x="9956880" y="11481480"/>
            <a:ext cx="4381200" cy="5915520"/>
          </a:xfrm>
          <a:prstGeom prst="rect">
            <a:avLst/>
          </a:prstGeom>
        </p:spPr>
        <p:txBody>
          <a:bodyPr lIns="0" tIns="0" rIns="0" bIns="0">
            <a:normAutofit/>
          </a:bodyPr>
          <a:lstStyle/>
          <a:p>
            <a:endParaRPr lang="es-ES" sz="2800" b="0" strike="noStrike" spc="-1">
              <a:solidFill>
                <a:srgbClr val="000000"/>
              </a:solidFill>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1134000" y="3499560"/>
            <a:ext cx="12850560" cy="7444080"/>
          </a:xfrm>
          <a:prstGeom prst="rect">
            <a:avLst/>
          </a:prstGeom>
        </p:spPr>
        <p:txBody>
          <a:bodyPr lIns="0" tIns="0" rIns="0" bIns="0" anchor="ctr">
            <a:noAutofit/>
          </a:bodyPr>
          <a:lstStyle/>
          <a:p>
            <a:pPr algn="ctr"/>
            <a:r>
              <a:rPr lang="es-ES" sz="4400" b="0" strike="noStrike" spc="-1">
                <a:solidFill>
                  <a:srgbClr val="000000"/>
                </a:solidFill>
                <a:latin typeface="Arial"/>
              </a:rPr>
              <a:t>Pulse para editar el formato del texto de título</a:t>
            </a:r>
          </a:p>
        </p:txBody>
      </p:sp>
      <p:sp>
        <p:nvSpPr>
          <p:cNvPr id="3" name="PlaceHolder 2"/>
          <p:cNvSpPr>
            <a:spLocks noGrp="1"/>
          </p:cNvSpPr>
          <p:nvPr>
            <p:ph type="body"/>
          </p:nvPr>
        </p:nvSpPr>
        <p:spPr>
          <a:xfrm>
            <a:off x="755640" y="5003640"/>
            <a:ext cx="13606920" cy="1240200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s-ES" sz="2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20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www.ebi.ac.uk/jdispatcher/msa/clustalo" TargetMode="External"/><Relationship Id="rId13" Type="http://schemas.openxmlformats.org/officeDocument/2006/relationships/image" Target="../media/image1.png"/><Relationship Id="rId18" Type="http://schemas.openxmlformats.org/officeDocument/2006/relationships/image" Target="../media/image6.png"/><Relationship Id="rId3" Type="http://schemas.openxmlformats.org/officeDocument/2006/relationships/hyperlink" Target="https://www.ensembl.org/Tools/VEP" TargetMode="External"/><Relationship Id="rId7" Type="http://schemas.openxmlformats.org/officeDocument/2006/relationships/hyperlink" Target="https://www.omim.org/" TargetMode="External"/><Relationship Id="rId12" Type="http://schemas.openxmlformats.org/officeDocument/2006/relationships/hyperlink" Target="https://www.kegg.jp/kegg/kegg2.html" TargetMode="External"/><Relationship Id="rId17" Type="http://schemas.openxmlformats.org/officeDocument/2006/relationships/image" Target="../media/image5.png"/><Relationship Id="rId2" Type="http://schemas.openxmlformats.org/officeDocument/2006/relationships/notesSlide" Target="../notesSlides/notesSlide1.xml"/><Relationship Id="rId16" Type="http://schemas.openxmlformats.org/officeDocument/2006/relationships/image" Target="../media/image4.png"/><Relationship Id="rId1" Type="http://schemas.openxmlformats.org/officeDocument/2006/relationships/slideLayout" Target="../slideLayouts/slideLayout3.xml"/><Relationship Id="rId6" Type="http://schemas.openxmlformats.org/officeDocument/2006/relationships/hyperlink" Target="http://genetics.bwh.harvard.edu/pph2/" TargetMode="External"/><Relationship Id="rId11" Type="http://schemas.openxmlformats.org/officeDocument/2006/relationships/hyperlink" Target="https://www.ebi.ac.uk/interpro/" TargetMode="External"/><Relationship Id="rId5" Type="http://schemas.openxmlformats.org/officeDocument/2006/relationships/hyperlink" Target="https://sift.bii.a-star.edu.sg/" TargetMode="External"/><Relationship Id="rId15" Type="http://schemas.openxmlformats.org/officeDocument/2006/relationships/image" Target="../media/image3.png"/><Relationship Id="rId10" Type="http://schemas.openxmlformats.org/officeDocument/2006/relationships/hyperlink" Target="https://www.uniprot.org/" TargetMode="External"/><Relationship Id="rId4" Type="http://schemas.openxmlformats.org/officeDocument/2006/relationships/hyperlink" Target="https://gnomad.broadinstitute.org/" TargetMode="External"/><Relationship Id="rId9" Type="http://schemas.openxmlformats.org/officeDocument/2006/relationships/hyperlink" Target="https://mutalyzer.nl/" TargetMode="External"/><Relationship Id="rId1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59C2E3">
                <a:alpha val="25098"/>
              </a:srgbClr>
            </a:gs>
          </a:gsLst>
          <a:lin ang="2700000"/>
        </a:gradFill>
        <a:effectLst/>
      </p:bgPr>
    </p:bg>
    <p:spTree>
      <p:nvGrpSpPr>
        <p:cNvPr id="1" name=""/>
        <p:cNvGrpSpPr/>
        <p:nvPr/>
      </p:nvGrpSpPr>
      <p:grpSpPr>
        <a:xfrm>
          <a:off x="0" y="0"/>
          <a:ext cx="0" cy="0"/>
          <a:chOff x="0" y="0"/>
          <a:chExt cx="0" cy="0"/>
        </a:xfrm>
      </p:grpSpPr>
      <p:grpSp>
        <p:nvGrpSpPr>
          <p:cNvPr id="38" name="Group 1"/>
          <p:cNvGrpSpPr/>
          <p:nvPr/>
        </p:nvGrpSpPr>
        <p:grpSpPr>
          <a:xfrm>
            <a:off x="288000" y="3024000"/>
            <a:ext cx="14668200" cy="1504440"/>
            <a:chOff x="288000" y="3024000"/>
            <a:chExt cx="14668200" cy="1504440"/>
          </a:xfrm>
        </p:grpSpPr>
        <p:sp>
          <p:nvSpPr>
            <p:cNvPr id="39" name="CustomShape 2"/>
            <p:cNvSpPr/>
            <p:nvPr/>
          </p:nvSpPr>
          <p:spPr>
            <a:xfrm>
              <a:off x="288000" y="3340800"/>
              <a:ext cx="14668200" cy="118764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ea typeface="DejaVu Sans"/>
                </a:rPr>
                <a:t>La obesidad, o acumulación excesiva de grasa corporal, causa graves problemas de salud y enfermedades crónicas. Como caso de estudio, se han estudiado las variantes genéticas en diferentes miembros de la familia Simpson para establecer la posible relación de esta patología con alteraciones a nivel genético.</a:t>
              </a:r>
              <a:endParaRPr lang="es-ES" sz="1800" b="0" strike="noStrike" spc="-1">
                <a:latin typeface="Arial"/>
              </a:endParaRPr>
            </a:p>
          </p:txBody>
        </p:sp>
        <p:sp>
          <p:nvSpPr>
            <p:cNvPr id="40" name="CustomShape 3"/>
            <p:cNvSpPr/>
            <p:nvPr/>
          </p:nvSpPr>
          <p:spPr>
            <a:xfrm>
              <a:off x="581040" y="3024000"/>
              <a:ext cx="5837400" cy="63216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ea typeface="DejaVu Sans"/>
                </a:rPr>
                <a:t>INTRODUCCIÓN</a:t>
              </a:r>
              <a:endParaRPr lang="es-ES" sz="2800" b="0" strike="noStrike" spc="-1">
                <a:latin typeface="Arial"/>
              </a:endParaRPr>
            </a:p>
          </p:txBody>
        </p:sp>
      </p:grpSp>
      <p:grpSp>
        <p:nvGrpSpPr>
          <p:cNvPr id="41" name="Group 4"/>
          <p:cNvGrpSpPr/>
          <p:nvPr/>
        </p:nvGrpSpPr>
        <p:grpSpPr>
          <a:xfrm>
            <a:off x="207720" y="4630680"/>
            <a:ext cx="14668200" cy="1920960"/>
            <a:chOff x="207720" y="4630680"/>
            <a:chExt cx="14668200" cy="1920960"/>
          </a:xfrm>
        </p:grpSpPr>
        <p:sp>
          <p:nvSpPr>
            <p:cNvPr id="42" name="CustomShape 5"/>
            <p:cNvSpPr/>
            <p:nvPr/>
          </p:nvSpPr>
          <p:spPr>
            <a:xfrm>
              <a:off x="207720" y="4875840"/>
              <a:ext cx="14668200" cy="16758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700" b="0" i="1" strike="noStrike" spc="-1">
                  <a:solidFill>
                    <a:srgbClr val="000000"/>
                  </a:solidFill>
                  <a:latin typeface="Aptos"/>
                  <a:ea typeface="DejaVu Sans"/>
                </a:rPr>
                <a:t>Se analizaron tres variantes de Abraham y Maggie Simpson con </a:t>
              </a:r>
              <a:r>
                <a:rPr lang="es-ES_tradnl" sz="1700" b="0" i="1" u="sng" strike="noStrike" spc="-1">
                  <a:solidFill>
                    <a:srgbClr val="467886"/>
                  </a:solidFill>
                  <a:uFillTx/>
                  <a:latin typeface="Aptos"/>
                  <a:ea typeface="DejaVu Sans"/>
                  <a:hlinkClick r:id="rId3"/>
                </a:rPr>
                <a:t>VEP</a:t>
              </a:r>
              <a:r>
                <a:rPr lang="es-ES_tradnl" sz="1700" b="0" i="1" strike="noStrike" spc="-1">
                  <a:solidFill>
                    <a:srgbClr val="000000"/>
                  </a:solidFill>
                  <a:latin typeface="Aptos"/>
                  <a:ea typeface="DejaVu Sans"/>
                </a:rPr>
                <a:t>. Se exploraron la prevalencia en la población con </a:t>
              </a:r>
              <a:r>
                <a:rPr lang="es-ES_tradnl" sz="1700" b="0" i="1" u="sng" strike="noStrike" spc="-1">
                  <a:solidFill>
                    <a:srgbClr val="467886"/>
                  </a:solidFill>
                  <a:uFillTx/>
                  <a:latin typeface="Aptos"/>
                  <a:ea typeface="DejaVu Sans"/>
                  <a:hlinkClick r:id="rId4"/>
                </a:rPr>
                <a:t>gnomAD</a:t>
              </a:r>
              <a:r>
                <a:rPr lang="es-ES_tradnl" sz="1700" b="0" i="1" strike="noStrike" spc="-1">
                  <a:solidFill>
                    <a:srgbClr val="000000"/>
                  </a:solidFill>
                  <a:latin typeface="Aptos"/>
                  <a:ea typeface="DejaVu Sans"/>
                </a:rPr>
                <a:t>; y su patogenicidad con </a:t>
              </a:r>
              <a:r>
                <a:rPr lang="es-ES_tradnl" sz="1700" b="0" i="1" u="sng" strike="noStrike" spc="-1">
                  <a:solidFill>
                    <a:srgbClr val="467886"/>
                  </a:solidFill>
                  <a:uFillTx/>
                  <a:latin typeface="Aptos"/>
                  <a:ea typeface="DejaVu Sans"/>
                  <a:hlinkClick r:id="rId5"/>
                </a:rPr>
                <a:t>SIFT</a:t>
              </a:r>
              <a:r>
                <a:rPr lang="es-ES_tradnl" sz="1700" b="0" i="1" strike="noStrike" spc="-1">
                  <a:solidFill>
                    <a:srgbClr val="000000"/>
                  </a:solidFill>
                  <a:latin typeface="Aptos"/>
                  <a:ea typeface="DejaVu Sans"/>
                </a:rPr>
                <a:t>, </a:t>
              </a:r>
              <a:r>
                <a:rPr lang="es-ES_tradnl" sz="1700" b="0" i="1" u="sng" strike="noStrike" spc="-1">
                  <a:solidFill>
                    <a:srgbClr val="467886"/>
                  </a:solidFill>
                  <a:uFillTx/>
                  <a:latin typeface="Aptos"/>
                  <a:ea typeface="DejaVu Sans"/>
                  <a:hlinkClick r:id="rId6"/>
                </a:rPr>
                <a:t>PolyPhen</a:t>
              </a:r>
              <a:r>
                <a:rPr lang="es-ES_tradnl" sz="1700" b="0" i="1" strike="noStrike" spc="-1">
                  <a:solidFill>
                    <a:srgbClr val="000000"/>
                  </a:solidFill>
                  <a:latin typeface="Aptos"/>
                  <a:ea typeface="DejaVu Sans"/>
                </a:rPr>
                <a:t>, y </a:t>
              </a:r>
              <a:r>
                <a:rPr lang="es-ES_tradnl" sz="1700" b="0" i="1" u="sng" strike="noStrike" spc="-1">
                  <a:solidFill>
                    <a:srgbClr val="467886"/>
                  </a:solidFill>
                  <a:uFillTx/>
                  <a:latin typeface="Aptos"/>
                  <a:ea typeface="DejaVu Sans"/>
                  <a:hlinkClick r:id="rId7"/>
                </a:rPr>
                <a:t>OMIM</a:t>
              </a:r>
              <a:r>
                <a:rPr lang="es-ES_tradnl" sz="1700" b="0" i="1" strike="noStrike" spc="-1">
                  <a:solidFill>
                    <a:srgbClr val="000000"/>
                  </a:solidFill>
                  <a:latin typeface="Aptos"/>
                  <a:ea typeface="DejaVu Sans"/>
                </a:rPr>
                <a:t>. Las variantes “missense” se analizaron con </a:t>
              </a:r>
              <a:r>
                <a:rPr lang="es-ES_tradnl" sz="1700" b="0" i="1" u="sng" strike="noStrike" spc="-1">
                  <a:solidFill>
                    <a:srgbClr val="467886"/>
                  </a:solidFill>
                  <a:uFillTx/>
                  <a:latin typeface="Aptos"/>
                  <a:ea typeface="DejaVu Sans"/>
                  <a:hlinkClick r:id="rId8"/>
                </a:rPr>
                <a:t>CLUSTAL omega</a:t>
              </a:r>
              <a:r>
                <a:rPr lang="es-ES_tradnl" sz="1700" b="0" i="1" strike="noStrike" spc="-1">
                  <a:solidFill>
                    <a:srgbClr val="000000"/>
                  </a:solidFill>
                  <a:latin typeface="Aptos"/>
                  <a:ea typeface="DejaVu Sans"/>
                </a:rPr>
                <a:t> para detectar si la región afectada estaba conservada. Las variantes “frameshift” se analizaron con </a:t>
              </a:r>
              <a:r>
                <a:rPr lang="es-ES_tradnl" sz="1700" b="0" i="1" u="sng" strike="noStrike" spc="-1">
                  <a:solidFill>
                    <a:srgbClr val="467886"/>
                  </a:solidFill>
                  <a:uFillTx/>
                  <a:latin typeface="Aptos"/>
                  <a:ea typeface="DejaVu Sans"/>
                  <a:hlinkClick r:id="rId9"/>
                </a:rPr>
                <a:t>Mutalyzer</a:t>
              </a:r>
              <a:r>
                <a:rPr lang="es-ES_tradnl" sz="1700" b="0" i="1" strike="noStrike" spc="-1">
                  <a:solidFill>
                    <a:srgbClr val="000000"/>
                  </a:solidFill>
                  <a:latin typeface="Aptos"/>
                  <a:ea typeface="DejaVu Sans"/>
                </a:rPr>
                <a:t> para comprobar la estructura del la proteína mutada. Consultamos </a:t>
              </a:r>
              <a:r>
                <a:rPr lang="es-ES_tradnl" sz="1700" b="0" i="1" u="sng" strike="noStrike" spc="-1">
                  <a:solidFill>
                    <a:srgbClr val="467886"/>
                  </a:solidFill>
                  <a:uFillTx/>
                  <a:latin typeface="Aptos"/>
                  <a:ea typeface="DejaVu Sans"/>
                  <a:hlinkClick r:id="rId10"/>
                </a:rPr>
                <a:t>UniProt</a:t>
              </a:r>
              <a:r>
                <a:rPr lang="es-ES_tradnl" sz="1700" b="0" i="1" strike="noStrike" spc="-1">
                  <a:solidFill>
                    <a:srgbClr val="000000"/>
                  </a:solidFill>
                  <a:latin typeface="Aptos"/>
                  <a:ea typeface="DejaVu Sans"/>
                </a:rPr>
                <a:t> e </a:t>
              </a:r>
              <a:r>
                <a:rPr lang="es-ES_tradnl" sz="1700" b="0" i="1" u="sng" strike="noStrike" spc="-1">
                  <a:solidFill>
                    <a:srgbClr val="467886"/>
                  </a:solidFill>
                  <a:uFillTx/>
                  <a:latin typeface="Aptos"/>
                  <a:ea typeface="DejaVu Sans"/>
                  <a:hlinkClick r:id="rId11"/>
                </a:rPr>
                <a:t>InterPro</a:t>
              </a:r>
              <a:r>
                <a:rPr lang="es-ES_tradnl" sz="1700" b="0" i="1" strike="noStrike" spc="-1">
                  <a:solidFill>
                    <a:srgbClr val="000000"/>
                  </a:solidFill>
                  <a:latin typeface="Aptos"/>
                  <a:ea typeface="DejaVu Sans"/>
                </a:rPr>
                <a:t> para comprobar los dominios proteicos afectados en las variantes, y las entradas en </a:t>
              </a:r>
              <a:r>
                <a:rPr lang="es-ES_tradnl" sz="1700" b="0" i="1" u="sng" strike="noStrike" spc="-1">
                  <a:solidFill>
                    <a:srgbClr val="467886"/>
                  </a:solidFill>
                  <a:uFillTx/>
                  <a:latin typeface="Aptos"/>
                  <a:ea typeface="DejaVu Sans"/>
                  <a:hlinkClick r:id="rId12"/>
                </a:rPr>
                <a:t>KEGG</a:t>
              </a:r>
              <a:r>
                <a:rPr lang="es-ES_tradnl" sz="1700" b="0" i="1" strike="noStrike" spc="-1">
                  <a:solidFill>
                    <a:srgbClr val="000000"/>
                  </a:solidFill>
                  <a:latin typeface="Aptos"/>
                  <a:ea typeface="DejaVu Sans"/>
                </a:rPr>
                <a:t> de los genes afectados para comprobar en qué rutas metabólicas está implicados.</a:t>
              </a:r>
              <a:endParaRPr lang="es-ES" sz="1700" b="0" strike="noStrike" spc="-1">
                <a:latin typeface="Arial"/>
              </a:endParaRPr>
            </a:p>
          </p:txBody>
        </p:sp>
        <p:sp>
          <p:nvSpPr>
            <p:cNvPr id="43" name="CustomShape 6"/>
            <p:cNvSpPr/>
            <p:nvPr/>
          </p:nvSpPr>
          <p:spPr>
            <a:xfrm>
              <a:off x="500760" y="4630680"/>
              <a:ext cx="5837400" cy="63216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ea typeface="DejaVu Sans"/>
                </a:rPr>
                <a:t>METODOLOGÍA</a:t>
              </a:r>
              <a:endParaRPr lang="es-ES" sz="2800" b="0" strike="noStrike" spc="-1">
                <a:latin typeface="Arial"/>
              </a:endParaRPr>
            </a:p>
          </p:txBody>
        </p:sp>
      </p:grpSp>
      <p:grpSp>
        <p:nvGrpSpPr>
          <p:cNvPr id="44" name="Group 7"/>
          <p:cNvGrpSpPr/>
          <p:nvPr/>
        </p:nvGrpSpPr>
        <p:grpSpPr>
          <a:xfrm>
            <a:off x="144000" y="6552000"/>
            <a:ext cx="14668200" cy="11018160"/>
            <a:chOff x="144000" y="6552000"/>
            <a:chExt cx="14668200" cy="11018160"/>
          </a:xfrm>
        </p:grpSpPr>
        <p:sp>
          <p:nvSpPr>
            <p:cNvPr id="45" name="CustomShape 8"/>
            <p:cNvSpPr/>
            <p:nvPr/>
          </p:nvSpPr>
          <p:spPr>
            <a:xfrm>
              <a:off x="144000" y="6908400"/>
              <a:ext cx="14668200" cy="10661760"/>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a:lstStyle/>
            <a:p>
              <a:endParaRPr lang="es-ES"/>
            </a:p>
          </p:txBody>
        </p:sp>
        <p:sp>
          <p:nvSpPr>
            <p:cNvPr id="46" name="CustomShape 9"/>
            <p:cNvSpPr/>
            <p:nvPr/>
          </p:nvSpPr>
          <p:spPr>
            <a:xfrm>
              <a:off x="437040" y="6552000"/>
              <a:ext cx="5837400" cy="71208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ea typeface="DejaVu Sans"/>
                </a:rPr>
                <a:t>RESULTADOS</a:t>
              </a:r>
              <a:endParaRPr lang="es-ES" sz="2800" b="0" strike="noStrike" spc="-1">
                <a:latin typeface="Arial"/>
              </a:endParaRPr>
            </a:p>
          </p:txBody>
        </p:sp>
      </p:grpSp>
      <p:pic>
        <p:nvPicPr>
          <p:cNvPr id="47" name="Picture 4"/>
          <p:cNvPicPr/>
          <p:nvPr/>
        </p:nvPicPr>
        <p:blipFill>
          <a:blip r:embed="rId13"/>
          <a:stretch/>
        </p:blipFill>
        <p:spPr>
          <a:xfrm>
            <a:off x="12550680" y="-95400"/>
            <a:ext cx="2325240" cy="1400040"/>
          </a:xfrm>
          <a:prstGeom prst="rect">
            <a:avLst/>
          </a:prstGeom>
          <a:ln>
            <a:noFill/>
          </a:ln>
        </p:spPr>
      </p:pic>
      <p:grpSp>
        <p:nvGrpSpPr>
          <p:cNvPr id="48" name="Group 10"/>
          <p:cNvGrpSpPr/>
          <p:nvPr/>
        </p:nvGrpSpPr>
        <p:grpSpPr>
          <a:xfrm>
            <a:off x="0" y="-5760"/>
            <a:ext cx="3396600" cy="2302200"/>
            <a:chOff x="0" y="-5760"/>
            <a:chExt cx="3396600" cy="2302200"/>
          </a:xfrm>
        </p:grpSpPr>
        <p:pic>
          <p:nvPicPr>
            <p:cNvPr id="49" name="Imagen 4"/>
            <p:cNvPicPr/>
            <p:nvPr/>
          </p:nvPicPr>
          <p:blipFill>
            <a:blip r:embed="rId14"/>
            <a:stretch/>
          </p:blipFill>
          <p:spPr>
            <a:xfrm>
              <a:off x="0" y="-5760"/>
              <a:ext cx="3396600" cy="2302200"/>
            </a:xfrm>
            <a:prstGeom prst="rect">
              <a:avLst/>
            </a:prstGeom>
            <a:ln>
              <a:noFill/>
            </a:ln>
          </p:spPr>
        </p:pic>
        <p:sp>
          <p:nvSpPr>
            <p:cNvPr id="50" name="CustomShape 11"/>
            <p:cNvSpPr/>
            <p:nvPr/>
          </p:nvSpPr>
          <p:spPr>
            <a:xfrm>
              <a:off x="677880" y="1086840"/>
              <a:ext cx="1585800" cy="4712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txBody>
            <a:bodyPr/>
            <a:lstStyle/>
            <a:p>
              <a:endParaRPr lang="es-ES"/>
            </a:p>
          </p:txBody>
        </p:sp>
      </p:grpSp>
      <p:sp>
        <p:nvSpPr>
          <p:cNvPr id="51" name="CustomShape 12"/>
          <p:cNvSpPr/>
          <p:nvPr/>
        </p:nvSpPr>
        <p:spPr>
          <a:xfrm>
            <a:off x="780840" y="1086840"/>
            <a:ext cx="13762800" cy="1792800"/>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p:style>
        <p:txBody>
          <a:bodyPr lIns="90000" tIns="46800" rIns="90000" bIns="45000" anchor="ctr">
            <a:noAutofit/>
          </a:bodyPr>
          <a:lstStyle/>
          <a:p>
            <a:pPr algn="ctr">
              <a:lnSpc>
                <a:spcPct val="100000"/>
              </a:lnSpc>
            </a:pPr>
            <a:r>
              <a:rPr lang="es-ES_tradnl" sz="4000" b="1" strike="noStrike" spc="-1">
                <a:solidFill>
                  <a:srgbClr val="FFFFFF"/>
                </a:solidFill>
                <a:latin typeface="Aptos"/>
                <a:ea typeface="DejaVu Sans"/>
              </a:rPr>
              <a:t>Anotación e interpretación de variantes</a:t>
            </a:r>
            <a:endParaRPr lang="es-ES" sz="4000" b="0" strike="noStrike" spc="-1">
              <a:latin typeface="Arial"/>
            </a:endParaRPr>
          </a:p>
          <a:p>
            <a:pPr algn="ctr">
              <a:lnSpc>
                <a:spcPct val="80000"/>
              </a:lnSpc>
            </a:pPr>
            <a:r>
              <a:rPr lang="es-ES_tradnl" sz="2800" b="1" i="1" strike="noStrike" spc="-1">
                <a:solidFill>
                  <a:srgbClr val="FFFFFF"/>
                </a:solidFill>
                <a:latin typeface="Aptos"/>
                <a:ea typeface="DejaVu Sans"/>
              </a:rPr>
              <a:t>Genética clínica y de poblaciones</a:t>
            </a:r>
            <a:endParaRPr lang="es-ES" sz="2800" b="0" strike="noStrike" spc="-1">
              <a:latin typeface="Arial"/>
            </a:endParaRPr>
          </a:p>
          <a:p>
            <a:pPr algn="ctr">
              <a:lnSpc>
                <a:spcPct val="80000"/>
              </a:lnSpc>
            </a:pPr>
            <a:r>
              <a:rPr lang="es-ES_tradnl" sz="2000" b="1" i="1" strike="noStrike" spc="-1">
                <a:solidFill>
                  <a:srgbClr val="FFFFFF"/>
                </a:solidFill>
                <a:latin typeface="Aptos"/>
                <a:ea typeface="DejaVu Sans"/>
              </a:rPr>
              <a:t>Paula Damián Moral - Paula Sofía Norniella Jamart - Pedro García Sáez - Pedro Manuel Rodríguez Santos - Pilar Navarro Sánchez - Rubén Martín Blázquez </a:t>
            </a:r>
            <a:endParaRPr lang="es-ES" sz="2000" b="0" strike="noStrike" spc="-1">
              <a:latin typeface="Arial"/>
            </a:endParaRPr>
          </a:p>
        </p:txBody>
      </p:sp>
      <p:grpSp>
        <p:nvGrpSpPr>
          <p:cNvPr id="52" name="Group 13"/>
          <p:cNvGrpSpPr/>
          <p:nvPr/>
        </p:nvGrpSpPr>
        <p:grpSpPr>
          <a:xfrm>
            <a:off x="144000" y="17570520"/>
            <a:ext cx="9095040" cy="3597120"/>
            <a:chOff x="144000" y="17570520"/>
            <a:chExt cx="9095040" cy="3597120"/>
          </a:xfrm>
        </p:grpSpPr>
        <p:sp>
          <p:nvSpPr>
            <p:cNvPr id="53" name="CustomShape 14"/>
            <p:cNvSpPr/>
            <p:nvPr/>
          </p:nvSpPr>
          <p:spPr>
            <a:xfrm>
              <a:off x="144000" y="17866440"/>
              <a:ext cx="9095040" cy="33012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ea typeface="DejaVu Sans"/>
                </a:rPr>
                <a:t>Maggie: presenta una deleción en el gen receptor de leptina (LEPR), produciendo una mutación “frameshift”. Esta deleción provoca la pérdida de dominios necesarios para activar vías de señalización de la hormona leptina (encargada de disminuir la ingesta y aumentar el consumo de energía).</a:t>
              </a:r>
              <a:endParaRPr lang="es-ES" sz="1800" b="0" strike="noStrike" spc="-1">
                <a:latin typeface="Arial"/>
              </a:endParaRPr>
            </a:p>
            <a:p>
              <a:pPr algn="just">
                <a:lnSpc>
                  <a:spcPct val="80000"/>
                </a:lnSpc>
              </a:pPr>
              <a:r>
                <a:rPr lang="es-ES_tradnl" sz="1800" b="0" i="1" strike="noStrike" spc="-1">
                  <a:solidFill>
                    <a:srgbClr val="000000"/>
                  </a:solidFill>
                  <a:latin typeface="Aptos"/>
                  <a:ea typeface="DejaVu Sans"/>
                </a:rPr>
                <a:t>Abraham y Maggie: presentan una sustitución en el gen receptor de la melanocortin 4 (MC4R) que provoca una mutación “missense” que altera un dominio extracelular y crucial para la señalizacon. Esta alteración es altamente patogénica, afectando a una región altamente conservada evolutivamente. Se ve alterada la ruta de señalizacion hormonal del cAMP implicado en el control de la saciedad. Como consecuencia, se altera el control del apetito a nivel hipotalámico, derivando en la característica hiperfagia típica de pacientes con obesidad monogénica.</a:t>
              </a:r>
              <a:endParaRPr lang="es-ES" sz="1800" b="0" strike="noStrike" spc="-1">
                <a:latin typeface="Arial"/>
              </a:endParaRPr>
            </a:p>
            <a:p>
              <a:pPr algn="just">
                <a:lnSpc>
                  <a:spcPct val="80000"/>
                </a:lnSpc>
              </a:pPr>
              <a:r>
                <a:rPr lang="es-ES_tradnl" sz="1800" b="0" i="1" strike="noStrike" spc="-1">
                  <a:solidFill>
                    <a:srgbClr val="000000"/>
                  </a:solidFill>
                  <a:latin typeface="Aptos"/>
                  <a:ea typeface="DejaVu Sans"/>
                </a:rPr>
                <a:t>Ambos presentan mutaciones en TP53, y Abraham es hemicigoto para la variante detectada en MED12, pero ambas tienen un nivel de patogenicidad bajo o ambiguo.</a:t>
              </a:r>
              <a:endParaRPr lang="es-ES" sz="1800" b="0" strike="noStrike" spc="-1">
                <a:latin typeface="Arial"/>
              </a:endParaRPr>
            </a:p>
          </p:txBody>
        </p:sp>
        <p:sp>
          <p:nvSpPr>
            <p:cNvPr id="54" name="CustomShape 15"/>
            <p:cNvSpPr/>
            <p:nvPr/>
          </p:nvSpPr>
          <p:spPr>
            <a:xfrm>
              <a:off x="437040" y="17570520"/>
              <a:ext cx="5837400" cy="59148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ea typeface="DejaVu Sans"/>
                </a:rPr>
                <a:t>DISCUSIÓN</a:t>
              </a:r>
              <a:endParaRPr lang="es-ES" sz="2800" b="0" strike="noStrike" spc="-1">
                <a:latin typeface="Arial"/>
              </a:endParaRPr>
            </a:p>
          </p:txBody>
        </p:sp>
      </p:grpSp>
      <p:grpSp>
        <p:nvGrpSpPr>
          <p:cNvPr id="55" name="Group 16"/>
          <p:cNvGrpSpPr/>
          <p:nvPr/>
        </p:nvGrpSpPr>
        <p:grpSpPr>
          <a:xfrm>
            <a:off x="9576000" y="17657640"/>
            <a:ext cx="5366160" cy="2934360"/>
            <a:chOff x="9576000" y="17657640"/>
            <a:chExt cx="5366160" cy="2934360"/>
          </a:xfrm>
        </p:grpSpPr>
        <p:sp>
          <p:nvSpPr>
            <p:cNvPr id="56" name="CustomShape 17"/>
            <p:cNvSpPr/>
            <p:nvPr/>
          </p:nvSpPr>
          <p:spPr>
            <a:xfrm>
              <a:off x="9576000" y="17899200"/>
              <a:ext cx="5366160" cy="26928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tIns="360000" rIns="90000" bIns="45000">
              <a:noAutofit/>
            </a:bodyPr>
            <a:lstStyle/>
            <a:p>
              <a:pPr algn="just">
                <a:lnSpc>
                  <a:spcPct val="80000"/>
                </a:lnSpc>
              </a:pPr>
              <a:r>
                <a:rPr lang="es-ES_tradnl" sz="1800" b="0" i="1" strike="noStrike" spc="-1">
                  <a:solidFill>
                    <a:srgbClr val="000000"/>
                  </a:solidFill>
                  <a:latin typeface="Aptos"/>
                  <a:ea typeface="DejaVu Sans"/>
                </a:rPr>
                <a:t>Las variantes de los genes LEPR (portada por Maggie) y MC4R (portada por Abraham y Maggie) pueden indicar que los Simpson sean propensos a desarrollar obesidad. Por otro lado, mutaciones que comparten ambos en los genes MED12 y TP53, no se consideran patogénicas ni se observa relación con el fenotipo observado. Por lo tanto, la familia Simpson debe tener una dieta controlada y hábitos de vida saludable si no desean desarrollar obesidad.</a:t>
              </a:r>
              <a:endParaRPr lang="es-ES" sz="1800" b="0" strike="noStrike" spc="-1">
                <a:latin typeface="Arial"/>
              </a:endParaRPr>
            </a:p>
          </p:txBody>
        </p:sp>
        <p:sp>
          <p:nvSpPr>
            <p:cNvPr id="57" name="CustomShape 18"/>
            <p:cNvSpPr/>
            <p:nvPr/>
          </p:nvSpPr>
          <p:spPr>
            <a:xfrm>
              <a:off x="9797400" y="17657640"/>
              <a:ext cx="4406400" cy="48240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r>
                <a:rPr lang="es-ES_tradnl" sz="2800" b="1" strike="noStrike" spc="-1">
                  <a:solidFill>
                    <a:srgbClr val="FFFFFF"/>
                  </a:solidFill>
                  <a:latin typeface="Aptos"/>
                  <a:ea typeface="DejaVu Sans"/>
                </a:rPr>
                <a:t>CONCLUSIONES</a:t>
              </a:r>
              <a:endParaRPr lang="es-ES" sz="2800" b="0" strike="noStrike" spc="-1">
                <a:latin typeface="Arial"/>
              </a:endParaRPr>
            </a:p>
          </p:txBody>
        </p:sp>
      </p:grpSp>
      <p:sp>
        <p:nvSpPr>
          <p:cNvPr id="58" name="CustomShape 19"/>
          <p:cNvSpPr/>
          <p:nvPr/>
        </p:nvSpPr>
        <p:spPr>
          <a:xfrm>
            <a:off x="440640" y="7503480"/>
            <a:ext cx="13959000" cy="63216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ea typeface="DejaVu Sans"/>
              </a:rPr>
              <a:t>Tabla 1. </a:t>
            </a:r>
            <a:r>
              <a:rPr lang="es-ES_tradnl" sz="1800" b="0" strike="noStrike" spc="-1">
                <a:solidFill>
                  <a:srgbClr val="000000"/>
                </a:solidFill>
                <a:latin typeface="Aptos"/>
                <a:ea typeface="DejaVu Sans"/>
              </a:rPr>
              <a:t>Información de las variantes analizadas con VEP.</a:t>
            </a:r>
            <a:endParaRPr lang="es-ES" sz="1800" b="0" strike="noStrike" spc="-1">
              <a:latin typeface="Arial"/>
            </a:endParaRPr>
          </a:p>
        </p:txBody>
      </p:sp>
      <p:sp>
        <p:nvSpPr>
          <p:cNvPr id="59" name="CustomShape 20"/>
          <p:cNvSpPr/>
          <p:nvPr/>
        </p:nvSpPr>
        <p:spPr>
          <a:xfrm>
            <a:off x="288000" y="11592000"/>
            <a:ext cx="6176520" cy="63216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ea typeface="DejaVu Sans"/>
              </a:rPr>
              <a:t>Figura 1. </a:t>
            </a:r>
            <a:r>
              <a:rPr lang="es-ES_tradnl" sz="1800" b="0" strike="noStrike" spc="-1">
                <a:solidFill>
                  <a:srgbClr val="000000"/>
                </a:solidFill>
                <a:latin typeface="Aptos"/>
                <a:ea typeface="DejaVu Sans"/>
              </a:rPr>
              <a:t>Estructura de LEPR wt y variante.</a:t>
            </a:r>
            <a:endParaRPr lang="es-ES" sz="1800" b="0" strike="noStrike" spc="-1">
              <a:latin typeface="Arial"/>
            </a:endParaRPr>
          </a:p>
        </p:txBody>
      </p:sp>
      <p:sp>
        <p:nvSpPr>
          <p:cNvPr id="60" name="CustomShape 21"/>
          <p:cNvSpPr/>
          <p:nvPr/>
        </p:nvSpPr>
        <p:spPr>
          <a:xfrm>
            <a:off x="7065000" y="11592000"/>
            <a:ext cx="7406640" cy="63216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ea typeface="DejaVu Sans"/>
              </a:rPr>
              <a:t>Figura 2. </a:t>
            </a:r>
            <a:r>
              <a:rPr lang="es-ES_tradnl" sz="1800" b="0" strike="noStrike" spc="-1">
                <a:solidFill>
                  <a:srgbClr val="000000"/>
                </a:solidFill>
                <a:latin typeface="Aptos"/>
                <a:ea typeface="DejaVu Sans"/>
              </a:rPr>
              <a:t>Alineamiento múltiple de MCR4 por Custal Omega.</a:t>
            </a:r>
            <a:endParaRPr lang="es-ES" sz="1800" b="0" strike="noStrike" spc="-1">
              <a:latin typeface="Arial"/>
            </a:endParaRPr>
          </a:p>
        </p:txBody>
      </p:sp>
      <p:graphicFrame>
        <p:nvGraphicFramePr>
          <p:cNvPr id="61" name="Table 22"/>
          <p:cNvGraphicFramePr/>
          <p:nvPr/>
        </p:nvGraphicFramePr>
        <p:xfrm>
          <a:off x="207720" y="8313480"/>
          <a:ext cx="14436720" cy="3216240"/>
        </p:xfrm>
        <a:graphic>
          <a:graphicData uri="http://schemas.openxmlformats.org/drawingml/2006/table">
            <a:tbl>
              <a:tblPr/>
              <a:tblGrid>
                <a:gridCol w="528120">
                  <a:extLst>
                    <a:ext uri="{9D8B030D-6E8A-4147-A177-3AD203B41FA5}">
                      <a16:colId xmlns:a16="http://schemas.microsoft.com/office/drawing/2014/main" val="20000"/>
                    </a:ext>
                  </a:extLst>
                </a:gridCol>
                <a:gridCol w="992160">
                  <a:extLst>
                    <a:ext uri="{9D8B030D-6E8A-4147-A177-3AD203B41FA5}">
                      <a16:colId xmlns:a16="http://schemas.microsoft.com/office/drawing/2014/main" val="20001"/>
                    </a:ext>
                  </a:extLst>
                </a:gridCol>
                <a:gridCol w="1226520">
                  <a:extLst>
                    <a:ext uri="{9D8B030D-6E8A-4147-A177-3AD203B41FA5}">
                      <a16:colId xmlns:a16="http://schemas.microsoft.com/office/drawing/2014/main" val="20002"/>
                    </a:ext>
                  </a:extLst>
                </a:gridCol>
                <a:gridCol w="434880">
                  <a:extLst>
                    <a:ext uri="{9D8B030D-6E8A-4147-A177-3AD203B41FA5}">
                      <a16:colId xmlns:a16="http://schemas.microsoft.com/office/drawing/2014/main" val="20003"/>
                    </a:ext>
                  </a:extLst>
                </a:gridCol>
                <a:gridCol w="880920">
                  <a:extLst>
                    <a:ext uri="{9D8B030D-6E8A-4147-A177-3AD203B41FA5}">
                      <a16:colId xmlns:a16="http://schemas.microsoft.com/office/drawing/2014/main" val="20004"/>
                    </a:ext>
                  </a:extLst>
                </a:gridCol>
                <a:gridCol w="1025640">
                  <a:extLst>
                    <a:ext uri="{9D8B030D-6E8A-4147-A177-3AD203B41FA5}">
                      <a16:colId xmlns:a16="http://schemas.microsoft.com/office/drawing/2014/main" val="20005"/>
                    </a:ext>
                  </a:extLst>
                </a:gridCol>
                <a:gridCol w="1460520">
                  <a:extLst>
                    <a:ext uri="{9D8B030D-6E8A-4147-A177-3AD203B41FA5}">
                      <a16:colId xmlns:a16="http://schemas.microsoft.com/office/drawing/2014/main" val="20006"/>
                    </a:ext>
                  </a:extLst>
                </a:gridCol>
                <a:gridCol w="1482840">
                  <a:extLst>
                    <a:ext uri="{9D8B030D-6E8A-4147-A177-3AD203B41FA5}">
                      <a16:colId xmlns:a16="http://schemas.microsoft.com/office/drawing/2014/main" val="20007"/>
                    </a:ext>
                  </a:extLst>
                </a:gridCol>
                <a:gridCol w="958680">
                  <a:extLst>
                    <a:ext uri="{9D8B030D-6E8A-4147-A177-3AD203B41FA5}">
                      <a16:colId xmlns:a16="http://schemas.microsoft.com/office/drawing/2014/main" val="20008"/>
                    </a:ext>
                  </a:extLst>
                </a:gridCol>
                <a:gridCol w="825120">
                  <a:extLst>
                    <a:ext uri="{9D8B030D-6E8A-4147-A177-3AD203B41FA5}">
                      <a16:colId xmlns:a16="http://schemas.microsoft.com/office/drawing/2014/main" val="20009"/>
                    </a:ext>
                  </a:extLst>
                </a:gridCol>
                <a:gridCol w="947520">
                  <a:extLst>
                    <a:ext uri="{9D8B030D-6E8A-4147-A177-3AD203B41FA5}">
                      <a16:colId xmlns:a16="http://schemas.microsoft.com/office/drawing/2014/main" val="20010"/>
                    </a:ext>
                  </a:extLst>
                </a:gridCol>
                <a:gridCol w="780480">
                  <a:extLst>
                    <a:ext uri="{9D8B030D-6E8A-4147-A177-3AD203B41FA5}">
                      <a16:colId xmlns:a16="http://schemas.microsoft.com/office/drawing/2014/main" val="20011"/>
                    </a:ext>
                  </a:extLst>
                </a:gridCol>
                <a:gridCol w="955080">
                  <a:extLst>
                    <a:ext uri="{9D8B030D-6E8A-4147-A177-3AD203B41FA5}">
                      <a16:colId xmlns:a16="http://schemas.microsoft.com/office/drawing/2014/main" val="20012"/>
                    </a:ext>
                  </a:extLst>
                </a:gridCol>
                <a:gridCol w="1938240">
                  <a:extLst>
                    <a:ext uri="{9D8B030D-6E8A-4147-A177-3AD203B41FA5}">
                      <a16:colId xmlns:a16="http://schemas.microsoft.com/office/drawing/2014/main" val="20013"/>
                    </a:ext>
                  </a:extLst>
                </a:gridCol>
              </a:tblGrid>
              <a:tr h="521640">
                <a:tc>
                  <a:txBody>
                    <a:bodyPr/>
                    <a:lstStyle/>
                    <a:p>
                      <a:pPr>
                        <a:lnSpc>
                          <a:spcPct val="100000"/>
                        </a:lnSpc>
                      </a:pPr>
                      <a:r>
                        <a:rPr lang="es-ES" sz="1200" b="1" u="sng" strike="noStrike" spc="-1">
                          <a:solidFill>
                            <a:srgbClr val="000000"/>
                          </a:solidFill>
                          <a:uFillTx/>
                          <a:latin typeface="Aptos"/>
                          <a:ea typeface="DejaVu Sans"/>
                        </a:rPr>
                        <a:t>Gen</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Coordenada</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Nomenclatura.c</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Tipo</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Genotipo</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Frecuencia</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Proteína</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Nomenclatura.p</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Efecto</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SIFT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PolyPhen</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MIM</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Herencia</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1" u="sng" strike="noStrike" spc="-1">
                          <a:solidFill>
                            <a:srgbClr val="000000"/>
                          </a:solidFill>
                          <a:uFillTx/>
                          <a:latin typeface="Aptos"/>
                          <a:ea typeface="DejaVu Sans"/>
                        </a:rPr>
                        <a:t>Pathway</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0"/>
                  </a:ext>
                </a:extLst>
              </a:tr>
              <a:tr h="774360">
                <a:tc>
                  <a:txBody>
                    <a:bodyPr/>
                    <a:lstStyle/>
                    <a:p>
                      <a:pPr>
                        <a:lnSpc>
                          <a:spcPct val="100000"/>
                        </a:lnSpc>
                      </a:pPr>
                      <a:r>
                        <a:rPr lang="es-ES" sz="1200" b="0" strike="noStrike" spc="-1">
                          <a:solidFill>
                            <a:srgbClr val="000000"/>
                          </a:solidFill>
                          <a:latin typeface="Aptos"/>
                          <a:ea typeface="DejaVu Sans"/>
                        </a:rPr>
                        <a:t>LEPR</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1:65609984</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ENST00000349533.11:c.1790del</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Indel</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heterocigoto</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6.19 x 10-7 (mutación)</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ENST00000349533.11</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ENSP00000330393.7:p.Ser597IlefsTer20</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Frameshift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#614963</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Autosómico recesiva</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Vías de señalización de adipocitocinas y hormonales de AMPK, JAK y STAT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1"/>
                  </a:ext>
                </a:extLst>
              </a:tr>
              <a:tr h="603720">
                <a:tc>
                  <a:txBody>
                    <a:bodyPr/>
                    <a:lstStyle/>
                    <a:p>
                      <a:pPr>
                        <a:lnSpc>
                          <a:spcPct val="100000"/>
                        </a:lnSpc>
                      </a:pPr>
                      <a:r>
                        <a:rPr lang="es-ES" sz="1200" b="0" strike="noStrike" spc="-1">
                          <a:solidFill>
                            <a:srgbClr val="000000"/>
                          </a:solidFill>
                          <a:latin typeface="Aptos"/>
                          <a:ea typeface="DejaVu Sans"/>
                        </a:rPr>
                        <a:t>MC4R</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18:60371535</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ENST00000299766.5:c.815C&gt;A</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SNP</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heterocigoto</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6.195x10-7</a:t>
                      </a:r>
                      <a:endParaRPr lang="es-ES" sz="1200" b="0" strike="noStrike" spc="-1">
                        <a:latin typeface="Arial"/>
                      </a:endParaRPr>
                    </a:p>
                    <a:p>
                      <a:pPr algn="ctr">
                        <a:lnSpc>
                          <a:spcPct val="100000"/>
                        </a:lnSpc>
                      </a:pPr>
                      <a:r>
                        <a:rPr lang="es-ES" sz="1200" b="0" strike="noStrike" spc="-1">
                          <a:solidFill>
                            <a:srgbClr val="000000"/>
                          </a:solidFill>
                          <a:latin typeface="Aptos"/>
                          <a:ea typeface="DejaVu Sans"/>
                        </a:rPr>
                        <a:t>(mutación)</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ENST00000299766.5</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ENSP00000299766.3:p.Pro272His</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Missense</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deleterious (0)</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probably damaging (1)</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#618406</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tabLst>
                          <a:tab pos="0" algn="l"/>
                        </a:tabLst>
                      </a:pPr>
                      <a:r>
                        <a:rPr lang="es-ES" sz="1200" b="0" strike="noStrike" spc="-1">
                          <a:solidFill>
                            <a:srgbClr val="000000"/>
                          </a:solidFill>
                          <a:latin typeface="Aptos"/>
                          <a:ea typeface="DejaVu Sans"/>
                        </a:rPr>
                        <a:t>Autosómico recesiva</a:t>
                      </a:r>
                      <a:endParaRPr lang="es-ES" sz="1200" b="0" strike="noStrike" spc="-1">
                        <a:latin typeface="Arial"/>
                      </a:endParaRPr>
                    </a:p>
                    <a:p>
                      <a:pPr algn="ctr">
                        <a:lnSpc>
                          <a:spcPct val="100000"/>
                        </a:lnSpc>
                        <a:tabLst>
                          <a:tab pos="0" algn="l"/>
                        </a:tabLst>
                      </a:pP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Vía de señalización de la saciedad </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2"/>
                  </a:ext>
                </a:extLst>
              </a:tr>
              <a:tr h="774360">
                <a:tc>
                  <a:txBody>
                    <a:bodyPr/>
                    <a:lstStyle/>
                    <a:p>
                      <a:pPr>
                        <a:lnSpc>
                          <a:spcPct val="100000"/>
                        </a:lnSpc>
                      </a:pPr>
                      <a:r>
                        <a:rPr lang="es-ES" sz="1200" b="0" strike="noStrike" spc="-1">
                          <a:solidFill>
                            <a:srgbClr val="000000"/>
                          </a:solidFill>
                          <a:latin typeface="Aptos"/>
                          <a:ea typeface="DejaVu Sans"/>
                        </a:rPr>
                        <a:t>MED12</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X:71121046</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ENST00000374080.8:c.629C&gt;T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SNP</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hemicigoto</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4.553x10-6 (mutación)</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ENST00000374080.8</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ENSP00000363193.3:p.Ala210Val</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Missense</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deleterious low confidence (0.02)</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benign (0.19)</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Vía de señalización de la hormona tiroidea</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3"/>
                  </a:ext>
                </a:extLst>
              </a:tr>
              <a:tr h="433080">
                <a:tc>
                  <a:txBody>
                    <a:bodyPr/>
                    <a:lstStyle/>
                    <a:p>
                      <a:pPr>
                        <a:lnSpc>
                          <a:spcPct val="100000"/>
                        </a:lnSpc>
                      </a:pPr>
                      <a:r>
                        <a:rPr lang="es-ES" sz="1200" b="0" strike="noStrike" spc="-1">
                          <a:solidFill>
                            <a:srgbClr val="000000"/>
                          </a:solidFill>
                          <a:latin typeface="Aptos"/>
                          <a:ea typeface="DejaVu Sans"/>
                        </a:rPr>
                        <a:t>TP53</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17:7676154</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ENST00000269305.9:c.215C&gt;T</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SNP</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heterocigoto</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6.19 x 10-7 (mutación)</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ENST00000269305.9</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ENSP00000269305.4:p.Pro72Leu</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Missense</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tolerated (0.13)</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benign (0.003)</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#151623</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Autosómica dominante</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a:lstStyle/>
                    <a:p>
                      <a:pPr algn="ctr">
                        <a:lnSpc>
                          <a:spcPct val="100000"/>
                        </a:lnSpc>
                      </a:pPr>
                      <a:r>
                        <a:rPr lang="es-ES" sz="1200" b="0" strike="noStrike" spc="-1">
                          <a:solidFill>
                            <a:srgbClr val="000000"/>
                          </a:solidFill>
                          <a:latin typeface="Aptos"/>
                          <a:ea typeface="DejaVu Sans"/>
                        </a:rPr>
                        <a:t>Ruta de lípidos y aterosclerosis</a:t>
                      </a:r>
                      <a:endParaRPr lang="es-ES" sz="1200" b="0" strike="noStrike" spc="-1">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extLst>
                  <a:ext uri="{0D108BD9-81ED-4DB2-BD59-A6C34878D82A}">
                    <a16:rowId xmlns:a16="http://schemas.microsoft.com/office/drawing/2014/main" val="10004"/>
                  </a:ext>
                </a:extLst>
              </a:tr>
            </a:tbl>
          </a:graphicData>
        </a:graphic>
      </p:graphicFrame>
      <p:pic>
        <p:nvPicPr>
          <p:cNvPr id="62" name="Imagen 64"/>
          <p:cNvPicPr/>
          <p:nvPr/>
        </p:nvPicPr>
        <p:blipFill>
          <a:blip r:embed="rId15"/>
          <a:stretch/>
        </p:blipFill>
        <p:spPr>
          <a:xfrm>
            <a:off x="6952320" y="12456000"/>
            <a:ext cx="7415640" cy="1434240"/>
          </a:xfrm>
          <a:prstGeom prst="rect">
            <a:avLst/>
          </a:prstGeom>
          <a:ln>
            <a:noFill/>
          </a:ln>
        </p:spPr>
      </p:pic>
      <p:sp>
        <p:nvSpPr>
          <p:cNvPr id="63" name="CustomShape 23"/>
          <p:cNvSpPr/>
          <p:nvPr/>
        </p:nvSpPr>
        <p:spPr>
          <a:xfrm>
            <a:off x="11448000" y="12312000"/>
            <a:ext cx="143640" cy="287640"/>
          </a:xfrm>
          <a:custGeom>
            <a:avLst/>
            <a:gdLst/>
            <a:ahLst/>
            <a:cxnLst/>
            <a:rect l="l" t="t" r="r" b="b"/>
            <a:pathLst>
              <a:path w="402" h="802">
                <a:moveTo>
                  <a:pt x="193" y="0"/>
                </a:moveTo>
                <a:lnTo>
                  <a:pt x="193" y="0"/>
                </a:lnTo>
                <a:lnTo>
                  <a:pt x="0" y="0"/>
                </a:lnTo>
                <a:lnTo>
                  <a:pt x="200" y="801"/>
                </a:lnTo>
                <a:lnTo>
                  <a:pt x="401" y="0"/>
                </a:lnTo>
                <a:lnTo>
                  <a:pt x="207" y="0"/>
                </a:lnTo>
                <a:lnTo>
                  <a:pt x="207" y="0"/>
                </a:lnTo>
                <a:lnTo>
                  <a:pt x="193" y="0"/>
                </a:lnTo>
              </a:path>
            </a:pathLst>
          </a:custGeom>
          <a:solidFill>
            <a:srgbClr val="729FCF"/>
          </a:solidFill>
          <a:ln>
            <a:solidFill>
              <a:srgbClr val="3465A4"/>
            </a:solidFill>
          </a:ln>
        </p:spPr>
        <p:style>
          <a:lnRef idx="0">
            <a:scrgbClr r="0" g="0" b="0"/>
          </a:lnRef>
          <a:fillRef idx="0">
            <a:scrgbClr r="0" g="0" b="0"/>
          </a:fillRef>
          <a:effectRef idx="0">
            <a:scrgbClr r="0" g="0" b="0"/>
          </a:effectRef>
          <a:fontRef idx="minor"/>
        </p:style>
        <p:txBody>
          <a:bodyPr/>
          <a:lstStyle/>
          <a:p>
            <a:endParaRPr lang="es-ES"/>
          </a:p>
        </p:txBody>
      </p:sp>
      <p:pic>
        <p:nvPicPr>
          <p:cNvPr id="64" name="Imagen 66"/>
          <p:cNvPicPr/>
          <p:nvPr/>
        </p:nvPicPr>
        <p:blipFill>
          <a:blip r:embed="rId16"/>
          <a:srcRect t="54155"/>
          <a:stretch/>
        </p:blipFill>
        <p:spPr>
          <a:xfrm>
            <a:off x="8064000" y="15120000"/>
            <a:ext cx="5399640" cy="2015640"/>
          </a:xfrm>
          <a:prstGeom prst="rect">
            <a:avLst/>
          </a:prstGeom>
          <a:ln>
            <a:noFill/>
          </a:ln>
        </p:spPr>
      </p:pic>
      <p:sp>
        <p:nvSpPr>
          <p:cNvPr id="65" name="CustomShape 24"/>
          <p:cNvSpPr/>
          <p:nvPr/>
        </p:nvSpPr>
        <p:spPr>
          <a:xfrm>
            <a:off x="7056000" y="14256000"/>
            <a:ext cx="7291080" cy="63216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nSpc>
                <a:spcPct val="80000"/>
              </a:lnSpc>
              <a:tabLst>
                <a:tab pos="0" algn="l"/>
              </a:tabLst>
            </a:pPr>
            <a:r>
              <a:rPr lang="es-ES_tradnl" sz="1800" b="1" strike="noStrike" spc="-1">
                <a:solidFill>
                  <a:srgbClr val="4196C9"/>
                </a:solidFill>
                <a:latin typeface="Aptos"/>
                <a:ea typeface="DejaVu Sans"/>
              </a:rPr>
              <a:t>Figura 3. </a:t>
            </a:r>
            <a:r>
              <a:rPr lang="es-ES_tradnl" sz="1800" b="0" strike="noStrike" spc="-1">
                <a:solidFill>
                  <a:srgbClr val="000000"/>
                </a:solidFill>
                <a:latin typeface="Aptos"/>
                <a:ea typeface="DejaVu Sans"/>
              </a:rPr>
              <a:t>Rutas metabolicas implicadas en MC4R en KEGG.</a:t>
            </a:r>
            <a:endParaRPr lang="es-ES" sz="1800" b="0" strike="noStrike" spc="-1">
              <a:latin typeface="Arial"/>
            </a:endParaRPr>
          </a:p>
        </p:txBody>
      </p:sp>
      <p:sp>
        <p:nvSpPr>
          <p:cNvPr id="66" name="CustomShape 25"/>
          <p:cNvSpPr/>
          <p:nvPr/>
        </p:nvSpPr>
        <p:spPr>
          <a:xfrm>
            <a:off x="8064000" y="17138520"/>
            <a:ext cx="5759640" cy="431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noAutofit/>
          </a:bodyPr>
          <a:lstStyle/>
          <a:p>
            <a:pPr>
              <a:lnSpc>
                <a:spcPct val="100000"/>
              </a:lnSpc>
            </a:pPr>
            <a:r>
              <a:rPr lang="es-ES" sz="1500" b="0" strike="noStrike" spc="-1">
                <a:solidFill>
                  <a:srgbClr val="000000"/>
                </a:solidFill>
                <a:latin typeface="Arial"/>
                <a:ea typeface="DejaVu Sans"/>
              </a:rPr>
              <a:t>MC4R. Via de la señalización hormonal del AMP cíclico </a:t>
            </a:r>
            <a:endParaRPr lang="es-ES" sz="1500" b="0" strike="noStrike" spc="-1">
              <a:latin typeface="Arial"/>
            </a:endParaRPr>
          </a:p>
        </p:txBody>
      </p:sp>
      <p:pic>
        <p:nvPicPr>
          <p:cNvPr id="67" name="Imagen 1"/>
          <p:cNvPicPr/>
          <p:nvPr/>
        </p:nvPicPr>
        <p:blipFill>
          <a:blip r:embed="rId17"/>
          <a:srcRect l="16030" t="12976" r="35241" b="5276"/>
          <a:stretch/>
        </p:blipFill>
        <p:spPr>
          <a:xfrm>
            <a:off x="437040" y="12239640"/>
            <a:ext cx="5526360" cy="5215320"/>
          </a:xfrm>
          <a:prstGeom prst="rect">
            <a:avLst/>
          </a:prstGeom>
          <a:ln>
            <a:solidFill>
              <a:schemeClr val="tx1"/>
            </a:solidFill>
          </a:ln>
        </p:spPr>
      </p:pic>
      <p:pic>
        <p:nvPicPr>
          <p:cNvPr id="3" name="Imagen 2" descr="Código QR&#10;&#10;El contenido generado por IA puede ser incorrecto.">
            <a:extLst>
              <a:ext uri="{FF2B5EF4-FFF2-40B4-BE49-F238E27FC236}">
                <a16:creationId xmlns:a16="http://schemas.microsoft.com/office/drawing/2014/main" id="{77ED0077-7CDA-5232-C64C-3CA3DBB9B7DD}"/>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961520" y="20296785"/>
            <a:ext cx="914400" cy="106665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256</TotalTime>
  <Words>684</Words>
  <Application>Microsoft Macintosh PowerPoint</Application>
  <PresentationFormat>Personalizado</PresentationFormat>
  <Paragraphs>91</Paragraphs>
  <Slides>1</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vt:i4>
      </vt:variant>
    </vt:vector>
  </HeadingPairs>
  <TitlesOfParts>
    <vt:vector size="6" baseType="lpstr">
      <vt:lpstr>Aptos</vt:lpstr>
      <vt:lpstr>Arial</vt:lpstr>
      <vt:lpstr>Symbol</vt:lpstr>
      <vt:lpstr>Wingdings</vt:lpstr>
      <vt:lpstr>Office Theme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Victor  de la O Pascual</dc:creator>
  <dc:description/>
  <cp:lastModifiedBy>Paula Norniella Jamart</cp:lastModifiedBy>
  <cp:revision>40</cp:revision>
  <dcterms:created xsi:type="dcterms:W3CDTF">2025-04-21T10:03:24Z</dcterms:created>
  <dcterms:modified xsi:type="dcterms:W3CDTF">2026-02-01T19:09:50Z</dcterms:modified>
  <dc:language>es-ES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0x010100DF3D7C797EA12745A270EF30E38719B9</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MediaServiceImageTags">
    <vt:lpwstr/>
  </property>
  <property fmtid="{D5CDD505-2E9C-101B-9397-08002B2CF9AE}" pid="9" name="Notes">
    <vt:i4>0</vt:i4>
  </property>
  <property fmtid="{D5CDD505-2E9C-101B-9397-08002B2CF9AE}" pid="10" name="PresentationFormat">
    <vt:lpwstr>Personalizado</vt:lpwstr>
  </property>
  <property fmtid="{D5CDD505-2E9C-101B-9397-08002B2CF9AE}" pid="11" name="ScaleCrop">
    <vt:bool>false</vt:bool>
  </property>
  <property fmtid="{D5CDD505-2E9C-101B-9397-08002B2CF9AE}" pid="12" name="ShareDoc">
    <vt:bool>false</vt:bool>
  </property>
  <property fmtid="{D5CDD505-2E9C-101B-9397-08002B2CF9AE}" pid="13" name="Slides">
    <vt:i4>1</vt:i4>
  </property>
</Properties>
</file>