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8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81" d="100"/>
          <a:sy n="81" d="100"/>
        </p:scale>
        <p:origin x="379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18/12/2025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72C3-DD61-5B61-E46F-EDD19D1F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1AA44F9-4D9B-B58B-32B6-5CC8410E7CBE}"/>
              </a:ext>
            </a:extLst>
          </p:cNvPr>
          <p:cNvGrpSpPr/>
          <p:nvPr/>
        </p:nvGrpSpPr>
        <p:grpSpPr>
          <a:xfrm>
            <a:off x="225180" y="3549043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4D1F524-44A5-F16E-9FD3-EE5EA5819EAD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obesidad es un importante problema de salud pública con un marcado componente genético y familiar. El análisis de la expresión génica mediante </a:t>
              </a:r>
              <a:r>
                <a:rPr lang="es-ES" dirty="0" err="1">
                  <a:solidFill>
                    <a:schemeClr val="tx1"/>
                  </a:solidFill>
                </a:rPr>
                <a:t>RNAseq</a:t>
              </a:r>
              <a:r>
                <a:rPr lang="es-ES" dirty="0">
                  <a:solidFill>
                    <a:schemeClr val="tx1"/>
                  </a:solidFill>
                </a:rPr>
                <a:t> permite identificar genes diferencialmente expresados asociados a esta condición. En este estudio se analizan las diferencias de expresión génica entre individuos con obesidad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de la familia Simpson.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15811AE5-F929-12ED-D44E-9D1519220278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88FB225B-2F62-B172-D75B-E02EF3836A0E}"/>
              </a:ext>
            </a:extLst>
          </p:cNvPr>
          <p:cNvGrpSpPr/>
          <p:nvPr/>
        </p:nvGrpSpPr>
        <p:grpSpPr>
          <a:xfrm>
            <a:off x="207596" y="5169142"/>
            <a:ext cx="14668990" cy="2093807"/>
            <a:chOff x="207596" y="6110487"/>
            <a:chExt cx="14668990" cy="1992925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FC179AD0-ED02-975F-E151-1E1C61EAD8F2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metodología se basó en el análisis de expresión génica diferencial a partir de datos simulados de RNA-</a:t>
              </a:r>
              <a:r>
                <a:rPr lang="es-ES" dirty="0" err="1">
                  <a:solidFill>
                    <a:schemeClr val="tx1"/>
                  </a:solidFill>
                </a:rPr>
                <a:t>seq</a:t>
              </a:r>
              <a:r>
                <a:rPr lang="es-ES" dirty="0">
                  <a:solidFill>
                    <a:schemeClr val="tx1"/>
                  </a:solidFill>
                </a:rPr>
                <a:t> relacionados con la obesidad. Se realizó un control de calidad inicial de las lecturas mediante </a:t>
              </a:r>
              <a:r>
                <a:rPr lang="es-ES" dirty="0" err="1">
                  <a:solidFill>
                    <a:schemeClr val="tx1"/>
                  </a:solidFill>
                </a:rPr>
                <a:t>FastQC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MultiQC</a:t>
              </a:r>
              <a:r>
                <a:rPr lang="es-ES" dirty="0">
                  <a:solidFill>
                    <a:schemeClr val="tx1"/>
                  </a:solidFill>
                </a:rPr>
                <a:t>, seguido de la cuantificación y normalización de la expresión génica con Salmon. El análisis de expresión diferencial entre los grupos Obeso 1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se llevó a cabo utilizando DESeq2. Los resultados se visualizaron mediante gráficos </a:t>
              </a:r>
              <a:r>
                <a:rPr lang="es-ES" dirty="0" err="1">
                  <a:solidFill>
                    <a:schemeClr val="tx1"/>
                  </a:solidFill>
                </a:rPr>
                <a:t>volcano</a:t>
              </a:r>
              <a:r>
                <a:rPr lang="es-ES" dirty="0">
                  <a:solidFill>
                    <a:schemeClr val="tx1"/>
                  </a:solidFill>
                </a:rPr>
                <a:t> y mapas de calor empleando ggplot2, </a:t>
              </a:r>
              <a:r>
                <a:rPr lang="es-ES" dirty="0" err="1">
                  <a:solidFill>
                    <a:schemeClr val="tx1"/>
                  </a:solidFill>
                </a:rPr>
                <a:t>EnhancedVolcano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pheatmap</a:t>
              </a:r>
              <a:r>
                <a:rPr lang="es-ES" dirty="0">
                  <a:solidFill>
                    <a:schemeClr val="tx1"/>
                  </a:solidFill>
                </a:rPr>
                <a:t> en entornos R y Linux. Finalmente, la interpretación biológica se realizó mediante bases de datos como </a:t>
              </a:r>
              <a:r>
                <a:rPr lang="es-ES" dirty="0" err="1">
                  <a:solidFill>
                    <a:schemeClr val="tx1"/>
                  </a:solidFill>
                </a:rPr>
                <a:t>GeneCards</a:t>
              </a:r>
              <a:r>
                <a:rPr lang="es-ES" dirty="0">
                  <a:solidFill>
                    <a:schemeClr val="tx1"/>
                  </a:solidFill>
                </a:rPr>
                <a:t> y PubMed, incluyendo de forma opcional un análisis de enriquecimiento funcional.</a:t>
              </a:r>
              <a:endParaRPr lang="es-ES_tradnl" sz="24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51C45BDA-AC75-EE13-A211-698BB3CF2EDC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0449220D-F047-A208-80A5-ECB282B1A62A}"/>
              </a:ext>
            </a:extLst>
          </p:cNvPr>
          <p:cNvGrpSpPr/>
          <p:nvPr/>
        </p:nvGrpSpPr>
        <p:grpSpPr>
          <a:xfrm>
            <a:off x="207596" y="7474425"/>
            <a:ext cx="14668990" cy="8794038"/>
            <a:chOff x="225180" y="8290675"/>
            <a:chExt cx="14668990" cy="9032720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F757B5F2-E57A-7217-E1AA-4D7E21F42FA0}"/>
                </a:ext>
              </a:extLst>
            </p:cNvPr>
            <p:cNvSpPr/>
            <p:nvPr/>
          </p:nvSpPr>
          <p:spPr>
            <a:xfrm>
              <a:off x="225180" y="8779455"/>
              <a:ext cx="14668990" cy="8543940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En el Volcano Plot se obtiene, para las categorias de Obeso1 y Normopeso, una sobreexpresion en los genes PCSK1 (NM_001177875.2 - NM_000439.5), KSR2 (NM_173598.6) y LEP (NM_000230.3).</a:t>
              </a: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Más detalladamente, en el mapa de calor, se observan los genes diferencialmente expresados en cada personaje de los Sipmons que se encuentra en una de las categorías de estudio: Obeso1 y Normopeso.</a:t>
              </a:r>
              <a:endParaRPr lang="es-ES_tradnl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D2CE81C2-DE7D-86C0-BE63-0B1C502B9BDA}"/>
                </a:ext>
              </a:extLst>
            </p:cNvPr>
            <p:cNvSpPr/>
            <p:nvPr/>
          </p:nvSpPr>
          <p:spPr>
            <a:xfrm>
              <a:off x="518258" y="8290675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9CAA55-5763-DE38-517F-B4583DC84A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7943CC5D-1654-184E-A7EC-A76F98FA9E8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E5760BA-D4D0-7C9E-76ED-065ED1139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4D86C97A-A2AB-20A7-3EB2-1F46C5416136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70138B42-E335-E05D-E193-37141538289E}"/>
              </a:ext>
            </a:extLst>
          </p:cNvPr>
          <p:cNvSpPr/>
          <p:nvPr/>
        </p:nvSpPr>
        <p:spPr>
          <a:xfrm>
            <a:off x="677955" y="1086983"/>
            <a:ext cx="13763441" cy="2392388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algn="ctr"/>
            <a:r>
              <a:rPr lang="es-ES" sz="4000" b="1" dirty="0">
                <a:solidFill>
                  <a:schemeClr val="bg1"/>
                </a:solidFill>
              </a:rPr>
              <a:t>Análisis de expresión diferencial de genes relacionados con la obesidad mediante RNA-</a:t>
            </a:r>
            <a:r>
              <a:rPr lang="es-ES" sz="4000" b="1" dirty="0" err="1">
                <a:solidFill>
                  <a:schemeClr val="bg1"/>
                </a:solidFill>
              </a:rPr>
              <a:t>seq</a:t>
            </a:r>
            <a:endParaRPr lang="es-ES_tradnl" sz="40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u="sng" dirty="0">
                <a:solidFill>
                  <a:schemeClr val="bg1"/>
                </a:solidFill>
              </a:rPr>
              <a:t>Asignatura</a:t>
            </a:r>
            <a:r>
              <a:rPr lang="es-ES_tradnl" sz="2000" b="1" i="1" dirty="0">
                <a:solidFill>
                  <a:schemeClr val="bg1"/>
                </a:solidFill>
              </a:rPr>
              <a:t>: </a:t>
            </a:r>
            <a:r>
              <a:rPr lang="es-ES" sz="2000" b="1" i="1" dirty="0">
                <a:solidFill>
                  <a:schemeClr val="bg1"/>
                </a:solidFill>
              </a:rPr>
              <a:t>Secuenciación y </a:t>
            </a:r>
            <a:r>
              <a:rPr lang="es-ES" sz="2000" b="1" i="1" dirty="0" err="1">
                <a:solidFill>
                  <a:schemeClr val="bg1"/>
                </a:solidFill>
              </a:rPr>
              <a:t>ómicas</a:t>
            </a:r>
            <a:r>
              <a:rPr lang="es-ES" sz="2000" b="1" i="1" dirty="0">
                <a:solidFill>
                  <a:schemeClr val="bg1"/>
                </a:solidFill>
              </a:rPr>
              <a:t> de Próxima Generación</a:t>
            </a:r>
          </a:p>
          <a:p>
            <a:pPr algn="ctr">
              <a:lnSpc>
                <a:spcPct val="80000"/>
              </a:lnSpc>
            </a:pPr>
            <a:endParaRPr lang="es-ES_tradnl" sz="2000" b="1" i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u="sng" dirty="0">
                <a:solidFill>
                  <a:schemeClr val="bg1"/>
                </a:solidFill>
              </a:rPr>
              <a:t>Autores</a:t>
            </a:r>
            <a:r>
              <a:rPr lang="es-ES_tradnl" sz="2000" b="1" i="1" dirty="0">
                <a:solidFill>
                  <a:schemeClr val="bg1"/>
                </a:solidFill>
              </a:rPr>
              <a:t>: Paula Damián Moral - Paula Sofía </a:t>
            </a:r>
            <a:r>
              <a:rPr lang="es-ES_tradnl" sz="2000" b="1" i="1" dirty="0" err="1">
                <a:solidFill>
                  <a:schemeClr val="bg1"/>
                </a:solidFill>
              </a:rPr>
              <a:t>Norniella</a:t>
            </a:r>
            <a:r>
              <a:rPr lang="es-ES_tradnl" sz="2000" b="1" i="1" dirty="0">
                <a:solidFill>
                  <a:schemeClr val="bg1"/>
                </a:solidFill>
              </a:rPr>
              <a:t> </a:t>
            </a:r>
            <a:r>
              <a:rPr lang="es-ES_tradnl" sz="2000" b="1" i="1" dirty="0" err="1">
                <a:solidFill>
                  <a:schemeClr val="bg1"/>
                </a:solidFill>
              </a:rPr>
              <a:t>Jamart</a:t>
            </a:r>
            <a:r>
              <a:rPr lang="es-ES_tradnl" sz="2000" b="1" i="1" dirty="0">
                <a:solidFill>
                  <a:schemeClr val="bg1"/>
                </a:solidFill>
              </a:rPr>
              <a:t> - Pedro García Sáez - Pedro Manuel Rodríguez Santos - Pilar Navarro Sánchez - Rubén Martín Blázquez</a:t>
            </a: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2C6C9477-586D-D4FB-ADEE-063D77B3A812}"/>
              </a:ext>
            </a:extLst>
          </p:cNvPr>
          <p:cNvGrpSpPr/>
          <p:nvPr/>
        </p:nvGrpSpPr>
        <p:grpSpPr>
          <a:xfrm>
            <a:off x="200156" y="16455234"/>
            <a:ext cx="9095800" cy="3334555"/>
            <a:chOff x="225181" y="17303689"/>
            <a:chExt cx="9095800" cy="384474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1B34C5B1-3A9B-391B-803D-711026F44639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Interpretación de resultados, posibles relaciones si aplica, etc.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3BC039B6-C9D2-02F3-8F27-C85043A7CC84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CDA7380-1384-C476-FC20-7A4A09E7B7FE}"/>
              </a:ext>
            </a:extLst>
          </p:cNvPr>
          <p:cNvGrpSpPr/>
          <p:nvPr/>
        </p:nvGrpSpPr>
        <p:grpSpPr>
          <a:xfrm>
            <a:off x="9509874" y="16455234"/>
            <a:ext cx="5366712" cy="3334555"/>
            <a:chOff x="7784856" y="17303689"/>
            <a:chExt cx="7109314" cy="384474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367F38DE-6476-4ED5-51AD-7070BD6A603F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Resumen principal de hallazgos y limitaciones del análisis si aplica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0757AA33-190F-8E74-0CAC-D7C442BACE75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05ACB882-C17A-7163-5754-50C1DB29AA22}"/>
              </a:ext>
            </a:extLst>
          </p:cNvPr>
          <p:cNvSpPr/>
          <p:nvPr/>
        </p:nvSpPr>
        <p:spPr>
          <a:xfrm>
            <a:off x="500673" y="8552274"/>
            <a:ext cx="621892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1.</a:t>
            </a:r>
            <a:r>
              <a:rPr lang="es-ES_tradnl" b="1" dirty="0">
                <a:solidFill>
                  <a:srgbClr val="4196C9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Volcano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Plot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de la expresión diferencial genética entre las categorías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Rectángulo redondeado 39">
            <a:extLst>
              <a:ext uri="{FF2B5EF4-FFF2-40B4-BE49-F238E27FC236}">
                <a16:creationId xmlns:a16="http://schemas.microsoft.com/office/drawing/2014/main" id="{3F03464F-6AD8-145A-F4F0-58880920BB73}"/>
              </a:ext>
            </a:extLst>
          </p:cNvPr>
          <p:cNvSpPr/>
          <p:nvPr/>
        </p:nvSpPr>
        <p:spPr>
          <a:xfrm>
            <a:off x="7846424" y="8647753"/>
            <a:ext cx="6705696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2. 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Mapa de calor solo de los genes diferencialmente expresados entre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867C960-C58D-E85E-D3DF-0A1280F7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73" y="9685931"/>
            <a:ext cx="6362950" cy="516700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2B0285-181D-94ED-19C7-B8B664601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169" y="9685931"/>
            <a:ext cx="6362951" cy="5167006"/>
          </a:xfrm>
          <a:prstGeom prst="rect">
            <a:avLst/>
          </a:prstGeom>
        </p:spPr>
      </p:pic>
      <p:grpSp>
        <p:nvGrpSpPr>
          <p:cNvPr id="22" name="Grupo 21">
            <a:extLst>
              <a:ext uri="{FF2B5EF4-FFF2-40B4-BE49-F238E27FC236}">
                <a16:creationId xmlns:a16="http://schemas.microsoft.com/office/drawing/2014/main" id="{3C0430B1-DA84-A5E7-56D9-DB622393E1A9}"/>
              </a:ext>
            </a:extLst>
          </p:cNvPr>
          <p:cNvGrpSpPr/>
          <p:nvPr/>
        </p:nvGrpSpPr>
        <p:grpSpPr>
          <a:xfrm>
            <a:off x="207596" y="19986171"/>
            <a:ext cx="14668990" cy="1332412"/>
            <a:chOff x="207596" y="5986333"/>
            <a:chExt cx="14668990" cy="2117079"/>
          </a:xfrm>
        </p:grpSpPr>
        <p:sp>
          <p:nvSpPr>
            <p:cNvPr id="23" name="Rectángulo redondeado 13">
              <a:extLst>
                <a:ext uri="{FF2B5EF4-FFF2-40B4-BE49-F238E27FC236}">
                  <a16:creationId xmlns:a16="http://schemas.microsoft.com/office/drawing/2014/main" id="{389A8E42-9C9B-7815-0785-B232A9801221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4" name="Rectángulo redondeado 14">
              <a:extLst>
                <a:ext uri="{FF2B5EF4-FFF2-40B4-BE49-F238E27FC236}">
                  <a16:creationId xmlns:a16="http://schemas.microsoft.com/office/drawing/2014/main" id="{EAEAA6AB-78C4-75DC-9D64-9A08D61943C5}"/>
                </a:ext>
              </a:extLst>
            </p:cNvPr>
            <p:cNvSpPr/>
            <p:nvPr/>
          </p:nvSpPr>
          <p:spPr>
            <a:xfrm>
              <a:off x="500674" y="5986333"/>
              <a:ext cx="5838092" cy="757200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BIBLIOGRAFÍA</a:t>
              </a:r>
              <a:endParaRPr lang="es-ES_tradnl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0459999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Props1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48B5577-5CCE-4E9D-BDFA-952900719EE2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</TotalTime>
  <Words>362</Words>
  <Application>Microsoft Office PowerPoint</Application>
  <PresentationFormat>Personalizado</PresentationFormat>
  <Paragraphs>41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Pedro Manuel Rodriguez Santos</cp:lastModifiedBy>
  <cp:revision>31</cp:revision>
  <dcterms:created xsi:type="dcterms:W3CDTF">2025-04-21T10:03:24Z</dcterms:created>
  <dcterms:modified xsi:type="dcterms:W3CDTF">2025-12-18T18:34:17Z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