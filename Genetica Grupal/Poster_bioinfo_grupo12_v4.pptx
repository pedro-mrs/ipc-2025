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sldIdLst>
    <p:sldId id="256" r:id="rId2"/>
  </p:sldIdLst>
  <p:sldSz cx="15119350" cy="21383625"/>
  <p:notesSz cx="7559675" cy="10691813"/>
  <p:defaultTex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p:scale>
          <a:sx n="69" d="100"/>
          <a:sy n="69" d="100"/>
        </p:scale>
        <p:origin x="571" y="-560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3"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ableStyles" Target="tableStyles.xml"/><Relationship Id="rId5" Type="http://schemas.openxmlformats.org/officeDocument/2006/relationships/theme" Target="theme/theme1.xml"/><Relationship Id="rId4"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Slide">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x" preserve="1">
  <p:cSld name="Title Slide">
    <p:spTree>
      <p:nvGrpSpPr>
        <p:cNvPr id="1" name=""/>
        <p:cNvGrpSpPr/>
        <p:nvPr/>
      </p:nvGrpSpPr>
      <p:grpSpPr>
        <a:xfrm>
          <a:off x="0" y="0"/>
          <a:ext cx="0" cy="0"/>
          <a:chOff x="0" y="0"/>
          <a:chExt cx="0" cy="0"/>
        </a:xfrm>
      </p:grpSpPr>
      <p:sp>
        <p:nvSpPr>
          <p:cNvPr id="5" name="PlaceHolder 1"/>
          <p:cNvSpPr>
            <a:spLocks noGrp="1"/>
          </p:cNvSpPr>
          <p:nvPr>
            <p:ph type="title"/>
          </p:nvPr>
        </p:nvSpPr>
        <p:spPr>
          <a:xfrm>
            <a:off x="1134000" y="3499560"/>
            <a:ext cx="12850920" cy="7444440"/>
          </a:xfrm>
          <a:prstGeom prst="rect">
            <a:avLst/>
          </a:prstGeom>
        </p:spPr>
        <p:txBody>
          <a:bodyPr lIns="0" tIns="0" rIns="0" bIns="0" anchor="ctr">
            <a:noAutofit/>
          </a:bodyPr>
          <a:lstStyle/>
          <a:p>
            <a:endParaRPr lang="en-US" sz="1800" b="0" strike="noStrike" spc="-1">
              <a:solidFill>
                <a:srgbClr val="000000"/>
              </a:solidFill>
              <a:latin typeface="Aptos"/>
            </a:endParaRPr>
          </a:p>
        </p:txBody>
      </p:sp>
      <p:sp>
        <p:nvSpPr>
          <p:cNvPr id="6" name="PlaceHolder 2"/>
          <p:cNvSpPr>
            <a:spLocks noGrp="1"/>
          </p:cNvSpPr>
          <p:nvPr>
            <p:ph type="subTitle"/>
          </p:nvPr>
        </p:nvSpPr>
        <p:spPr>
          <a:xfrm>
            <a:off x="755640" y="5003640"/>
            <a:ext cx="13606920" cy="12402000"/>
          </a:xfrm>
          <a:prstGeom prst="rect">
            <a:avLst/>
          </a:prstGeom>
        </p:spPr>
        <p:txBody>
          <a:bodyPr lIns="0" tIns="0" rIns="0" bIns="0" anchor="ctr">
            <a:noAutofit/>
          </a:bodyPr>
          <a:lstStyle/>
          <a:p>
            <a:pPr algn="ctr"/>
            <a:endParaRPr lang="es-ES" sz="3200" b="0" strike="noStrike" spc="-1">
              <a:latin typeface="Arial"/>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Content">
    <p:spTree>
      <p:nvGrpSpPr>
        <p:cNvPr id="1" name=""/>
        <p:cNvGrpSpPr/>
        <p:nvPr/>
      </p:nvGrpSpPr>
      <p:grpSpPr>
        <a:xfrm>
          <a:off x="0" y="0"/>
          <a:ext cx="0" cy="0"/>
          <a:chOff x="0" y="0"/>
          <a:chExt cx="0" cy="0"/>
        </a:xfrm>
      </p:grpSpPr>
      <p:sp>
        <p:nvSpPr>
          <p:cNvPr id="7" name="PlaceHolder 1"/>
          <p:cNvSpPr>
            <a:spLocks noGrp="1"/>
          </p:cNvSpPr>
          <p:nvPr>
            <p:ph type="title"/>
          </p:nvPr>
        </p:nvSpPr>
        <p:spPr>
          <a:xfrm>
            <a:off x="1134000" y="3499560"/>
            <a:ext cx="12850920" cy="7444440"/>
          </a:xfrm>
          <a:prstGeom prst="rect">
            <a:avLst/>
          </a:prstGeom>
        </p:spPr>
        <p:txBody>
          <a:bodyPr lIns="0" tIns="0" rIns="0" bIns="0" anchor="ctr">
            <a:noAutofit/>
          </a:bodyPr>
          <a:lstStyle/>
          <a:p>
            <a:endParaRPr lang="en-US" sz="1800" b="0" strike="noStrike" spc="-1">
              <a:solidFill>
                <a:srgbClr val="000000"/>
              </a:solidFill>
              <a:latin typeface="Aptos"/>
            </a:endParaRPr>
          </a:p>
        </p:txBody>
      </p:sp>
      <p:sp>
        <p:nvSpPr>
          <p:cNvPr id="8" name="PlaceHolder 2"/>
          <p:cNvSpPr>
            <a:spLocks noGrp="1"/>
          </p:cNvSpPr>
          <p:nvPr>
            <p:ph type="body"/>
          </p:nvPr>
        </p:nvSpPr>
        <p:spPr>
          <a:xfrm>
            <a:off x="755640" y="5003640"/>
            <a:ext cx="13606920" cy="12402000"/>
          </a:xfrm>
          <a:prstGeom prst="rect">
            <a:avLst/>
          </a:prstGeom>
        </p:spPr>
        <p:txBody>
          <a:bodyPr lIns="0" tIns="0" rIns="0" bIns="0">
            <a:normAutofit/>
          </a:bodyPr>
          <a:lstStyle/>
          <a:p>
            <a:endParaRPr lang="en-US" sz="4630" b="0" strike="noStrike" spc="-1">
              <a:solidFill>
                <a:srgbClr val="000000"/>
              </a:solidFill>
              <a:latin typeface="Aptos"/>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itle, 2 Content">
    <p:spTree>
      <p:nvGrpSpPr>
        <p:cNvPr id="1" name=""/>
        <p:cNvGrpSpPr/>
        <p:nvPr/>
      </p:nvGrpSpPr>
      <p:grpSpPr>
        <a:xfrm>
          <a:off x="0" y="0"/>
          <a:ext cx="0" cy="0"/>
          <a:chOff x="0" y="0"/>
          <a:chExt cx="0" cy="0"/>
        </a:xfrm>
      </p:grpSpPr>
      <p:sp>
        <p:nvSpPr>
          <p:cNvPr id="9" name="PlaceHolder 1"/>
          <p:cNvSpPr>
            <a:spLocks noGrp="1"/>
          </p:cNvSpPr>
          <p:nvPr>
            <p:ph type="title"/>
          </p:nvPr>
        </p:nvSpPr>
        <p:spPr>
          <a:xfrm>
            <a:off x="1134000" y="3499560"/>
            <a:ext cx="12850920" cy="7444440"/>
          </a:xfrm>
          <a:prstGeom prst="rect">
            <a:avLst/>
          </a:prstGeom>
        </p:spPr>
        <p:txBody>
          <a:bodyPr lIns="0" tIns="0" rIns="0" bIns="0" anchor="ctr">
            <a:noAutofit/>
          </a:bodyPr>
          <a:lstStyle/>
          <a:p>
            <a:endParaRPr lang="en-US" sz="1800" b="0" strike="noStrike" spc="-1">
              <a:solidFill>
                <a:srgbClr val="000000"/>
              </a:solidFill>
              <a:latin typeface="Aptos"/>
            </a:endParaRPr>
          </a:p>
        </p:txBody>
      </p:sp>
      <p:sp>
        <p:nvSpPr>
          <p:cNvPr id="10" name="PlaceHolder 2"/>
          <p:cNvSpPr>
            <a:spLocks noGrp="1"/>
          </p:cNvSpPr>
          <p:nvPr>
            <p:ph type="body"/>
          </p:nvPr>
        </p:nvSpPr>
        <p:spPr>
          <a:xfrm>
            <a:off x="755640" y="5003640"/>
            <a:ext cx="6639840" cy="12402000"/>
          </a:xfrm>
          <a:prstGeom prst="rect">
            <a:avLst/>
          </a:prstGeom>
        </p:spPr>
        <p:txBody>
          <a:bodyPr lIns="0" tIns="0" rIns="0" bIns="0">
            <a:normAutofit/>
          </a:bodyPr>
          <a:lstStyle/>
          <a:p>
            <a:endParaRPr lang="en-US" sz="4630" b="0" strike="noStrike" spc="-1">
              <a:solidFill>
                <a:srgbClr val="000000"/>
              </a:solidFill>
              <a:latin typeface="Aptos"/>
            </a:endParaRPr>
          </a:p>
        </p:txBody>
      </p:sp>
      <p:sp>
        <p:nvSpPr>
          <p:cNvPr id="11" name="PlaceHolder 3"/>
          <p:cNvSpPr>
            <a:spLocks noGrp="1"/>
          </p:cNvSpPr>
          <p:nvPr>
            <p:ph type="body"/>
          </p:nvPr>
        </p:nvSpPr>
        <p:spPr>
          <a:xfrm>
            <a:off x="7727760" y="5003640"/>
            <a:ext cx="6639840" cy="12402000"/>
          </a:xfrm>
          <a:prstGeom prst="rect">
            <a:avLst/>
          </a:prstGeom>
        </p:spPr>
        <p:txBody>
          <a:bodyPr lIns="0" tIns="0" rIns="0" bIns="0">
            <a:normAutofit/>
          </a:bodyPr>
          <a:lstStyle/>
          <a:p>
            <a:endParaRPr lang="en-US" sz="4630" b="0" strike="noStrike" spc="-1">
              <a:solidFill>
                <a:srgbClr val="000000"/>
              </a:solidFill>
              <a:latin typeface="Aptos"/>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12" name="PlaceHolder 1"/>
          <p:cNvSpPr>
            <a:spLocks noGrp="1"/>
          </p:cNvSpPr>
          <p:nvPr>
            <p:ph type="title"/>
          </p:nvPr>
        </p:nvSpPr>
        <p:spPr>
          <a:xfrm>
            <a:off x="1134000" y="3499560"/>
            <a:ext cx="12850920" cy="7444440"/>
          </a:xfrm>
          <a:prstGeom prst="rect">
            <a:avLst/>
          </a:prstGeom>
        </p:spPr>
        <p:txBody>
          <a:bodyPr lIns="0" tIns="0" rIns="0" bIns="0" anchor="ctr">
            <a:noAutofit/>
          </a:bodyPr>
          <a:lstStyle/>
          <a:p>
            <a:endParaRPr lang="en-US" sz="1800" b="0" strike="noStrike" spc="-1">
              <a:solidFill>
                <a:srgbClr val="000000"/>
              </a:solidFill>
              <a:latin typeface="Aptos"/>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Only" preserve="1">
  <p:cSld name="Centered Text">
    <p:spTree>
      <p:nvGrpSpPr>
        <p:cNvPr id="1" name=""/>
        <p:cNvGrpSpPr/>
        <p:nvPr/>
      </p:nvGrpSpPr>
      <p:grpSpPr>
        <a:xfrm>
          <a:off x="0" y="0"/>
          <a:ext cx="0" cy="0"/>
          <a:chOff x="0" y="0"/>
          <a:chExt cx="0" cy="0"/>
        </a:xfrm>
      </p:grpSpPr>
      <p:sp>
        <p:nvSpPr>
          <p:cNvPr id="13" name="PlaceHolder 1"/>
          <p:cNvSpPr>
            <a:spLocks noGrp="1"/>
          </p:cNvSpPr>
          <p:nvPr>
            <p:ph type="subTitle"/>
          </p:nvPr>
        </p:nvSpPr>
        <p:spPr>
          <a:xfrm>
            <a:off x="1134000" y="3499560"/>
            <a:ext cx="12850920" cy="34509240"/>
          </a:xfrm>
          <a:prstGeom prst="rect">
            <a:avLst/>
          </a:prstGeom>
        </p:spPr>
        <p:txBody>
          <a:bodyPr lIns="0" tIns="0" rIns="0" bIns="0" anchor="ctr">
            <a:noAutofit/>
          </a:bodyPr>
          <a:lstStyle/>
          <a:p>
            <a:pPr algn="ctr"/>
            <a:endParaRPr lang="es-ES" sz="3200" b="0" strike="noStrike" spc="-1">
              <a:latin typeface="Arial"/>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ObjAndObj" preserve="1">
  <p:cSld name="Title, 2 Content and Content">
    <p:spTree>
      <p:nvGrpSpPr>
        <p:cNvPr id="1" name=""/>
        <p:cNvGrpSpPr/>
        <p:nvPr/>
      </p:nvGrpSpPr>
      <p:grpSpPr>
        <a:xfrm>
          <a:off x="0" y="0"/>
          <a:ext cx="0" cy="0"/>
          <a:chOff x="0" y="0"/>
          <a:chExt cx="0" cy="0"/>
        </a:xfrm>
      </p:grpSpPr>
      <p:sp>
        <p:nvSpPr>
          <p:cNvPr id="14" name="PlaceHolder 1"/>
          <p:cNvSpPr>
            <a:spLocks noGrp="1"/>
          </p:cNvSpPr>
          <p:nvPr>
            <p:ph type="title"/>
          </p:nvPr>
        </p:nvSpPr>
        <p:spPr>
          <a:xfrm>
            <a:off x="1134000" y="3499560"/>
            <a:ext cx="12850920" cy="7444440"/>
          </a:xfrm>
          <a:prstGeom prst="rect">
            <a:avLst/>
          </a:prstGeom>
        </p:spPr>
        <p:txBody>
          <a:bodyPr lIns="0" tIns="0" rIns="0" bIns="0" anchor="ctr">
            <a:noAutofit/>
          </a:bodyPr>
          <a:lstStyle/>
          <a:p>
            <a:endParaRPr lang="en-US" sz="1800" b="0" strike="noStrike" spc="-1">
              <a:solidFill>
                <a:srgbClr val="000000"/>
              </a:solidFill>
              <a:latin typeface="Aptos"/>
            </a:endParaRPr>
          </a:p>
        </p:txBody>
      </p:sp>
      <p:sp>
        <p:nvSpPr>
          <p:cNvPr id="15" name="PlaceHolder 2"/>
          <p:cNvSpPr>
            <a:spLocks noGrp="1"/>
          </p:cNvSpPr>
          <p:nvPr>
            <p:ph type="body"/>
          </p:nvPr>
        </p:nvSpPr>
        <p:spPr>
          <a:xfrm>
            <a:off x="755640" y="5003640"/>
            <a:ext cx="6639840" cy="5915520"/>
          </a:xfrm>
          <a:prstGeom prst="rect">
            <a:avLst/>
          </a:prstGeom>
        </p:spPr>
        <p:txBody>
          <a:bodyPr lIns="0" tIns="0" rIns="0" bIns="0">
            <a:normAutofit/>
          </a:bodyPr>
          <a:lstStyle/>
          <a:p>
            <a:endParaRPr lang="en-US" sz="4630" b="0" strike="noStrike" spc="-1">
              <a:solidFill>
                <a:srgbClr val="000000"/>
              </a:solidFill>
              <a:latin typeface="Aptos"/>
            </a:endParaRPr>
          </a:p>
        </p:txBody>
      </p:sp>
      <p:sp>
        <p:nvSpPr>
          <p:cNvPr id="16" name="PlaceHolder 3"/>
          <p:cNvSpPr>
            <a:spLocks noGrp="1"/>
          </p:cNvSpPr>
          <p:nvPr>
            <p:ph type="body"/>
          </p:nvPr>
        </p:nvSpPr>
        <p:spPr>
          <a:xfrm>
            <a:off x="7727760" y="5003640"/>
            <a:ext cx="6639840" cy="12402000"/>
          </a:xfrm>
          <a:prstGeom prst="rect">
            <a:avLst/>
          </a:prstGeom>
        </p:spPr>
        <p:txBody>
          <a:bodyPr lIns="0" tIns="0" rIns="0" bIns="0">
            <a:normAutofit/>
          </a:bodyPr>
          <a:lstStyle/>
          <a:p>
            <a:endParaRPr lang="en-US" sz="4630" b="0" strike="noStrike" spc="-1">
              <a:solidFill>
                <a:srgbClr val="000000"/>
              </a:solidFill>
              <a:latin typeface="Aptos"/>
            </a:endParaRPr>
          </a:p>
        </p:txBody>
      </p:sp>
      <p:sp>
        <p:nvSpPr>
          <p:cNvPr id="17" name="PlaceHolder 4"/>
          <p:cNvSpPr>
            <a:spLocks noGrp="1"/>
          </p:cNvSpPr>
          <p:nvPr>
            <p:ph type="body"/>
          </p:nvPr>
        </p:nvSpPr>
        <p:spPr>
          <a:xfrm>
            <a:off x="755640" y="11481480"/>
            <a:ext cx="6639840" cy="5915520"/>
          </a:xfrm>
          <a:prstGeom prst="rect">
            <a:avLst/>
          </a:prstGeom>
        </p:spPr>
        <p:txBody>
          <a:bodyPr lIns="0" tIns="0" rIns="0" bIns="0">
            <a:normAutofit/>
          </a:bodyPr>
          <a:lstStyle/>
          <a:p>
            <a:endParaRPr lang="en-US" sz="4630" b="0" strike="noStrike" spc="-1">
              <a:solidFill>
                <a:srgbClr val="000000"/>
              </a:solidFill>
              <a:latin typeface="Aptos"/>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AndTwoObj" preserve="1">
  <p:cSld name="Title Content and 2 Content">
    <p:spTree>
      <p:nvGrpSpPr>
        <p:cNvPr id="1" name=""/>
        <p:cNvGrpSpPr/>
        <p:nvPr/>
      </p:nvGrpSpPr>
      <p:grpSpPr>
        <a:xfrm>
          <a:off x="0" y="0"/>
          <a:ext cx="0" cy="0"/>
          <a:chOff x="0" y="0"/>
          <a:chExt cx="0" cy="0"/>
        </a:xfrm>
      </p:grpSpPr>
      <p:sp>
        <p:nvSpPr>
          <p:cNvPr id="18" name="PlaceHolder 1"/>
          <p:cNvSpPr>
            <a:spLocks noGrp="1"/>
          </p:cNvSpPr>
          <p:nvPr>
            <p:ph type="title"/>
          </p:nvPr>
        </p:nvSpPr>
        <p:spPr>
          <a:xfrm>
            <a:off x="1134000" y="3499560"/>
            <a:ext cx="12850920" cy="7444440"/>
          </a:xfrm>
          <a:prstGeom prst="rect">
            <a:avLst/>
          </a:prstGeom>
        </p:spPr>
        <p:txBody>
          <a:bodyPr lIns="0" tIns="0" rIns="0" bIns="0" anchor="ctr">
            <a:noAutofit/>
          </a:bodyPr>
          <a:lstStyle/>
          <a:p>
            <a:endParaRPr lang="en-US" sz="1800" b="0" strike="noStrike" spc="-1">
              <a:solidFill>
                <a:srgbClr val="000000"/>
              </a:solidFill>
              <a:latin typeface="Aptos"/>
            </a:endParaRPr>
          </a:p>
        </p:txBody>
      </p:sp>
      <p:sp>
        <p:nvSpPr>
          <p:cNvPr id="19" name="PlaceHolder 2"/>
          <p:cNvSpPr>
            <a:spLocks noGrp="1"/>
          </p:cNvSpPr>
          <p:nvPr>
            <p:ph type="body"/>
          </p:nvPr>
        </p:nvSpPr>
        <p:spPr>
          <a:xfrm>
            <a:off x="755640" y="5003640"/>
            <a:ext cx="6639840" cy="12402000"/>
          </a:xfrm>
          <a:prstGeom prst="rect">
            <a:avLst/>
          </a:prstGeom>
        </p:spPr>
        <p:txBody>
          <a:bodyPr lIns="0" tIns="0" rIns="0" bIns="0">
            <a:normAutofit/>
          </a:bodyPr>
          <a:lstStyle/>
          <a:p>
            <a:endParaRPr lang="en-US" sz="4630" b="0" strike="noStrike" spc="-1">
              <a:solidFill>
                <a:srgbClr val="000000"/>
              </a:solidFill>
              <a:latin typeface="Aptos"/>
            </a:endParaRPr>
          </a:p>
        </p:txBody>
      </p:sp>
      <p:sp>
        <p:nvSpPr>
          <p:cNvPr id="20" name="PlaceHolder 3"/>
          <p:cNvSpPr>
            <a:spLocks noGrp="1"/>
          </p:cNvSpPr>
          <p:nvPr>
            <p:ph type="body"/>
          </p:nvPr>
        </p:nvSpPr>
        <p:spPr>
          <a:xfrm>
            <a:off x="7727760" y="5003640"/>
            <a:ext cx="6639840" cy="5915520"/>
          </a:xfrm>
          <a:prstGeom prst="rect">
            <a:avLst/>
          </a:prstGeom>
        </p:spPr>
        <p:txBody>
          <a:bodyPr lIns="0" tIns="0" rIns="0" bIns="0">
            <a:normAutofit/>
          </a:bodyPr>
          <a:lstStyle/>
          <a:p>
            <a:endParaRPr lang="en-US" sz="4630" b="0" strike="noStrike" spc="-1">
              <a:solidFill>
                <a:srgbClr val="000000"/>
              </a:solidFill>
              <a:latin typeface="Aptos"/>
            </a:endParaRPr>
          </a:p>
        </p:txBody>
      </p:sp>
      <p:sp>
        <p:nvSpPr>
          <p:cNvPr id="21" name="PlaceHolder 4"/>
          <p:cNvSpPr>
            <a:spLocks noGrp="1"/>
          </p:cNvSpPr>
          <p:nvPr>
            <p:ph type="body"/>
          </p:nvPr>
        </p:nvSpPr>
        <p:spPr>
          <a:xfrm>
            <a:off x="7727760" y="11481480"/>
            <a:ext cx="6639840" cy="5915520"/>
          </a:xfrm>
          <a:prstGeom prst="rect">
            <a:avLst/>
          </a:prstGeom>
        </p:spPr>
        <p:txBody>
          <a:bodyPr lIns="0" tIns="0" rIns="0" bIns="0">
            <a:normAutofit/>
          </a:bodyPr>
          <a:lstStyle/>
          <a:p>
            <a:endParaRPr lang="en-US" sz="4630" b="0" strike="noStrike" spc="-1">
              <a:solidFill>
                <a:srgbClr val="000000"/>
              </a:solidFill>
              <a:latin typeface="Aptos"/>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woObjOverTx" preserve="1">
  <p:cSld name="Title, 2 Content over Content">
    <p:spTree>
      <p:nvGrpSpPr>
        <p:cNvPr id="1" name=""/>
        <p:cNvGrpSpPr/>
        <p:nvPr/>
      </p:nvGrpSpPr>
      <p:grpSpPr>
        <a:xfrm>
          <a:off x="0" y="0"/>
          <a:ext cx="0" cy="0"/>
          <a:chOff x="0" y="0"/>
          <a:chExt cx="0" cy="0"/>
        </a:xfrm>
      </p:grpSpPr>
      <p:sp>
        <p:nvSpPr>
          <p:cNvPr id="22" name="PlaceHolder 1"/>
          <p:cNvSpPr>
            <a:spLocks noGrp="1"/>
          </p:cNvSpPr>
          <p:nvPr>
            <p:ph type="title"/>
          </p:nvPr>
        </p:nvSpPr>
        <p:spPr>
          <a:xfrm>
            <a:off x="1134000" y="3499560"/>
            <a:ext cx="12850920" cy="7444440"/>
          </a:xfrm>
          <a:prstGeom prst="rect">
            <a:avLst/>
          </a:prstGeom>
        </p:spPr>
        <p:txBody>
          <a:bodyPr lIns="0" tIns="0" rIns="0" bIns="0" anchor="ctr">
            <a:noAutofit/>
          </a:bodyPr>
          <a:lstStyle/>
          <a:p>
            <a:endParaRPr lang="en-US" sz="1800" b="0" strike="noStrike" spc="-1">
              <a:solidFill>
                <a:srgbClr val="000000"/>
              </a:solidFill>
              <a:latin typeface="Aptos"/>
            </a:endParaRPr>
          </a:p>
        </p:txBody>
      </p:sp>
      <p:sp>
        <p:nvSpPr>
          <p:cNvPr id="23" name="PlaceHolder 2"/>
          <p:cNvSpPr>
            <a:spLocks noGrp="1"/>
          </p:cNvSpPr>
          <p:nvPr>
            <p:ph type="body"/>
          </p:nvPr>
        </p:nvSpPr>
        <p:spPr>
          <a:xfrm>
            <a:off x="755640" y="5003640"/>
            <a:ext cx="6639840" cy="5915520"/>
          </a:xfrm>
          <a:prstGeom prst="rect">
            <a:avLst/>
          </a:prstGeom>
        </p:spPr>
        <p:txBody>
          <a:bodyPr lIns="0" tIns="0" rIns="0" bIns="0">
            <a:normAutofit/>
          </a:bodyPr>
          <a:lstStyle/>
          <a:p>
            <a:endParaRPr lang="en-US" sz="4630" b="0" strike="noStrike" spc="-1">
              <a:solidFill>
                <a:srgbClr val="000000"/>
              </a:solidFill>
              <a:latin typeface="Aptos"/>
            </a:endParaRPr>
          </a:p>
        </p:txBody>
      </p:sp>
      <p:sp>
        <p:nvSpPr>
          <p:cNvPr id="24" name="PlaceHolder 3"/>
          <p:cNvSpPr>
            <a:spLocks noGrp="1"/>
          </p:cNvSpPr>
          <p:nvPr>
            <p:ph type="body"/>
          </p:nvPr>
        </p:nvSpPr>
        <p:spPr>
          <a:xfrm>
            <a:off x="7727760" y="5003640"/>
            <a:ext cx="6639840" cy="5915520"/>
          </a:xfrm>
          <a:prstGeom prst="rect">
            <a:avLst/>
          </a:prstGeom>
        </p:spPr>
        <p:txBody>
          <a:bodyPr lIns="0" tIns="0" rIns="0" bIns="0">
            <a:normAutofit/>
          </a:bodyPr>
          <a:lstStyle/>
          <a:p>
            <a:endParaRPr lang="en-US" sz="4630" b="0" strike="noStrike" spc="-1">
              <a:solidFill>
                <a:srgbClr val="000000"/>
              </a:solidFill>
              <a:latin typeface="Aptos"/>
            </a:endParaRPr>
          </a:p>
        </p:txBody>
      </p:sp>
      <p:sp>
        <p:nvSpPr>
          <p:cNvPr id="25" name="PlaceHolder 4"/>
          <p:cNvSpPr>
            <a:spLocks noGrp="1"/>
          </p:cNvSpPr>
          <p:nvPr>
            <p:ph type="body"/>
          </p:nvPr>
        </p:nvSpPr>
        <p:spPr>
          <a:xfrm>
            <a:off x="755640" y="11481480"/>
            <a:ext cx="13606920" cy="5915520"/>
          </a:xfrm>
          <a:prstGeom prst="rect">
            <a:avLst/>
          </a:prstGeom>
        </p:spPr>
        <p:txBody>
          <a:bodyPr lIns="0" tIns="0" rIns="0" bIns="0">
            <a:normAutofit/>
          </a:bodyPr>
          <a:lstStyle/>
          <a:p>
            <a:endParaRPr lang="en-US" sz="4630" b="0" strike="noStrike" spc="-1">
              <a:solidFill>
                <a:srgbClr val="000000"/>
              </a:solidFill>
              <a:latin typeface="Aptos"/>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objOverTx" preserve="1">
  <p:cSld name="Title, Content over Content">
    <p:spTree>
      <p:nvGrpSpPr>
        <p:cNvPr id="1" name=""/>
        <p:cNvGrpSpPr/>
        <p:nvPr/>
      </p:nvGrpSpPr>
      <p:grpSpPr>
        <a:xfrm>
          <a:off x="0" y="0"/>
          <a:ext cx="0" cy="0"/>
          <a:chOff x="0" y="0"/>
          <a:chExt cx="0" cy="0"/>
        </a:xfrm>
      </p:grpSpPr>
      <p:sp>
        <p:nvSpPr>
          <p:cNvPr id="26" name="PlaceHolder 1"/>
          <p:cNvSpPr>
            <a:spLocks noGrp="1"/>
          </p:cNvSpPr>
          <p:nvPr>
            <p:ph type="title"/>
          </p:nvPr>
        </p:nvSpPr>
        <p:spPr>
          <a:xfrm>
            <a:off x="1134000" y="3499560"/>
            <a:ext cx="12850920" cy="7444440"/>
          </a:xfrm>
          <a:prstGeom prst="rect">
            <a:avLst/>
          </a:prstGeom>
        </p:spPr>
        <p:txBody>
          <a:bodyPr lIns="0" tIns="0" rIns="0" bIns="0" anchor="ctr">
            <a:noAutofit/>
          </a:bodyPr>
          <a:lstStyle/>
          <a:p>
            <a:endParaRPr lang="en-US" sz="1800" b="0" strike="noStrike" spc="-1">
              <a:solidFill>
                <a:srgbClr val="000000"/>
              </a:solidFill>
              <a:latin typeface="Aptos"/>
            </a:endParaRPr>
          </a:p>
        </p:txBody>
      </p:sp>
      <p:sp>
        <p:nvSpPr>
          <p:cNvPr id="27" name="PlaceHolder 2"/>
          <p:cNvSpPr>
            <a:spLocks noGrp="1"/>
          </p:cNvSpPr>
          <p:nvPr>
            <p:ph type="body"/>
          </p:nvPr>
        </p:nvSpPr>
        <p:spPr>
          <a:xfrm>
            <a:off x="755640" y="5003640"/>
            <a:ext cx="13606920" cy="5915520"/>
          </a:xfrm>
          <a:prstGeom prst="rect">
            <a:avLst/>
          </a:prstGeom>
        </p:spPr>
        <p:txBody>
          <a:bodyPr lIns="0" tIns="0" rIns="0" bIns="0">
            <a:normAutofit/>
          </a:bodyPr>
          <a:lstStyle/>
          <a:p>
            <a:endParaRPr lang="en-US" sz="4630" b="0" strike="noStrike" spc="-1">
              <a:solidFill>
                <a:srgbClr val="000000"/>
              </a:solidFill>
              <a:latin typeface="Aptos"/>
            </a:endParaRPr>
          </a:p>
        </p:txBody>
      </p:sp>
      <p:sp>
        <p:nvSpPr>
          <p:cNvPr id="28" name="PlaceHolder 3"/>
          <p:cNvSpPr>
            <a:spLocks noGrp="1"/>
          </p:cNvSpPr>
          <p:nvPr>
            <p:ph type="body"/>
          </p:nvPr>
        </p:nvSpPr>
        <p:spPr>
          <a:xfrm>
            <a:off x="755640" y="11481480"/>
            <a:ext cx="13606920" cy="5915520"/>
          </a:xfrm>
          <a:prstGeom prst="rect">
            <a:avLst/>
          </a:prstGeom>
        </p:spPr>
        <p:txBody>
          <a:bodyPr lIns="0" tIns="0" rIns="0" bIns="0">
            <a:normAutofit/>
          </a:bodyPr>
          <a:lstStyle/>
          <a:p>
            <a:endParaRPr lang="en-US" sz="4630" b="0" strike="noStrike" spc="-1">
              <a:solidFill>
                <a:srgbClr val="000000"/>
              </a:solidFill>
              <a:latin typeface="Aptos"/>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fourObj" preserve="1">
  <p:cSld name="Title, 4 Content">
    <p:spTree>
      <p:nvGrpSpPr>
        <p:cNvPr id="1" name=""/>
        <p:cNvGrpSpPr/>
        <p:nvPr/>
      </p:nvGrpSpPr>
      <p:grpSpPr>
        <a:xfrm>
          <a:off x="0" y="0"/>
          <a:ext cx="0" cy="0"/>
          <a:chOff x="0" y="0"/>
          <a:chExt cx="0" cy="0"/>
        </a:xfrm>
      </p:grpSpPr>
      <p:sp>
        <p:nvSpPr>
          <p:cNvPr id="29" name="PlaceHolder 1"/>
          <p:cNvSpPr>
            <a:spLocks noGrp="1"/>
          </p:cNvSpPr>
          <p:nvPr>
            <p:ph type="title"/>
          </p:nvPr>
        </p:nvSpPr>
        <p:spPr>
          <a:xfrm>
            <a:off x="1134000" y="3499560"/>
            <a:ext cx="12850920" cy="7444440"/>
          </a:xfrm>
          <a:prstGeom prst="rect">
            <a:avLst/>
          </a:prstGeom>
        </p:spPr>
        <p:txBody>
          <a:bodyPr lIns="0" tIns="0" rIns="0" bIns="0" anchor="ctr">
            <a:noAutofit/>
          </a:bodyPr>
          <a:lstStyle/>
          <a:p>
            <a:endParaRPr lang="en-US" sz="1800" b="0" strike="noStrike" spc="-1">
              <a:solidFill>
                <a:srgbClr val="000000"/>
              </a:solidFill>
              <a:latin typeface="Aptos"/>
            </a:endParaRPr>
          </a:p>
        </p:txBody>
      </p:sp>
      <p:sp>
        <p:nvSpPr>
          <p:cNvPr id="30" name="PlaceHolder 2"/>
          <p:cNvSpPr>
            <a:spLocks noGrp="1"/>
          </p:cNvSpPr>
          <p:nvPr>
            <p:ph type="body"/>
          </p:nvPr>
        </p:nvSpPr>
        <p:spPr>
          <a:xfrm>
            <a:off x="755640" y="5003640"/>
            <a:ext cx="6639840" cy="5915520"/>
          </a:xfrm>
          <a:prstGeom prst="rect">
            <a:avLst/>
          </a:prstGeom>
        </p:spPr>
        <p:txBody>
          <a:bodyPr lIns="0" tIns="0" rIns="0" bIns="0">
            <a:normAutofit/>
          </a:bodyPr>
          <a:lstStyle/>
          <a:p>
            <a:endParaRPr lang="en-US" sz="4630" b="0" strike="noStrike" spc="-1">
              <a:solidFill>
                <a:srgbClr val="000000"/>
              </a:solidFill>
              <a:latin typeface="Aptos"/>
            </a:endParaRPr>
          </a:p>
        </p:txBody>
      </p:sp>
      <p:sp>
        <p:nvSpPr>
          <p:cNvPr id="31" name="PlaceHolder 3"/>
          <p:cNvSpPr>
            <a:spLocks noGrp="1"/>
          </p:cNvSpPr>
          <p:nvPr>
            <p:ph type="body"/>
          </p:nvPr>
        </p:nvSpPr>
        <p:spPr>
          <a:xfrm>
            <a:off x="7727760" y="5003640"/>
            <a:ext cx="6639840" cy="5915520"/>
          </a:xfrm>
          <a:prstGeom prst="rect">
            <a:avLst/>
          </a:prstGeom>
        </p:spPr>
        <p:txBody>
          <a:bodyPr lIns="0" tIns="0" rIns="0" bIns="0">
            <a:normAutofit/>
          </a:bodyPr>
          <a:lstStyle/>
          <a:p>
            <a:endParaRPr lang="en-US" sz="4630" b="0" strike="noStrike" spc="-1">
              <a:solidFill>
                <a:srgbClr val="000000"/>
              </a:solidFill>
              <a:latin typeface="Aptos"/>
            </a:endParaRPr>
          </a:p>
        </p:txBody>
      </p:sp>
      <p:sp>
        <p:nvSpPr>
          <p:cNvPr id="32" name="PlaceHolder 4"/>
          <p:cNvSpPr>
            <a:spLocks noGrp="1"/>
          </p:cNvSpPr>
          <p:nvPr>
            <p:ph type="body"/>
          </p:nvPr>
        </p:nvSpPr>
        <p:spPr>
          <a:xfrm>
            <a:off x="755640" y="11481480"/>
            <a:ext cx="6639840" cy="5915520"/>
          </a:xfrm>
          <a:prstGeom prst="rect">
            <a:avLst/>
          </a:prstGeom>
        </p:spPr>
        <p:txBody>
          <a:bodyPr lIns="0" tIns="0" rIns="0" bIns="0">
            <a:normAutofit/>
          </a:bodyPr>
          <a:lstStyle/>
          <a:p>
            <a:endParaRPr lang="en-US" sz="4630" b="0" strike="noStrike" spc="-1">
              <a:solidFill>
                <a:srgbClr val="000000"/>
              </a:solidFill>
              <a:latin typeface="Aptos"/>
            </a:endParaRPr>
          </a:p>
        </p:txBody>
      </p:sp>
      <p:sp>
        <p:nvSpPr>
          <p:cNvPr id="33" name="PlaceHolder 5"/>
          <p:cNvSpPr>
            <a:spLocks noGrp="1"/>
          </p:cNvSpPr>
          <p:nvPr>
            <p:ph type="body"/>
          </p:nvPr>
        </p:nvSpPr>
        <p:spPr>
          <a:xfrm>
            <a:off x="7727760" y="11481480"/>
            <a:ext cx="6639840" cy="5915520"/>
          </a:xfrm>
          <a:prstGeom prst="rect">
            <a:avLst/>
          </a:prstGeom>
        </p:spPr>
        <p:txBody>
          <a:bodyPr lIns="0" tIns="0" rIns="0" bIns="0">
            <a:normAutofit/>
          </a:bodyPr>
          <a:lstStyle/>
          <a:p>
            <a:endParaRPr lang="en-US" sz="4630" b="0" strike="noStrike" spc="-1">
              <a:solidFill>
                <a:srgbClr val="000000"/>
              </a:solidFill>
              <a:latin typeface="Aptos"/>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Title, 6 Content">
    <p:spTree>
      <p:nvGrpSpPr>
        <p:cNvPr id="1" name=""/>
        <p:cNvGrpSpPr/>
        <p:nvPr/>
      </p:nvGrpSpPr>
      <p:grpSpPr>
        <a:xfrm>
          <a:off x="0" y="0"/>
          <a:ext cx="0" cy="0"/>
          <a:chOff x="0" y="0"/>
          <a:chExt cx="0" cy="0"/>
        </a:xfrm>
      </p:grpSpPr>
      <p:sp>
        <p:nvSpPr>
          <p:cNvPr id="34" name="PlaceHolder 1"/>
          <p:cNvSpPr>
            <a:spLocks noGrp="1"/>
          </p:cNvSpPr>
          <p:nvPr>
            <p:ph type="title"/>
          </p:nvPr>
        </p:nvSpPr>
        <p:spPr>
          <a:xfrm>
            <a:off x="1134000" y="3499560"/>
            <a:ext cx="12850920" cy="7444440"/>
          </a:xfrm>
          <a:prstGeom prst="rect">
            <a:avLst/>
          </a:prstGeom>
        </p:spPr>
        <p:txBody>
          <a:bodyPr lIns="0" tIns="0" rIns="0" bIns="0" anchor="ctr">
            <a:noAutofit/>
          </a:bodyPr>
          <a:lstStyle/>
          <a:p>
            <a:endParaRPr lang="en-US" sz="1800" b="0" strike="noStrike" spc="-1">
              <a:solidFill>
                <a:srgbClr val="000000"/>
              </a:solidFill>
              <a:latin typeface="Aptos"/>
            </a:endParaRPr>
          </a:p>
        </p:txBody>
      </p:sp>
      <p:sp>
        <p:nvSpPr>
          <p:cNvPr id="35" name="PlaceHolder 2"/>
          <p:cNvSpPr>
            <a:spLocks noGrp="1"/>
          </p:cNvSpPr>
          <p:nvPr>
            <p:ph type="body"/>
          </p:nvPr>
        </p:nvSpPr>
        <p:spPr>
          <a:xfrm>
            <a:off x="755640" y="5003640"/>
            <a:ext cx="4381200" cy="5915520"/>
          </a:xfrm>
          <a:prstGeom prst="rect">
            <a:avLst/>
          </a:prstGeom>
        </p:spPr>
        <p:txBody>
          <a:bodyPr lIns="0" tIns="0" rIns="0" bIns="0">
            <a:normAutofit/>
          </a:bodyPr>
          <a:lstStyle/>
          <a:p>
            <a:endParaRPr lang="en-US" sz="4630" b="0" strike="noStrike" spc="-1">
              <a:solidFill>
                <a:srgbClr val="000000"/>
              </a:solidFill>
              <a:latin typeface="Aptos"/>
            </a:endParaRPr>
          </a:p>
        </p:txBody>
      </p:sp>
      <p:sp>
        <p:nvSpPr>
          <p:cNvPr id="36" name="PlaceHolder 3"/>
          <p:cNvSpPr>
            <a:spLocks noGrp="1"/>
          </p:cNvSpPr>
          <p:nvPr>
            <p:ph type="body"/>
          </p:nvPr>
        </p:nvSpPr>
        <p:spPr>
          <a:xfrm>
            <a:off x="5356440" y="5003640"/>
            <a:ext cx="4381200" cy="5915520"/>
          </a:xfrm>
          <a:prstGeom prst="rect">
            <a:avLst/>
          </a:prstGeom>
        </p:spPr>
        <p:txBody>
          <a:bodyPr lIns="0" tIns="0" rIns="0" bIns="0">
            <a:normAutofit/>
          </a:bodyPr>
          <a:lstStyle/>
          <a:p>
            <a:endParaRPr lang="en-US" sz="4630" b="0" strike="noStrike" spc="-1">
              <a:solidFill>
                <a:srgbClr val="000000"/>
              </a:solidFill>
              <a:latin typeface="Aptos"/>
            </a:endParaRPr>
          </a:p>
        </p:txBody>
      </p:sp>
      <p:sp>
        <p:nvSpPr>
          <p:cNvPr id="37" name="PlaceHolder 4"/>
          <p:cNvSpPr>
            <a:spLocks noGrp="1"/>
          </p:cNvSpPr>
          <p:nvPr>
            <p:ph type="body"/>
          </p:nvPr>
        </p:nvSpPr>
        <p:spPr>
          <a:xfrm>
            <a:off x="9956880" y="5003640"/>
            <a:ext cx="4381200" cy="5915520"/>
          </a:xfrm>
          <a:prstGeom prst="rect">
            <a:avLst/>
          </a:prstGeom>
        </p:spPr>
        <p:txBody>
          <a:bodyPr lIns="0" tIns="0" rIns="0" bIns="0">
            <a:normAutofit/>
          </a:bodyPr>
          <a:lstStyle/>
          <a:p>
            <a:endParaRPr lang="en-US" sz="4630" b="0" strike="noStrike" spc="-1">
              <a:solidFill>
                <a:srgbClr val="000000"/>
              </a:solidFill>
              <a:latin typeface="Aptos"/>
            </a:endParaRPr>
          </a:p>
        </p:txBody>
      </p:sp>
      <p:sp>
        <p:nvSpPr>
          <p:cNvPr id="38" name="PlaceHolder 5"/>
          <p:cNvSpPr>
            <a:spLocks noGrp="1"/>
          </p:cNvSpPr>
          <p:nvPr>
            <p:ph type="body"/>
          </p:nvPr>
        </p:nvSpPr>
        <p:spPr>
          <a:xfrm>
            <a:off x="755640" y="11481480"/>
            <a:ext cx="4381200" cy="5915520"/>
          </a:xfrm>
          <a:prstGeom prst="rect">
            <a:avLst/>
          </a:prstGeom>
        </p:spPr>
        <p:txBody>
          <a:bodyPr lIns="0" tIns="0" rIns="0" bIns="0">
            <a:normAutofit/>
          </a:bodyPr>
          <a:lstStyle/>
          <a:p>
            <a:endParaRPr lang="en-US" sz="4630" b="0" strike="noStrike" spc="-1">
              <a:solidFill>
                <a:srgbClr val="000000"/>
              </a:solidFill>
              <a:latin typeface="Aptos"/>
            </a:endParaRPr>
          </a:p>
        </p:txBody>
      </p:sp>
      <p:sp>
        <p:nvSpPr>
          <p:cNvPr id="39" name="PlaceHolder 6"/>
          <p:cNvSpPr>
            <a:spLocks noGrp="1"/>
          </p:cNvSpPr>
          <p:nvPr>
            <p:ph type="body"/>
          </p:nvPr>
        </p:nvSpPr>
        <p:spPr>
          <a:xfrm>
            <a:off x="5356440" y="11481480"/>
            <a:ext cx="4381200" cy="5915520"/>
          </a:xfrm>
          <a:prstGeom prst="rect">
            <a:avLst/>
          </a:prstGeom>
        </p:spPr>
        <p:txBody>
          <a:bodyPr lIns="0" tIns="0" rIns="0" bIns="0">
            <a:normAutofit/>
          </a:bodyPr>
          <a:lstStyle/>
          <a:p>
            <a:endParaRPr lang="en-US" sz="4630" b="0" strike="noStrike" spc="-1">
              <a:solidFill>
                <a:srgbClr val="000000"/>
              </a:solidFill>
              <a:latin typeface="Aptos"/>
            </a:endParaRPr>
          </a:p>
        </p:txBody>
      </p:sp>
      <p:sp>
        <p:nvSpPr>
          <p:cNvPr id="40" name="PlaceHolder 7"/>
          <p:cNvSpPr>
            <a:spLocks noGrp="1"/>
          </p:cNvSpPr>
          <p:nvPr>
            <p:ph type="body"/>
          </p:nvPr>
        </p:nvSpPr>
        <p:spPr>
          <a:xfrm>
            <a:off x="9956880" y="11481480"/>
            <a:ext cx="4381200" cy="5915520"/>
          </a:xfrm>
          <a:prstGeom prst="rect">
            <a:avLst/>
          </a:prstGeom>
        </p:spPr>
        <p:txBody>
          <a:bodyPr lIns="0" tIns="0" rIns="0" bIns="0">
            <a:normAutofit/>
          </a:bodyPr>
          <a:lstStyle/>
          <a:p>
            <a:endParaRPr lang="en-US" sz="4630" b="0" strike="noStrike" spc="-1">
              <a:solidFill>
                <a:srgbClr val="000000"/>
              </a:solidFill>
              <a:latin typeface="Aptos"/>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 name="PlaceHolder 1"/>
          <p:cNvSpPr>
            <a:spLocks noGrp="1"/>
          </p:cNvSpPr>
          <p:nvPr>
            <p:ph type="title"/>
          </p:nvPr>
        </p:nvSpPr>
        <p:spPr>
          <a:xfrm>
            <a:off x="1134000" y="3499560"/>
            <a:ext cx="12850920" cy="7444440"/>
          </a:xfrm>
          <a:prstGeom prst="rect">
            <a:avLst/>
          </a:prstGeom>
        </p:spPr>
        <p:txBody>
          <a:bodyPr anchor="b">
            <a:noAutofit/>
          </a:bodyPr>
          <a:lstStyle/>
          <a:p>
            <a:pPr algn="ctr">
              <a:lnSpc>
                <a:spcPct val="90000"/>
              </a:lnSpc>
            </a:pPr>
            <a:r>
              <a:rPr lang="es-ES" sz="9920" b="0" strike="noStrike" spc="-1">
                <a:solidFill>
                  <a:srgbClr val="000000"/>
                </a:solidFill>
                <a:latin typeface="Aptos Display"/>
              </a:rPr>
              <a:t>Haga clic para modificar el estilo de título del patrón</a:t>
            </a:r>
            <a:endParaRPr lang="en-US" sz="9920" b="0" strike="noStrike" spc="-1">
              <a:solidFill>
                <a:srgbClr val="000000"/>
              </a:solidFill>
              <a:latin typeface="Aptos"/>
            </a:endParaRPr>
          </a:p>
        </p:txBody>
      </p:sp>
      <p:sp>
        <p:nvSpPr>
          <p:cNvPr id="6" name="PlaceHolder 2"/>
          <p:cNvSpPr>
            <a:spLocks noGrp="1"/>
          </p:cNvSpPr>
          <p:nvPr>
            <p:ph type="dt"/>
          </p:nvPr>
        </p:nvSpPr>
        <p:spPr>
          <a:xfrm>
            <a:off x="1039320" y="19819440"/>
            <a:ext cx="3401640" cy="1137960"/>
          </a:xfrm>
          <a:prstGeom prst="rect">
            <a:avLst/>
          </a:prstGeom>
        </p:spPr>
        <p:txBody>
          <a:bodyPr anchor="ctr">
            <a:noAutofit/>
          </a:bodyPr>
          <a:lstStyle/>
          <a:p>
            <a:pPr>
              <a:lnSpc>
                <a:spcPct val="100000"/>
              </a:lnSpc>
            </a:pPr>
            <a:fld id="{9F1400D3-169B-4160-ACBD-F5964F8D1484}" type="datetime">
              <a:rPr lang="es-ES_tradnl" sz="1990" b="0" strike="noStrike" spc="-1">
                <a:solidFill>
                  <a:srgbClr val="787878"/>
                </a:solidFill>
                <a:latin typeface="Aptos"/>
              </a:rPr>
              <a:t>01/02/2026</a:t>
            </a:fld>
            <a:endParaRPr lang="es-ES" sz="1990" b="0" strike="noStrike" spc="-1">
              <a:latin typeface="Times New Roman"/>
            </a:endParaRPr>
          </a:p>
        </p:txBody>
      </p:sp>
      <p:sp>
        <p:nvSpPr>
          <p:cNvPr id="2" name="PlaceHolder 3"/>
          <p:cNvSpPr>
            <a:spLocks noGrp="1"/>
          </p:cNvSpPr>
          <p:nvPr>
            <p:ph type="ftr"/>
          </p:nvPr>
        </p:nvSpPr>
        <p:spPr>
          <a:xfrm>
            <a:off x="5008320" y="19819440"/>
            <a:ext cx="5102280" cy="1137960"/>
          </a:xfrm>
          <a:prstGeom prst="rect">
            <a:avLst/>
          </a:prstGeom>
        </p:spPr>
        <p:txBody>
          <a:bodyPr anchor="ctr">
            <a:noAutofit/>
          </a:bodyPr>
          <a:lstStyle/>
          <a:p>
            <a:endParaRPr lang="es-ES" sz="2400" b="0" strike="noStrike" spc="-1">
              <a:latin typeface="Times New Roman"/>
            </a:endParaRPr>
          </a:p>
        </p:txBody>
      </p:sp>
      <p:sp>
        <p:nvSpPr>
          <p:cNvPr id="3" name="PlaceHolder 4"/>
          <p:cNvSpPr>
            <a:spLocks noGrp="1"/>
          </p:cNvSpPr>
          <p:nvPr>
            <p:ph type="sldNum"/>
          </p:nvPr>
        </p:nvSpPr>
        <p:spPr>
          <a:xfrm>
            <a:off x="10677960" y="19819440"/>
            <a:ext cx="3401640" cy="1137960"/>
          </a:xfrm>
          <a:prstGeom prst="rect">
            <a:avLst/>
          </a:prstGeom>
        </p:spPr>
        <p:txBody>
          <a:bodyPr anchor="ctr">
            <a:noAutofit/>
          </a:bodyPr>
          <a:lstStyle/>
          <a:p>
            <a:pPr algn="r">
              <a:lnSpc>
                <a:spcPct val="100000"/>
              </a:lnSpc>
            </a:pPr>
            <a:fld id="{C6142E2D-8A08-4215-B761-B0383F04405C}" type="slidenum">
              <a:rPr lang="es-ES_tradnl" sz="1990" b="0" strike="noStrike" spc="-1">
                <a:solidFill>
                  <a:srgbClr val="787878"/>
                </a:solidFill>
                <a:latin typeface="Aptos"/>
              </a:rPr>
              <a:t>‹Nº›</a:t>
            </a:fld>
            <a:endParaRPr lang="es-ES" sz="1990" b="0" strike="noStrike" spc="-1">
              <a:latin typeface="Times New Roman"/>
            </a:endParaRPr>
          </a:p>
        </p:txBody>
      </p:sp>
      <p:sp>
        <p:nvSpPr>
          <p:cNvPr id="4" name="PlaceHolder 5"/>
          <p:cNvSpPr>
            <a:spLocks noGrp="1"/>
          </p:cNvSpPr>
          <p:nvPr>
            <p:ph type="body"/>
          </p:nvPr>
        </p:nvSpPr>
        <p:spPr>
          <a:xfrm>
            <a:off x="755640" y="5003640"/>
            <a:ext cx="13606920" cy="12402000"/>
          </a:xfrm>
          <a:prstGeom prst="rect">
            <a:avLst/>
          </a:prstGeom>
        </p:spPr>
        <p:txBody>
          <a:bodyPr lIns="0" tIns="0" rIns="0" bIns="0">
            <a:normAutofit/>
          </a:bodyPr>
          <a:lstStyle/>
          <a:p>
            <a:pPr marL="432000" indent="-324000">
              <a:spcBef>
                <a:spcPts val="1417"/>
              </a:spcBef>
              <a:buClr>
                <a:srgbClr val="000000"/>
              </a:buClr>
              <a:buSzPct val="45000"/>
              <a:buFont typeface="Wingdings" charset="2"/>
              <a:buChar char=""/>
            </a:pPr>
            <a:r>
              <a:rPr lang="en-US" sz="4630" b="0" strike="noStrike" spc="-1">
                <a:solidFill>
                  <a:srgbClr val="000000"/>
                </a:solidFill>
                <a:latin typeface="Aptos"/>
              </a:rPr>
              <a:t>Pulse para editar el formato de texto del esquema</a:t>
            </a:r>
          </a:p>
          <a:p>
            <a:pPr marL="864000" lvl="1" indent="-324000">
              <a:spcBef>
                <a:spcPts val="1134"/>
              </a:spcBef>
              <a:buClr>
                <a:srgbClr val="000000"/>
              </a:buClr>
              <a:buSzPct val="75000"/>
              <a:buFont typeface="Symbol" charset="2"/>
              <a:buChar char=""/>
            </a:pPr>
            <a:r>
              <a:rPr lang="en-US" sz="3309" b="0" strike="noStrike" spc="-1">
                <a:solidFill>
                  <a:srgbClr val="000000"/>
                </a:solidFill>
                <a:latin typeface="Aptos"/>
              </a:rPr>
              <a:t>Segundo nivel del esquema</a:t>
            </a:r>
          </a:p>
          <a:p>
            <a:pPr marL="1296000" lvl="2" indent="-288000">
              <a:spcBef>
                <a:spcPts val="850"/>
              </a:spcBef>
              <a:buClr>
                <a:srgbClr val="000000"/>
              </a:buClr>
              <a:buSzPct val="45000"/>
              <a:buFont typeface="Wingdings" charset="2"/>
              <a:buChar char=""/>
            </a:pPr>
            <a:r>
              <a:rPr lang="en-US" sz="2980" b="0" strike="noStrike" spc="-1">
                <a:solidFill>
                  <a:srgbClr val="000000"/>
                </a:solidFill>
                <a:latin typeface="Aptos"/>
              </a:rPr>
              <a:t>Tercer nivel del esquema</a:t>
            </a:r>
          </a:p>
          <a:p>
            <a:pPr marL="1728000" lvl="3" indent="-216000">
              <a:spcBef>
                <a:spcPts val="567"/>
              </a:spcBef>
              <a:buClr>
                <a:srgbClr val="000000"/>
              </a:buClr>
              <a:buSzPct val="75000"/>
              <a:buFont typeface="Symbol" charset="2"/>
              <a:buChar char=""/>
            </a:pPr>
            <a:r>
              <a:rPr lang="en-US" sz="2980" b="0" strike="noStrike" spc="-1">
                <a:solidFill>
                  <a:srgbClr val="000000"/>
                </a:solidFill>
                <a:latin typeface="Aptos"/>
              </a:rPr>
              <a:t>Cuarto nivel del esquema</a:t>
            </a:r>
          </a:p>
          <a:p>
            <a:pPr marL="2160000" lvl="4" indent="-216000">
              <a:spcBef>
                <a:spcPts val="283"/>
              </a:spcBef>
              <a:buClr>
                <a:srgbClr val="000000"/>
              </a:buClr>
              <a:buSzPct val="45000"/>
              <a:buFont typeface="Wingdings" charset="2"/>
              <a:buChar char=""/>
            </a:pPr>
            <a:r>
              <a:rPr lang="en-US" sz="2000" b="0" strike="noStrike" spc="-1">
                <a:solidFill>
                  <a:srgbClr val="000000"/>
                </a:solidFill>
                <a:latin typeface="Aptos"/>
              </a:rPr>
              <a:t>Quinto nivel del esquema</a:t>
            </a:r>
          </a:p>
          <a:p>
            <a:pPr marL="2592000" lvl="5" indent="-216000">
              <a:spcBef>
                <a:spcPts val="283"/>
              </a:spcBef>
              <a:buClr>
                <a:srgbClr val="000000"/>
              </a:buClr>
              <a:buSzPct val="45000"/>
              <a:buFont typeface="Wingdings" charset="2"/>
              <a:buChar char=""/>
            </a:pPr>
            <a:r>
              <a:rPr lang="en-US" sz="2000" b="0" strike="noStrike" spc="-1">
                <a:solidFill>
                  <a:srgbClr val="000000"/>
                </a:solidFill>
                <a:latin typeface="Aptos"/>
              </a:rPr>
              <a:t>Sexto nivel del esquema</a:t>
            </a:r>
          </a:p>
          <a:p>
            <a:pPr marL="3024000" lvl="6" indent="-216000">
              <a:spcBef>
                <a:spcPts val="283"/>
              </a:spcBef>
              <a:buClr>
                <a:srgbClr val="000000"/>
              </a:buClr>
              <a:buSzPct val="45000"/>
              <a:buFont typeface="Wingdings" charset="2"/>
              <a:buChar char=""/>
            </a:pPr>
            <a:r>
              <a:rPr lang="en-US" sz="2000" b="0" strike="noStrike" spc="-1">
                <a:solidFill>
                  <a:srgbClr val="000000"/>
                </a:solidFill>
                <a:latin typeface="Aptos"/>
              </a:rPr>
              <a:t>Séptimo nivel del esquema</a:t>
            </a: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hyperlink" Target="https://mutalyzer.nl/" TargetMode="External"/><Relationship Id="rId13" Type="http://schemas.openxmlformats.org/officeDocument/2006/relationships/image" Target="../media/image2.png"/><Relationship Id="rId3" Type="http://schemas.openxmlformats.org/officeDocument/2006/relationships/hyperlink" Target="https://gnomad.broadinstitute.org/" TargetMode="External"/><Relationship Id="rId7" Type="http://schemas.openxmlformats.org/officeDocument/2006/relationships/hyperlink" Target="https://www.ebi.ac.uk/jdispatcher/msa/clustalo" TargetMode="External"/><Relationship Id="rId12" Type="http://schemas.openxmlformats.org/officeDocument/2006/relationships/image" Target="../media/image1.png"/><Relationship Id="rId2" Type="http://schemas.openxmlformats.org/officeDocument/2006/relationships/hyperlink" Target="https://www.ensembl.org/Tools/VEP" TargetMode="External"/><Relationship Id="rId16" Type="http://schemas.openxmlformats.org/officeDocument/2006/relationships/image" Target="../media/image5.png"/><Relationship Id="rId1" Type="http://schemas.openxmlformats.org/officeDocument/2006/relationships/slideLayout" Target="../slideLayouts/slideLayout2.xml"/><Relationship Id="rId6" Type="http://schemas.openxmlformats.org/officeDocument/2006/relationships/hyperlink" Target="https://www.omim.org/" TargetMode="External"/><Relationship Id="rId11" Type="http://schemas.openxmlformats.org/officeDocument/2006/relationships/hyperlink" Target="https://www.kegg.jp/kegg/kegg2.html" TargetMode="External"/><Relationship Id="rId5" Type="http://schemas.openxmlformats.org/officeDocument/2006/relationships/hyperlink" Target="http://genetics.bwh.harvard.edu/pph2/" TargetMode="External"/><Relationship Id="rId15" Type="http://schemas.openxmlformats.org/officeDocument/2006/relationships/image" Target="../media/image4.png"/><Relationship Id="rId10" Type="http://schemas.openxmlformats.org/officeDocument/2006/relationships/hyperlink" Target="https://www.ebi.ac.uk/interpro/" TargetMode="External"/><Relationship Id="rId4" Type="http://schemas.openxmlformats.org/officeDocument/2006/relationships/hyperlink" Target="https://sift.bii.a-star.edu.sg/" TargetMode="External"/><Relationship Id="rId9" Type="http://schemas.openxmlformats.org/officeDocument/2006/relationships/hyperlink" Target="https://www.uniprot.org/" TargetMode="External"/><Relationship Id="rId14"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p:bg>
      <p:bgPr>
        <a:gradFill rotWithShape="0">
          <a:gsLst>
            <a:gs pos="0">
              <a:srgbClr val="FFFFFF"/>
            </a:gs>
            <a:gs pos="100000">
              <a:srgbClr val="59C2E3">
                <a:alpha val="25098"/>
              </a:srgbClr>
            </a:gs>
          </a:gsLst>
          <a:lin ang="2700000"/>
        </a:gradFill>
        <a:effectLst/>
      </p:bgPr>
    </p:bg>
    <p:spTree>
      <p:nvGrpSpPr>
        <p:cNvPr id="1" name=""/>
        <p:cNvGrpSpPr/>
        <p:nvPr/>
      </p:nvGrpSpPr>
      <p:grpSpPr>
        <a:xfrm>
          <a:off x="0" y="0"/>
          <a:ext cx="0" cy="0"/>
          <a:chOff x="0" y="0"/>
          <a:chExt cx="0" cy="0"/>
        </a:xfrm>
      </p:grpSpPr>
      <p:grpSp>
        <p:nvGrpSpPr>
          <p:cNvPr id="41" name="Group 1"/>
          <p:cNvGrpSpPr/>
          <p:nvPr/>
        </p:nvGrpSpPr>
        <p:grpSpPr>
          <a:xfrm>
            <a:off x="288000" y="3024000"/>
            <a:ext cx="14668560" cy="1504800"/>
            <a:chOff x="288000" y="3024000"/>
            <a:chExt cx="14668560" cy="1504800"/>
          </a:xfrm>
        </p:grpSpPr>
        <p:sp>
          <p:nvSpPr>
            <p:cNvPr id="42" name="CustomShape 2"/>
            <p:cNvSpPr/>
            <p:nvPr/>
          </p:nvSpPr>
          <p:spPr>
            <a:xfrm>
              <a:off x="288000" y="3340800"/>
              <a:ext cx="14668560" cy="1188000"/>
            </a:xfrm>
            <a:prstGeom prst="roundRect">
              <a:avLst>
                <a:gd name="adj" fmla="val 9702"/>
              </a:avLst>
            </a:prstGeom>
            <a:solidFill>
              <a:schemeClr val="bg1"/>
            </a:solidFill>
            <a:ln>
              <a:solidFill>
                <a:schemeClr val="bg2">
                  <a:lumMod val="90000"/>
                </a:schemeClr>
              </a:solidFill>
            </a:ln>
          </p:spPr>
          <p:style>
            <a:lnRef idx="2">
              <a:schemeClr val="accent1">
                <a:shade val="15000"/>
              </a:schemeClr>
            </a:lnRef>
            <a:fillRef idx="1">
              <a:schemeClr val="accent1"/>
            </a:fillRef>
            <a:effectRef idx="0">
              <a:schemeClr val="accent1"/>
            </a:effectRef>
            <a:fontRef idx="minor"/>
          </p:style>
          <p:txBody>
            <a:bodyPr lIns="90000" tIns="360000" rIns="90000" bIns="45000">
              <a:noAutofit/>
            </a:bodyPr>
            <a:lstStyle/>
            <a:p>
              <a:pPr algn="just">
                <a:lnSpc>
                  <a:spcPct val="80000"/>
                </a:lnSpc>
              </a:pPr>
              <a:r>
                <a:rPr lang="es-ES_tradnl" sz="1800" b="0" i="1" strike="noStrike" spc="-1">
                  <a:solidFill>
                    <a:srgbClr val="000000"/>
                  </a:solidFill>
                  <a:latin typeface="Aptos"/>
                </a:rPr>
                <a:t>La obesidad, o acumulación excesiva de grasa corporal, causa graves problemas de salud y enfermedades crónicas. Como caso de estudio, se han estudiado las variantes genéticas en diferentes miembros de la familia Simpson para establecer la posible relación de esta patología con alteraciones a nivel genético.</a:t>
              </a:r>
              <a:endParaRPr lang="es-ES" sz="1800" b="0" strike="noStrike" spc="-1">
                <a:latin typeface="Arial"/>
              </a:endParaRPr>
            </a:p>
          </p:txBody>
        </p:sp>
        <p:sp>
          <p:nvSpPr>
            <p:cNvPr id="43" name="CustomShape 3"/>
            <p:cNvSpPr/>
            <p:nvPr/>
          </p:nvSpPr>
          <p:spPr>
            <a:xfrm>
              <a:off x="581040" y="3024000"/>
              <a:ext cx="5837760" cy="632520"/>
            </a:xfrm>
            <a:prstGeom prst="roundRect">
              <a:avLst>
                <a:gd name="adj" fmla="val 16667"/>
              </a:avLst>
            </a:prstGeom>
            <a:gradFill rotWithShape="0">
              <a:gsLst>
                <a:gs pos="0">
                  <a:srgbClr val="59C2E3"/>
                </a:gs>
                <a:gs pos="100000">
                  <a:srgbClr val="4196C9"/>
                </a:gs>
              </a:gsLst>
              <a:lin ang="2700000"/>
            </a:grad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a:lnSpc>
                  <a:spcPct val="100000"/>
                </a:lnSpc>
              </a:pPr>
              <a:r>
                <a:rPr lang="es-ES_tradnl" sz="2800" b="1" strike="noStrike" spc="-1">
                  <a:solidFill>
                    <a:srgbClr val="FFFFFF"/>
                  </a:solidFill>
                  <a:latin typeface="Aptos"/>
                </a:rPr>
                <a:t>INTRODUCCIÓN</a:t>
              </a:r>
              <a:endParaRPr lang="es-ES" sz="2800" b="0" strike="noStrike" spc="-1">
                <a:latin typeface="Arial"/>
              </a:endParaRPr>
            </a:p>
          </p:txBody>
        </p:sp>
      </p:grpSp>
      <p:grpSp>
        <p:nvGrpSpPr>
          <p:cNvPr id="44" name="Group 4"/>
          <p:cNvGrpSpPr/>
          <p:nvPr/>
        </p:nvGrpSpPr>
        <p:grpSpPr>
          <a:xfrm>
            <a:off x="207720" y="4630680"/>
            <a:ext cx="14668560" cy="1921320"/>
            <a:chOff x="207720" y="4630680"/>
            <a:chExt cx="14668560" cy="1921320"/>
          </a:xfrm>
        </p:grpSpPr>
        <p:sp>
          <p:nvSpPr>
            <p:cNvPr id="45" name="CustomShape 5"/>
            <p:cNvSpPr/>
            <p:nvPr/>
          </p:nvSpPr>
          <p:spPr>
            <a:xfrm>
              <a:off x="207720" y="4875840"/>
              <a:ext cx="14668560" cy="1676160"/>
            </a:xfrm>
            <a:prstGeom prst="roundRect">
              <a:avLst>
                <a:gd name="adj" fmla="val 9702"/>
              </a:avLst>
            </a:prstGeom>
            <a:solidFill>
              <a:schemeClr val="bg1"/>
            </a:solidFill>
            <a:ln>
              <a:solidFill>
                <a:schemeClr val="bg2">
                  <a:lumMod val="90000"/>
                </a:schemeClr>
              </a:solidFill>
            </a:ln>
          </p:spPr>
          <p:style>
            <a:lnRef idx="2">
              <a:schemeClr val="accent1">
                <a:shade val="15000"/>
              </a:schemeClr>
            </a:lnRef>
            <a:fillRef idx="1">
              <a:schemeClr val="accent1"/>
            </a:fillRef>
            <a:effectRef idx="0">
              <a:schemeClr val="accent1"/>
            </a:effectRef>
            <a:fontRef idx="minor"/>
          </p:style>
          <p:txBody>
            <a:bodyPr lIns="90000" tIns="360000" rIns="90000" bIns="45000">
              <a:noAutofit/>
            </a:bodyPr>
            <a:lstStyle/>
            <a:p>
              <a:pPr algn="just">
                <a:lnSpc>
                  <a:spcPct val="80000"/>
                </a:lnSpc>
              </a:pPr>
              <a:r>
                <a:rPr lang="es-ES_tradnl" sz="1700" b="0" i="1" strike="noStrike" spc="-1">
                  <a:solidFill>
                    <a:srgbClr val="000000"/>
                  </a:solidFill>
                  <a:latin typeface="Aptos"/>
                </a:rPr>
                <a:t>Se analizaron tres variantes de Abraham y Maggie Simpson con </a:t>
              </a:r>
              <a:r>
                <a:rPr lang="es-ES_tradnl" sz="1700" b="0" i="1" u="sng" strike="noStrike" spc="-1">
                  <a:solidFill>
                    <a:srgbClr val="467886"/>
                  </a:solidFill>
                  <a:uFillTx/>
                  <a:latin typeface="Aptos"/>
                  <a:hlinkClick r:id="rId2"/>
                </a:rPr>
                <a:t>VEP</a:t>
              </a:r>
              <a:r>
                <a:rPr lang="es-ES_tradnl" sz="1700" b="0" i="1" strike="noStrike" spc="-1">
                  <a:solidFill>
                    <a:srgbClr val="000000"/>
                  </a:solidFill>
                  <a:latin typeface="Aptos"/>
                </a:rPr>
                <a:t>. Se exploraron la prevalencia en la población con </a:t>
              </a:r>
              <a:r>
                <a:rPr lang="es-ES_tradnl" sz="1700" b="0" i="1" u="sng" strike="noStrike" spc="-1">
                  <a:solidFill>
                    <a:srgbClr val="467886"/>
                  </a:solidFill>
                  <a:uFillTx/>
                  <a:latin typeface="Aptos"/>
                  <a:hlinkClick r:id="rId3"/>
                </a:rPr>
                <a:t>gnomAD</a:t>
              </a:r>
              <a:r>
                <a:rPr lang="es-ES_tradnl" sz="1700" b="0" i="1" strike="noStrike" spc="-1">
                  <a:solidFill>
                    <a:srgbClr val="000000"/>
                  </a:solidFill>
                  <a:latin typeface="Aptos"/>
                </a:rPr>
                <a:t>; y su patogenicidad con </a:t>
              </a:r>
              <a:r>
                <a:rPr lang="es-ES_tradnl" sz="1700" b="0" i="1" u="sng" strike="noStrike" spc="-1">
                  <a:solidFill>
                    <a:srgbClr val="467886"/>
                  </a:solidFill>
                  <a:uFillTx/>
                  <a:latin typeface="Aptos"/>
                  <a:hlinkClick r:id="rId4"/>
                </a:rPr>
                <a:t>SIFT</a:t>
              </a:r>
              <a:r>
                <a:rPr lang="es-ES_tradnl" sz="1700" b="0" i="1" strike="noStrike" spc="-1">
                  <a:solidFill>
                    <a:srgbClr val="000000"/>
                  </a:solidFill>
                  <a:latin typeface="Aptos"/>
                </a:rPr>
                <a:t>, </a:t>
              </a:r>
              <a:r>
                <a:rPr lang="es-ES_tradnl" sz="1700" b="0" i="1" u="sng" strike="noStrike" spc="-1">
                  <a:solidFill>
                    <a:srgbClr val="467886"/>
                  </a:solidFill>
                  <a:uFillTx/>
                  <a:latin typeface="Aptos"/>
                  <a:hlinkClick r:id="rId5"/>
                </a:rPr>
                <a:t>PolyPhen</a:t>
              </a:r>
              <a:r>
                <a:rPr lang="es-ES_tradnl" sz="1700" b="0" i="1" strike="noStrike" spc="-1">
                  <a:solidFill>
                    <a:srgbClr val="000000"/>
                  </a:solidFill>
                  <a:latin typeface="Aptos"/>
                </a:rPr>
                <a:t>, y </a:t>
              </a:r>
              <a:r>
                <a:rPr lang="es-ES_tradnl" sz="1700" b="0" i="1" u="sng" strike="noStrike" spc="-1">
                  <a:solidFill>
                    <a:srgbClr val="467886"/>
                  </a:solidFill>
                  <a:uFillTx/>
                  <a:latin typeface="Aptos"/>
                  <a:hlinkClick r:id="rId6"/>
                </a:rPr>
                <a:t>OMIM</a:t>
              </a:r>
              <a:r>
                <a:rPr lang="es-ES_tradnl" sz="1700" b="0" i="1" strike="noStrike" spc="-1">
                  <a:solidFill>
                    <a:srgbClr val="000000"/>
                  </a:solidFill>
                  <a:latin typeface="Aptos"/>
                </a:rPr>
                <a:t>. Las variantes “missense” se analizaron con </a:t>
              </a:r>
              <a:r>
                <a:rPr lang="es-ES_tradnl" sz="1700" b="0" i="1" u="sng" strike="noStrike" spc="-1">
                  <a:solidFill>
                    <a:srgbClr val="467886"/>
                  </a:solidFill>
                  <a:uFillTx/>
                  <a:latin typeface="Aptos"/>
                  <a:hlinkClick r:id="rId7"/>
                </a:rPr>
                <a:t>CLUSTAL omega</a:t>
              </a:r>
              <a:r>
                <a:rPr lang="es-ES_tradnl" sz="1700" b="0" i="1" strike="noStrike" spc="-1">
                  <a:solidFill>
                    <a:srgbClr val="000000"/>
                  </a:solidFill>
                  <a:latin typeface="Aptos"/>
                </a:rPr>
                <a:t> para detectar si la región afectada estaba conservada. Las variantes “frameshift” se analizaron con </a:t>
              </a:r>
              <a:r>
                <a:rPr lang="es-ES_tradnl" sz="1700" b="0" i="1" u="sng" strike="noStrike" spc="-1">
                  <a:solidFill>
                    <a:srgbClr val="467886"/>
                  </a:solidFill>
                  <a:uFillTx/>
                  <a:latin typeface="Aptos"/>
                  <a:hlinkClick r:id="rId8"/>
                </a:rPr>
                <a:t>Mutalyzer</a:t>
              </a:r>
              <a:r>
                <a:rPr lang="es-ES_tradnl" sz="1700" b="0" i="1" strike="noStrike" spc="-1">
                  <a:solidFill>
                    <a:srgbClr val="000000"/>
                  </a:solidFill>
                  <a:latin typeface="Aptos"/>
                </a:rPr>
                <a:t> para comprobar la estructura del la proteína mutada. Consultamos </a:t>
              </a:r>
              <a:r>
                <a:rPr lang="es-ES_tradnl" sz="1700" b="0" i="1" u="sng" strike="noStrike" spc="-1">
                  <a:solidFill>
                    <a:srgbClr val="467886"/>
                  </a:solidFill>
                  <a:uFillTx/>
                  <a:latin typeface="Aptos"/>
                  <a:hlinkClick r:id="rId9"/>
                </a:rPr>
                <a:t>UniProt</a:t>
              </a:r>
              <a:r>
                <a:rPr lang="es-ES_tradnl" sz="1700" b="0" i="1" strike="noStrike" spc="-1">
                  <a:solidFill>
                    <a:srgbClr val="000000"/>
                  </a:solidFill>
                  <a:latin typeface="Aptos"/>
                </a:rPr>
                <a:t> e </a:t>
              </a:r>
              <a:r>
                <a:rPr lang="es-ES_tradnl" sz="1700" b="0" i="1" u="sng" strike="noStrike" spc="-1">
                  <a:solidFill>
                    <a:srgbClr val="467886"/>
                  </a:solidFill>
                  <a:uFillTx/>
                  <a:latin typeface="Aptos"/>
                  <a:hlinkClick r:id="rId10"/>
                </a:rPr>
                <a:t>InterPro</a:t>
              </a:r>
              <a:r>
                <a:rPr lang="es-ES_tradnl" sz="1700" b="0" i="1" strike="noStrike" spc="-1">
                  <a:solidFill>
                    <a:srgbClr val="000000"/>
                  </a:solidFill>
                  <a:latin typeface="Aptos"/>
                </a:rPr>
                <a:t> para comprobar los dominios proteicos afectados en las variantes, y las entradas en </a:t>
              </a:r>
              <a:r>
                <a:rPr lang="es-ES_tradnl" sz="1700" b="0" i="1" u="sng" strike="noStrike" spc="-1">
                  <a:solidFill>
                    <a:srgbClr val="467886"/>
                  </a:solidFill>
                  <a:uFillTx/>
                  <a:latin typeface="Aptos"/>
                  <a:hlinkClick r:id="rId11"/>
                </a:rPr>
                <a:t>KEGG</a:t>
              </a:r>
              <a:r>
                <a:rPr lang="es-ES_tradnl" sz="1700" b="0" i="1" strike="noStrike" spc="-1">
                  <a:solidFill>
                    <a:srgbClr val="000000"/>
                  </a:solidFill>
                  <a:latin typeface="Aptos"/>
                </a:rPr>
                <a:t> de los genes afectados para comprobar en qué rutas metabólicas está implicados.</a:t>
              </a:r>
              <a:endParaRPr lang="es-ES" sz="1700" b="0" strike="noStrike" spc="-1">
                <a:latin typeface="Arial"/>
              </a:endParaRPr>
            </a:p>
          </p:txBody>
        </p:sp>
        <p:sp>
          <p:nvSpPr>
            <p:cNvPr id="46" name="CustomShape 6"/>
            <p:cNvSpPr/>
            <p:nvPr/>
          </p:nvSpPr>
          <p:spPr>
            <a:xfrm>
              <a:off x="500760" y="4630680"/>
              <a:ext cx="5837760" cy="632520"/>
            </a:xfrm>
            <a:prstGeom prst="roundRect">
              <a:avLst>
                <a:gd name="adj" fmla="val 16667"/>
              </a:avLst>
            </a:prstGeom>
            <a:gradFill rotWithShape="0">
              <a:gsLst>
                <a:gs pos="0">
                  <a:srgbClr val="59C2E3"/>
                </a:gs>
                <a:gs pos="100000">
                  <a:srgbClr val="4196C9"/>
                </a:gs>
              </a:gsLst>
              <a:lin ang="2700000"/>
            </a:grad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a:lnSpc>
                  <a:spcPct val="100000"/>
                </a:lnSpc>
              </a:pPr>
              <a:r>
                <a:rPr lang="es-ES_tradnl" sz="2800" b="1" strike="noStrike" spc="-1">
                  <a:solidFill>
                    <a:srgbClr val="FFFFFF"/>
                  </a:solidFill>
                  <a:latin typeface="Aptos"/>
                </a:rPr>
                <a:t>METODOLOGÍA</a:t>
              </a:r>
              <a:endParaRPr lang="es-ES" sz="2800" b="0" strike="noStrike" spc="-1">
                <a:latin typeface="Arial"/>
              </a:endParaRPr>
            </a:p>
          </p:txBody>
        </p:sp>
      </p:grpSp>
      <p:grpSp>
        <p:nvGrpSpPr>
          <p:cNvPr id="47" name="Group 7"/>
          <p:cNvGrpSpPr/>
          <p:nvPr/>
        </p:nvGrpSpPr>
        <p:grpSpPr>
          <a:xfrm>
            <a:off x="144000" y="6552000"/>
            <a:ext cx="14668560" cy="11018520"/>
            <a:chOff x="144000" y="6552000"/>
            <a:chExt cx="14668560" cy="11018520"/>
          </a:xfrm>
        </p:grpSpPr>
        <p:sp>
          <p:nvSpPr>
            <p:cNvPr id="48" name="CustomShape 8"/>
            <p:cNvSpPr/>
            <p:nvPr/>
          </p:nvSpPr>
          <p:spPr>
            <a:xfrm>
              <a:off x="144000" y="6908400"/>
              <a:ext cx="14668560" cy="10662120"/>
            </a:xfrm>
            <a:prstGeom prst="roundRect">
              <a:avLst>
                <a:gd name="adj" fmla="val 1988"/>
              </a:avLst>
            </a:prstGeom>
            <a:solidFill>
              <a:schemeClr val="bg1"/>
            </a:solidFill>
            <a:ln>
              <a:solidFill>
                <a:schemeClr val="bg2">
                  <a:lumMod val="90000"/>
                </a:schemeClr>
              </a:solidFill>
            </a:ln>
          </p:spPr>
          <p:style>
            <a:lnRef idx="2">
              <a:schemeClr val="accent1">
                <a:shade val="15000"/>
              </a:schemeClr>
            </a:lnRef>
            <a:fillRef idx="1">
              <a:schemeClr val="accent1"/>
            </a:fillRef>
            <a:effectRef idx="0">
              <a:schemeClr val="accent1"/>
            </a:effectRef>
            <a:fontRef idx="minor"/>
          </p:style>
        </p:sp>
        <p:sp>
          <p:nvSpPr>
            <p:cNvPr id="49" name="CustomShape 9"/>
            <p:cNvSpPr/>
            <p:nvPr/>
          </p:nvSpPr>
          <p:spPr>
            <a:xfrm>
              <a:off x="437040" y="6552000"/>
              <a:ext cx="5837760" cy="712440"/>
            </a:xfrm>
            <a:prstGeom prst="roundRect">
              <a:avLst>
                <a:gd name="adj" fmla="val 16667"/>
              </a:avLst>
            </a:prstGeom>
            <a:gradFill rotWithShape="0">
              <a:gsLst>
                <a:gs pos="0">
                  <a:srgbClr val="59C2E3"/>
                </a:gs>
                <a:gs pos="100000">
                  <a:srgbClr val="4196C9"/>
                </a:gs>
              </a:gsLst>
              <a:lin ang="2700000"/>
            </a:grad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a:lnSpc>
                  <a:spcPct val="100000"/>
                </a:lnSpc>
              </a:pPr>
              <a:r>
                <a:rPr lang="es-ES_tradnl" sz="2800" b="1" strike="noStrike" spc="-1">
                  <a:solidFill>
                    <a:srgbClr val="FFFFFF"/>
                  </a:solidFill>
                  <a:latin typeface="Aptos"/>
                </a:rPr>
                <a:t>RESULTADOS</a:t>
              </a:r>
              <a:endParaRPr lang="es-ES" sz="2800" b="0" strike="noStrike" spc="-1">
                <a:latin typeface="Arial"/>
              </a:endParaRPr>
            </a:p>
          </p:txBody>
        </p:sp>
      </p:grpSp>
      <p:pic>
        <p:nvPicPr>
          <p:cNvPr id="50" name="Picture 4"/>
          <p:cNvPicPr/>
          <p:nvPr/>
        </p:nvPicPr>
        <p:blipFill>
          <a:blip r:embed="rId12"/>
          <a:stretch/>
        </p:blipFill>
        <p:spPr>
          <a:xfrm>
            <a:off x="12550680" y="-95400"/>
            <a:ext cx="2325600" cy="1400400"/>
          </a:xfrm>
          <a:prstGeom prst="rect">
            <a:avLst/>
          </a:prstGeom>
          <a:ln>
            <a:noFill/>
          </a:ln>
        </p:spPr>
      </p:pic>
      <p:grpSp>
        <p:nvGrpSpPr>
          <p:cNvPr id="51" name="Group 10"/>
          <p:cNvGrpSpPr/>
          <p:nvPr/>
        </p:nvGrpSpPr>
        <p:grpSpPr>
          <a:xfrm>
            <a:off x="0" y="-5760"/>
            <a:ext cx="3396960" cy="2302560"/>
            <a:chOff x="0" y="-5760"/>
            <a:chExt cx="3396960" cy="2302560"/>
          </a:xfrm>
        </p:grpSpPr>
        <p:pic>
          <p:nvPicPr>
            <p:cNvPr id="52" name="Imagen 4"/>
            <p:cNvPicPr/>
            <p:nvPr/>
          </p:nvPicPr>
          <p:blipFill>
            <a:blip r:embed="rId13"/>
            <a:stretch/>
          </p:blipFill>
          <p:spPr>
            <a:xfrm>
              <a:off x="0" y="-5760"/>
              <a:ext cx="3396960" cy="2302560"/>
            </a:xfrm>
            <a:prstGeom prst="rect">
              <a:avLst/>
            </a:prstGeom>
            <a:ln>
              <a:noFill/>
            </a:ln>
          </p:spPr>
        </p:pic>
        <p:sp>
          <p:nvSpPr>
            <p:cNvPr id="53" name="CustomShape 11"/>
            <p:cNvSpPr/>
            <p:nvPr/>
          </p:nvSpPr>
          <p:spPr>
            <a:xfrm>
              <a:off x="677880" y="1086840"/>
              <a:ext cx="1586160" cy="4716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p:style>
        </p:sp>
      </p:grpSp>
      <p:sp>
        <p:nvSpPr>
          <p:cNvPr id="54" name="CustomShape 12"/>
          <p:cNvSpPr/>
          <p:nvPr/>
        </p:nvSpPr>
        <p:spPr>
          <a:xfrm>
            <a:off x="780840" y="1086840"/>
            <a:ext cx="13763160" cy="1793160"/>
          </a:xfrm>
          <a:prstGeom prst="roundRect">
            <a:avLst>
              <a:gd name="adj" fmla="val 9702"/>
            </a:avLst>
          </a:prstGeom>
          <a:solidFill>
            <a:srgbClr val="4196C9"/>
          </a:solidFill>
          <a:ln>
            <a:noFill/>
          </a:ln>
        </p:spPr>
        <p:style>
          <a:lnRef idx="2">
            <a:schemeClr val="accent1">
              <a:shade val="15000"/>
            </a:schemeClr>
          </a:lnRef>
          <a:fillRef idx="1">
            <a:schemeClr val="accent1"/>
          </a:fillRef>
          <a:effectRef idx="0">
            <a:schemeClr val="accent1"/>
          </a:effectRef>
          <a:fontRef idx="minor"/>
        </p:style>
        <p:txBody>
          <a:bodyPr lIns="90000" tIns="46800" rIns="90000" bIns="45000" anchor="ctr">
            <a:noAutofit/>
          </a:bodyPr>
          <a:lstStyle/>
          <a:p>
            <a:pPr algn="ctr">
              <a:lnSpc>
                <a:spcPct val="100000"/>
              </a:lnSpc>
            </a:pPr>
            <a:r>
              <a:rPr lang="es-ES_tradnl" sz="4000" b="1" strike="noStrike" spc="-1">
                <a:solidFill>
                  <a:srgbClr val="FFFFFF"/>
                </a:solidFill>
                <a:latin typeface="Aptos"/>
              </a:rPr>
              <a:t>Anotación e interpretación de variantes</a:t>
            </a:r>
            <a:endParaRPr lang="es-ES" sz="4000" b="0" strike="noStrike" spc="-1">
              <a:latin typeface="Arial"/>
            </a:endParaRPr>
          </a:p>
          <a:p>
            <a:pPr algn="ctr">
              <a:lnSpc>
                <a:spcPct val="80000"/>
              </a:lnSpc>
            </a:pPr>
            <a:r>
              <a:rPr lang="es-ES_tradnl" sz="2800" b="1" i="1" strike="noStrike" spc="-1">
                <a:solidFill>
                  <a:srgbClr val="FFFFFF"/>
                </a:solidFill>
                <a:latin typeface="Aptos"/>
              </a:rPr>
              <a:t>Genética clínica y de poblaciones</a:t>
            </a:r>
            <a:endParaRPr lang="es-ES" sz="2800" b="0" strike="noStrike" spc="-1">
              <a:latin typeface="Arial"/>
            </a:endParaRPr>
          </a:p>
          <a:p>
            <a:pPr algn="ctr">
              <a:lnSpc>
                <a:spcPct val="80000"/>
              </a:lnSpc>
            </a:pPr>
            <a:r>
              <a:rPr lang="es-ES_tradnl" sz="2000" b="1" i="1" strike="noStrike" spc="-1">
                <a:solidFill>
                  <a:srgbClr val="FFFFFF"/>
                </a:solidFill>
                <a:latin typeface="Aptos"/>
                <a:ea typeface="DejaVu Sans"/>
              </a:rPr>
              <a:t>Paula Damián Moral - Paula Sofía Norniella Jamart - Pedro García Sáez - Pedro Manuel Rodríguez Santos - Pilar Navarro Sánchez - Rubén Martín Blázquez </a:t>
            </a:r>
            <a:endParaRPr lang="es-ES" sz="2000" b="0" strike="noStrike" spc="-1">
              <a:latin typeface="Arial"/>
            </a:endParaRPr>
          </a:p>
        </p:txBody>
      </p:sp>
      <p:grpSp>
        <p:nvGrpSpPr>
          <p:cNvPr id="55" name="Group 13"/>
          <p:cNvGrpSpPr/>
          <p:nvPr/>
        </p:nvGrpSpPr>
        <p:grpSpPr>
          <a:xfrm>
            <a:off x="144000" y="17570520"/>
            <a:ext cx="9095400" cy="3597480"/>
            <a:chOff x="144000" y="17570520"/>
            <a:chExt cx="9095400" cy="3597480"/>
          </a:xfrm>
        </p:grpSpPr>
        <p:sp>
          <p:nvSpPr>
            <p:cNvPr id="56" name="CustomShape 14"/>
            <p:cNvSpPr/>
            <p:nvPr/>
          </p:nvSpPr>
          <p:spPr>
            <a:xfrm>
              <a:off x="144000" y="17866440"/>
              <a:ext cx="9095400" cy="3301560"/>
            </a:xfrm>
            <a:prstGeom prst="roundRect">
              <a:avLst>
                <a:gd name="adj" fmla="val 9702"/>
              </a:avLst>
            </a:prstGeom>
            <a:solidFill>
              <a:schemeClr val="bg1"/>
            </a:solidFill>
            <a:ln>
              <a:solidFill>
                <a:schemeClr val="bg2">
                  <a:lumMod val="90000"/>
                </a:schemeClr>
              </a:solidFill>
            </a:ln>
          </p:spPr>
          <p:style>
            <a:lnRef idx="2">
              <a:schemeClr val="accent1">
                <a:shade val="15000"/>
              </a:schemeClr>
            </a:lnRef>
            <a:fillRef idx="1">
              <a:schemeClr val="accent1"/>
            </a:fillRef>
            <a:effectRef idx="0">
              <a:schemeClr val="accent1"/>
            </a:effectRef>
            <a:fontRef idx="minor"/>
          </p:style>
          <p:txBody>
            <a:bodyPr lIns="90000" tIns="360000" rIns="90000" bIns="45000">
              <a:noAutofit/>
            </a:bodyPr>
            <a:lstStyle/>
            <a:p>
              <a:pPr algn="just">
                <a:lnSpc>
                  <a:spcPct val="80000"/>
                </a:lnSpc>
              </a:pPr>
              <a:r>
                <a:rPr lang="es-ES_tradnl" sz="1800" b="0" i="1" strike="noStrike" spc="-1">
                  <a:solidFill>
                    <a:srgbClr val="000000"/>
                  </a:solidFill>
                  <a:latin typeface="Aptos"/>
                </a:rPr>
                <a:t>Maggie: presenta una deleción en el gen receptor de leptina (LEPR), produciendo una mutación “frameshift”. Esta deleción provoca la pérdida de dominios necesarios para activar vías de señalización de la hormona leptina (encargada de disminuir la ingesta y aumentar el consumo de energía).</a:t>
              </a:r>
              <a:endParaRPr lang="es-ES" sz="1800" b="0" strike="noStrike" spc="-1">
                <a:latin typeface="Arial"/>
              </a:endParaRPr>
            </a:p>
            <a:p>
              <a:pPr algn="just">
                <a:lnSpc>
                  <a:spcPct val="80000"/>
                </a:lnSpc>
              </a:pPr>
              <a:r>
                <a:rPr lang="es-ES_tradnl" sz="1800" b="0" i="1" strike="noStrike" spc="-1">
                  <a:solidFill>
                    <a:srgbClr val="000000"/>
                  </a:solidFill>
                  <a:latin typeface="Aptos"/>
                </a:rPr>
                <a:t>Abraham y Maggie: presentan una sustitución en el gen receptor de la melanocortin 4 (MC4R) que provoca una mutación “missense”. Esta alteración es altamente patogénica, afectando a una región altamente conservada evolutivamente. Se ve alterada la ruta de señalizacion hormonal del cAMP inplicado en el control de la saciedad. Como consecuencia, se altera el control del apetito a nivel hipotalámico, derivando en la característica hiperfagia típica de pacientes con obesidad monogénica.</a:t>
              </a:r>
              <a:endParaRPr lang="es-ES" sz="1800" b="0" strike="noStrike" spc="-1">
                <a:latin typeface="Arial"/>
              </a:endParaRPr>
            </a:p>
            <a:p>
              <a:pPr algn="just">
                <a:lnSpc>
                  <a:spcPct val="80000"/>
                </a:lnSpc>
              </a:pPr>
              <a:r>
                <a:rPr lang="es-ES_tradnl" sz="1800" b="0" i="1" strike="noStrike" spc="-1">
                  <a:solidFill>
                    <a:srgbClr val="000000"/>
                  </a:solidFill>
                  <a:latin typeface="Aptos"/>
                </a:rPr>
                <a:t>Ambos presentan mutaciones en TP53, y Abraham es hemicigoto para la variante detectada en MED12, pero ambas tienen un nivel de patogenicidad bajo o ambiguo.</a:t>
              </a:r>
              <a:endParaRPr lang="es-ES" sz="1800" b="0" strike="noStrike" spc="-1">
                <a:latin typeface="Arial"/>
              </a:endParaRPr>
            </a:p>
          </p:txBody>
        </p:sp>
        <p:sp>
          <p:nvSpPr>
            <p:cNvPr id="57" name="CustomShape 15"/>
            <p:cNvSpPr/>
            <p:nvPr/>
          </p:nvSpPr>
          <p:spPr>
            <a:xfrm>
              <a:off x="437040" y="17570520"/>
              <a:ext cx="5837760" cy="591840"/>
            </a:xfrm>
            <a:prstGeom prst="roundRect">
              <a:avLst>
                <a:gd name="adj" fmla="val 16667"/>
              </a:avLst>
            </a:prstGeom>
            <a:gradFill rotWithShape="0">
              <a:gsLst>
                <a:gs pos="0">
                  <a:srgbClr val="59C2E3"/>
                </a:gs>
                <a:gs pos="100000">
                  <a:srgbClr val="4196C9"/>
                </a:gs>
              </a:gsLst>
              <a:lin ang="2700000"/>
            </a:grad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a:lnSpc>
                  <a:spcPct val="100000"/>
                </a:lnSpc>
              </a:pPr>
              <a:r>
                <a:rPr lang="es-ES_tradnl" sz="2800" b="1" strike="noStrike" spc="-1">
                  <a:solidFill>
                    <a:srgbClr val="FFFFFF"/>
                  </a:solidFill>
                  <a:latin typeface="Aptos"/>
                </a:rPr>
                <a:t>DISCUSIÓN</a:t>
              </a:r>
              <a:endParaRPr lang="es-ES" sz="2800" b="0" strike="noStrike" spc="-1">
                <a:latin typeface="Arial"/>
              </a:endParaRPr>
            </a:p>
          </p:txBody>
        </p:sp>
      </p:grpSp>
      <p:grpSp>
        <p:nvGrpSpPr>
          <p:cNvPr id="58" name="Group 16"/>
          <p:cNvGrpSpPr/>
          <p:nvPr/>
        </p:nvGrpSpPr>
        <p:grpSpPr>
          <a:xfrm>
            <a:off x="9509760" y="17936280"/>
            <a:ext cx="5366520" cy="3211920"/>
            <a:chOff x="9509760" y="17936280"/>
            <a:chExt cx="5366520" cy="3211920"/>
          </a:xfrm>
        </p:grpSpPr>
        <p:sp>
          <p:nvSpPr>
            <p:cNvPr id="59" name="CustomShape 17"/>
            <p:cNvSpPr/>
            <p:nvPr/>
          </p:nvSpPr>
          <p:spPr>
            <a:xfrm>
              <a:off x="9509760" y="18200520"/>
              <a:ext cx="5366520" cy="2947680"/>
            </a:xfrm>
            <a:prstGeom prst="roundRect">
              <a:avLst>
                <a:gd name="adj" fmla="val 9702"/>
              </a:avLst>
            </a:prstGeom>
            <a:solidFill>
              <a:schemeClr val="bg1"/>
            </a:solidFill>
            <a:ln>
              <a:solidFill>
                <a:schemeClr val="bg2">
                  <a:lumMod val="90000"/>
                </a:schemeClr>
              </a:solidFill>
            </a:ln>
          </p:spPr>
          <p:style>
            <a:lnRef idx="2">
              <a:schemeClr val="accent1">
                <a:shade val="15000"/>
              </a:schemeClr>
            </a:lnRef>
            <a:fillRef idx="1">
              <a:schemeClr val="accent1"/>
            </a:fillRef>
            <a:effectRef idx="0">
              <a:schemeClr val="accent1"/>
            </a:effectRef>
            <a:fontRef idx="minor"/>
          </p:style>
          <p:txBody>
            <a:bodyPr lIns="90000" tIns="360000" rIns="90000" bIns="45000">
              <a:noAutofit/>
            </a:bodyPr>
            <a:lstStyle/>
            <a:p>
              <a:pPr algn="just">
                <a:lnSpc>
                  <a:spcPct val="80000"/>
                </a:lnSpc>
              </a:pPr>
              <a:r>
                <a:rPr lang="es-ES_tradnl" sz="1800" b="0" i="1" strike="noStrike" spc="-1">
                  <a:solidFill>
                    <a:srgbClr val="000000"/>
                  </a:solidFill>
                  <a:latin typeface="Aptos"/>
                </a:rPr>
                <a:t>Las variantes de los genes LEPR (portada por Maggie) y MC4R (portada por Abraham y Maggie) pueden indicar que los Simpson sean propensos a desarrollar obesidad. Por otro lado, mutaciones que comparten ambos en los genes MED12 y TP53, no se consideran patogénicas ni se observa relación con el fenotipo observado. Por lo tanto, la familia Simpson debe tener una dieta controlada y hábitos de vida saludable si no desean desarrollar obesidad.</a:t>
              </a:r>
              <a:endParaRPr lang="es-ES" sz="1800" b="0" strike="noStrike" spc="-1">
                <a:latin typeface="Arial"/>
              </a:endParaRPr>
            </a:p>
          </p:txBody>
        </p:sp>
        <p:sp>
          <p:nvSpPr>
            <p:cNvPr id="60" name="CustomShape 18"/>
            <p:cNvSpPr/>
            <p:nvPr/>
          </p:nvSpPr>
          <p:spPr>
            <a:xfrm>
              <a:off x="9731160" y="17936280"/>
              <a:ext cx="4406760" cy="528480"/>
            </a:xfrm>
            <a:prstGeom prst="roundRect">
              <a:avLst>
                <a:gd name="adj" fmla="val 16667"/>
              </a:avLst>
            </a:prstGeom>
            <a:gradFill rotWithShape="0">
              <a:gsLst>
                <a:gs pos="0">
                  <a:srgbClr val="59C2E3"/>
                </a:gs>
                <a:gs pos="100000">
                  <a:srgbClr val="4196C9"/>
                </a:gs>
              </a:gsLst>
              <a:lin ang="2700000"/>
            </a:grad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a:lnSpc>
                  <a:spcPct val="100000"/>
                </a:lnSpc>
              </a:pPr>
              <a:r>
                <a:rPr lang="es-ES_tradnl" sz="2800" b="1" strike="noStrike" spc="-1">
                  <a:solidFill>
                    <a:srgbClr val="FFFFFF"/>
                  </a:solidFill>
                  <a:latin typeface="Aptos"/>
                </a:rPr>
                <a:t>CONCLUSIONES</a:t>
              </a:r>
              <a:endParaRPr lang="es-ES" sz="2800" b="0" strike="noStrike" spc="-1">
                <a:latin typeface="Arial"/>
              </a:endParaRPr>
            </a:p>
          </p:txBody>
        </p:sp>
      </p:grpSp>
      <p:sp>
        <p:nvSpPr>
          <p:cNvPr id="61" name="CustomShape 19"/>
          <p:cNvSpPr/>
          <p:nvPr/>
        </p:nvSpPr>
        <p:spPr>
          <a:xfrm>
            <a:off x="440640" y="7503480"/>
            <a:ext cx="13959360" cy="632520"/>
          </a:xfrm>
          <a:prstGeom prst="roundRect">
            <a:avLst>
              <a:gd name="adj" fmla="val 16667"/>
            </a:avLst>
          </a:prstGeom>
          <a:solidFill>
            <a:schemeClr val="bg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nSpc>
                <a:spcPct val="80000"/>
              </a:lnSpc>
              <a:tabLst>
                <a:tab pos="0" algn="l"/>
              </a:tabLst>
            </a:pPr>
            <a:r>
              <a:rPr lang="es-ES_tradnl" sz="1800" b="1" strike="noStrike" spc="-1">
                <a:solidFill>
                  <a:srgbClr val="4196C9"/>
                </a:solidFill>
                <a:latin typeface="Aptos"/>
              </a:rPr>
              <a:t>Tabla 1. </a:t>
            </a:r>
            <a:r>
              <a:rPr lang="es-ES_tradnl" sz="1800" b="0" strike="noStrike" spc="-1">
                <a:solidFill>
                  <a:srgbClr val="000000"/>
                </a:solidFill>
                <a:latin typeface="Aptos"/>
              </a:rPr>
              <a:t>Información de las variantes analizadas con VEP.</a:t>
            </a:r>
            <a:endParaRPr lang="es-ES" sz="1800" b="0" strike="noStrike" spc="-1">
              <a:latin typeface="Arial"/>
            </a:endParaRPr>
          </a:p>
        </p:txBody>
      </p:sp>
      <p:sp>
        <p:nvSpPr>
          <p:cNvPr id="62" name="CustomShape 20"/>
          <p:cNvSpPr/>
          <p:nvPr/>
        </p:nvSpPr>
        <p:spPr>
          <a:xfrm>
            <a:off x="288000" y="11592000"/>
            <a:ext cx="6176880" cy="632520"/>
          </a:xfrm>
          <a:prstGeom prst="roundRect">
            <a:avLst>
              <a:gd name="adj" fmla="val 16667"/>
            </a:avLst>
          </a:prstGeom>
          <a:solidFill>
            <a:schemeClr val="bg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nSpc>
                <a:spcPct val="80000"/>
              </a:lnSpc>
              <a:tabLst>
                <a:tab pos="0" algn="l"/>
              </a:tabLst>
            </a:pPr>
            <a:r>
              <a:rPr lang="es-ES_tradnl" sz="1800" b="1" strike="noStrike" spc="-1">
                <a:solidFill>
                  <a:srgbClr val="4196C9"/>
                </a:solidFill>
                <a:latin typeface="Aptos"/>
              </a:rPr>
              <a:t>Figura 1. </a:t>
            </a:r>
            <a:r>
              <a:rPr lang="es-ES_tradnl" sz="1800" b="0" strike="noStrike" spc="-1">
                <a:solidFill>
                  <a:srgbClr val="000000"/>
                </a:solidFill>
                <a:latin typeface="Aptos"/>
              </a:rPr>
              <a:t>Estructura de LEPR wt y variante.</a:t>
            </a:r>
            <a:endParaRPr lang="es-ES" sz="1800" b="0" strike="noStrike" spc="-1">
              <a:latin typeface="Arial"/>
            </a:endParaRPr>
          </a:p>
        </p:txBody>
      </p:sp>
      <p:sp>
        <p:nvSpPr>
          <p:cNvPr id="63" name="CustomShape 21"/>
          <p:cNvSpPr/>
          <p:nvPr/>
        </p:nvSpPr>
        <p:spPr>
          <a:xfrm>
            <a:off x="7065000" y="11592000"/>
            <a:ext cx="7407000" cy="632520"/>
          </a:xfrm>
          <a:prstGeom prst="roundRect">
            <a:avLst>
              <a:gd name="adj" fmla="val 16667"/>
            </a:avLst>
          </a:prstGeom>
          <a:solidFill>
            <a:schemeClr val="bg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nSpc>
                <a:spcPct val="80000"/>
              </a:lnSpc>
              <a:tabLst>
                <a:tab pos="0" algn="l"/>
              </a:tabLst>
            </a:pPr>
            <a:r>
              <a:rPr lang="es-ES_tradnl" sz="1800" b="1" strike="noStrike" spc="-1">
                <a:solidFill>
                  <a:srgbClr val="4196C9"/>
                </a:solidFill>
                <a:latin typeface="Aptos"/>
              </a:rPr>
              <a:t>Figura 2. </a:t>
            </a:r>
            <a:r>
              <a:rPr lang="es-ES_tradnl" sz="1800" b="0" strike="noStrike" spc="-1">
                <a:solidFill>
                  <a:srgbClr val="000000"/>
                </a:solidFill>
                <a:latin typeface="Aptos"/>
              </a:rPr>
              <a:t>Alineamiento múltiple de MCR4 por Custal Omega.</a:t>
            </a:r>
            <a:endParaRPr lang="es-ES" sz="1800" b="0" strike="noStrike" spc="-1">
              <a:latin typeface="Arial"/>
            </a:endParaRPr>
          </a:p>
        </p:txBody>
      </p:sp>
      <p:graphicFrame>
        <p:nvGraphicFramePr>
          <p:cNvPr id="64" name="Table 22"/>
          <p:cNvGraphicFramePr/>
          <p:nvPr>
            <p:extLst>
              <p:ext uri="{D42A27DB-BD31-4B8C-83A1-F6EECF244321}">
                <p14:modId xmlns:p14="http://schemas.microsoft.com/office/powerpoint/2010/main" val="2867859995"/>
              </p:ext>
            </p:extLst>
          </p:nvPr>
        </p:nvGraphicFramePr>
        <p:xfrm>
          <a:off x="207720" y="8313480"/>
          <a:ext cx="14437080" cy="2926800"/>
        </p:xfrm>
        <a:graphic>
          <a:graphicData uri="http://schemas.openxmlformats.org/drawingml/2006/table">
            <a:tbl>
              <a:tblPr/>
              <a:tblGrid>
                <a:gridCol w="528260">
                  <a:extLst>
                    <a:ext uri="{9D8B030D-6E8A-4147-A177-3AD203B41FA5}">
                      <a16:colId xmlns:a16="http://schemas.microsoft.com/office/drawing/2014/main" val="20000"/>
                    </a:ext>
                  </a:extLst>
                </a:gridCol>
                <a:gridCol w="992459">
                  <a:extLst>
                    <a:ext uri="{9D8B030D-6E8A-4147-A177-3AD203B41FA5}">
                      <a16:colId xmlns:a16="http://schemas.microsoft.com/office/drawing/2014/main" val="20001"/>
                    </a:ext>
                  </a:extLst>
                </a:gridCol>
                <a:gridCol w="1226634">
                  <a:extLst>
                    <a:ext uri="{9D8B030D-6E8A-4147-A177-3AD203B41FA5}">
                      <a16:colId xmlns:a16="http://schemas.microsoft.com/office/drawing/2014/main" val="20002"/>
                    </a:ext>
                  </a:extLst>
                </a:gridCol>
                <a:gridCol w="434898">
                  <a:extLst>
                    <a:ext uri="{9D8B030D-6E8A-4147-A177-3AD203B41FA5}">
                      <a16:colId xmlns:a16="http://schemas.microsoft.com/office/drawing/2014/main" val="20003"/>
                    </a:ext>
                  </a:extLst>
                </a:gridCol>
                <a:gridCol w="880946">
                  <a:extLst>
                    <a:ext uri="{9D8B030D-6E8A-4147-A177-3AD203B41FA5}">
                      <a16:colId xmlns:a16="http://schemas.microsoft.com/office/drawing/2014/main" val="20004"/>
                    </a:ext>
                  </a:extLst>
                </a:gridCol>
                <a:gridCol w="1025912">
                  <a:extLst>
                    <a:ext uri="{9D8B030D-6E8A-4147-A177-3AD203B41FA5}">
                      <a16:colId xmlns:a16="http://schemas.microsoft.com/office/drawing/2014/main" val="20005"/>
                    </a:ext>
                  </a:extLst>
                </a:gridCol>
                <a:gridCol w="1460810">
                  <a:extLst>
                    <a:ext uri="{9D8B030D-6E8A-4147-A177-3AD203B41FA5}">
                      <a16:colId xmlns:a16="http://schemas.microsoft.com/office/drawing/2014/main" val="20006"/>
                    </a:ext>
                  </a:extLst>
                </a:gridCol>
                <a:gridCol w="1483112">
                  <a:extLst>
                    <a:ext uri="{9D8B030D-6E8A-4147-A177-3AD203B41FA5}">
                      <a16:colId xmlns:a16="http://schemas.microsoft.com/office/drawing/2014/main" val="20007"/>
                    </a:ext>
                  </a:extLst>
                </a:gridCol>
                <a:gridCol w="959005">
                  <a:extLst>
                    <a:ext uri="{9D8B030D-6E8A-4147-A177-3AD203B41FA5}">
                      <a16:colId xmlns:a16="http://schemas.microsoft.com/office/drawing/2014/main" val="20008"/>
                    </a:ext>
                  </a:extLst>
                </a:gridCol>
                <a:gridCol w="825190">
                  <a:extLst>
                    <a:ext uri="{9D8B030D-6E8A-4147-A177-3AD203B41FA5}">
                      <a16:colId xmlns:a16="http://schemas.microsoft.com/office/drawing/2014/main" val="20009"/>
                    </a:ext>
                  </a:extLst>
                </a:gridCol>
                <a:gridCol w="947854">
                  <a:extLst>
                    <a:ext uri="{9D8B030D-6E8A-4147-A177-3AD203B41FA5}">
                      <a16:colId xmlns:a16="http://schemas.microsoft.com/office/drawing/2014/main" val="20010"/>
                    </a:ext>
                  </a:extLst>
                </a:gridCol>
                <a:gridCol w="780585">
                  <a:extLst>
                    <a:ext uri="{9D8B030D-6E8A-4147-A177-3AD203B41FA5}">
                      <a16:colId xmlns:a16="http://schemas.microsoft.com/office/drawing/2014/main" val="3952611696"/>
                    </a:ext>
                  </a:extLst>
                </a:gridCol>
                <a:gridCol w="955114">
                  <a:extLst>
                    <a:ext uri="{9D8B030D-6E8A-4147-A177-3AD203B41FA5}">
                      <a16:colId xmlns:a16="http://schemas.microsoft.com/office/drawing/2014/main" val="4271565671"/>
                    </a:ext>
                  </a:extLst>
                </a:gridCol>
                <a:gridCol w="1936301">
                  <a:extLst>
                    <a:ext uri="{9D8B030D-6E8A-4147-A177-3AD203B41FA5}">
                      <a16:colId xmlns:a16="http://schemas.microsoft.com/office/drawing/2014/main" val="593573608"/>
                    </a:ext>
                  </a:extLst>
                </a:gridCol>
              </a:tblGrid>
              <a:tr h="242640">
                <a:tc>
                  <a:txBody>
                    <a:bodyPr/>
                    <a:lstStyle/>
                    <a:p>
                      <a:pPr>
                        <a:lnSpc>
                          <a:spcPct val="100000"/>
                        </a:lnSpc>
                      </a:pPr>
                      <a:r>
                        <a:rPr lang="es-ES" sz="1200" b="1" u="sng" strike="noStrike" spc="-1" dirty="0">
                          <a:solidFill>
                            <a:srgbClr val="000000"/>
                          </a:solidFill>
                          <a:latin typeface="Aptos" panose="020B0004020202020204" pitchFamily="34" charset="0"/>
                        </a:rPr>
                        <a:t>Gen</a:t>
                      </a:r>
                      <a:endParaRPr lang="es-ES" sz="1200" b="1" u="sng" strike="noStrike" spc="-1" dirty="0">
                        <a:latin typeface="Aptos" panose="020B0004020202020204" pitchFamily="34" charset="0"/>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a:lstStyle/>
                    <a:p>
                      <a:pPr algn="ctr">
                        <a:lnSpc>
                          <a:spcPct val="100000"/>
                        </a:lnSpc>
                      </a:pPr>
                      <a:r>
                        <a:rPr lang="es-ES" sz="1200" b="1" u="sng" strike="noStrike" spc="-1" dirty="0">
                          <a:solidFill>
                            <a:srgbClr val="000000"/>
                          </a:solidFill>
                          <a:latin typeface="Aptos" panose="020B0004020202020204" pitchFamily="34" charset="0"/>
                        </a:rPr>
                        <a:t>Coordenada</a:t>
                      </a:r>
                      <a:endParaRPr lang="es-ES" sz="1200" b="1" u="sng" strike="noStrike" spc="-1" dirty="0">
                        <a:latin typeface="Aptos" panose="020B0004020202020204" pitchFamily="34" charset="0"/>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a:lstStyle/>
                    <a:p>
                      <a:pPr algn="ctr">
                        <a:lnSpc>
                          <a:spcPct val="100000"/>
                        </a:lnSpc>
                      </a:pPr>
                      <a:r>
                        <a:rPr lang="es-ES" sz="1200" b="1" u="sng" strike="noStrike" spc="-1" dirty="0" err="1">
                          <a:solidFill>
                            <a:srgbClr val="000000"/>
                          </a:solidFill>
                          <a:latin typeface="Aptos" panose="020B0004020202020204" pitchFamily="34" charset="0"/>
                        </a:rPr>
                        <a:t>Nomenclatura.c</a:t>
                      </a:r>
                      <a:endParaRPr lang="es-ES" sz="1200" b="1" u="sng" strike="noStrike" spc="-1" dirty="0">
                        <a:latin typeface="Aptos" panose="020B0004020202020204" pitchFamily="34" charset="0"/>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a:lstStyle/>
                    <a:p>
                      <a:pPr algn="ctr">
                        <a:lnSpc>
                          <a:spcPct val="100000"/>
                        </a:lnSpc>
                      </a:pPr>
                      <a:r>
                        <a:rPr lang="es-ES" sz="1200" b="1" u="sng" strike="noStrike" spc="-1" dirty="0">
                          <a:solidFill>
                            <a:srgbClr val="000000"/>
                          </a:solidFill>
                          <a:latin typeface="Aptos" panose="020B0004020202020204" pitchFamily="34" charset="0"/>
                        </a:rPr>
                        <a:t>Tipo</a:t>
                      </a:r>
                      <a:endParaRPr lang="es-ES" sz="1200" b="1" u="sng" strike="noStrike" spc="-1" dirty="0">
                        <a:latin typeface="Aptos" panose="020B0004020202020204" pitchFamily="34" charset="0"/>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a:lstStyle/>
                    <a:p>
                      <a:pPr algn="ctr">
                        <a:lnSpc>
                          <a:spcPct val="100000"/>
                        </a:lnSpc>
                      </a:pPr>
                      <a:r>
                        <a:rPr lang="es-ES" sz="1200" b="1" u="sng" strike="noStrike" spc="-1" dirty="0">
                          <a:solidFill>
                            <a:srgbClr val="000000"/>
                          </a:solidFill>
                          <a:latin typeface="Aptos" panose="020B0004020202020204" pitchFamily="34" charset="0"/>
                        </a:rPr>
                        <a:t>Genotipo</a:t>
                      </a:r>
                      <a:endParaRPr lang="es-ES" sz="1200" b="1" u="sng" strike="noStrike" spc="-1" dirty="0">
                        <a:latin typeface="Aptos" panose="020B0004020202020204" pitchFamily="34" charset="0"/>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a:lstStyle/>
                    <a:p>
                      <a:pPr algn="ctr">
                        <a:lnSpc>
                          <a:spcPct val="100000"/>
                        </a:lnSpc>
                      </a:pPr>
                      <a:r>
                        <a:rPr lang="es-ES" sz="1200" b="1" u="sng" strike="noStrike" spc="-1" dirty="0">
                          <a:solidFill>
                            <a:srgbClr val="000000"/>
                          </a:solidFill>
                          <a:latin typeface="Aptos" panose="020B0004020202020204" pitchFamily="34" charset="0"/>
                        </a:rPr>
                        <a:t>Frecuencia</a:t>
                      </a:r>
                      <a:endParaRPr lang="es-ES" sz="1200" b="1" u="sng" strike="noStrike" spc="-1" dirty="0">
                        <a:latin typeface="Aptos" panose="020B0004020202020204" pitchFamily="34" charset="0"/>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a:lstStyle/>
                    <a:p>
                      <a:pPr algn="ctr">
                        <a:lnSpc>
                          <a:spcPct val="100000"/>
                        </a:lnSpc>
                      </a:pPr>
                      <a:r>
                        <a:rPr lang="es-ES" sz="1200" b="1" u="sng" strike="noStrike" spc="-1" dirty="0">
                          <a:solidFill>
                            <a:srgbClr val="000000"/>
                          </a:solidFill>
                          <a:latin typeface="Aptos" panose="020B0004020202020204" pitchFamily="34" charset="0"/>
                        </a:rPr>
                        <a:t>Proteína</a:t>
                      </a:r>
                      <a:endParaRPr lang="es-ES" sz="1200" b="1" u="sng" strike="noStrike" spc="-1" dirty="0">
                        <a:latin typeface="Aptos" panose="020B0004020202020204" pitchFamily="34" charset="0"/>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a:lstStyle/>
                    <a:p>
                      <a:pPr algn="ctr">
                        <a:lnSpc>
                          <a:spcPct val="100000"/>
                        </a:lnSpc>
                      </a:pPr>
                      <a:r>
                        <a:rPr lang="es-ES" sz="1200" b="1" u="sng" strike="noStrike" spc="-1" dirty="0" err="1">
                          <a:solidFill>
                            <a:srgbClr val="000000"/>
                          </a:solidFill>
                          <a:latin typeface="Aptos" panose="020B0004020202020204" pitchFamily="34" charset="0"/>
                        </a:rPr>
                        <a:t>Nomenclatura.p</a:t>
                      </a:r>
                      <a:endParaRPr lang="es-ES" sz="1200" b="1" u="sng" strike="noStrike" spc="-1" dirty="0">
                        <a:latin typeface="Aptos" panose="020B0004020202020204" pitchFamily="34" charset="0"/>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a:lstStyle/>
                    <a:p>
                      <a:pPr algn="ctr">
                        <a:lnSpc>
                          <a:spcPct val="100000"/>
                        </a:lnSpc>
                      </a:pPr>
                      <a:r>
                        <a:rPr lang="es-ES" sz="1200" b="1" u="sng" strike="noStrike" spc="-1" dirty="0">
                          <a:solidFill>
                            <a:srgbClr val="000000"/>
                          </a:solidFill>
                          <a:latin typeface="Aptos" panose="020B0004020202020204" pitchFamily="34" charset="0"/>
                        </a:rPr>
                        <a:t>Efecto</a:t>
                      </a:r>
                      <a:endParaRPr lang="es-ES" sz="1200" b="1" u="sng" strike="noStrike" spc="-1" dirty="0">
                        <a:latin typeface="Aptos" panose="020B0004020202020204" pitchFamily="34" charset="0"/>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a:lstStyle/>
                    <a:p>
                      <a:pPr algn="ctr">
                        <a:lnSpc>
                          <a:spcPct val="100000"/>
                        </a:lnSpc>
                      </a:pPr>
                      <a:r>
                        <a:rPr lang="es-ES" sz="1200" b="1" u="sng" strike="noStrike" spc="-1" dirty="0">
                          <a:solidFill>
                            <a:srgbClr val="000000"/>
                          </a:solidFill>
                          <a:latin typeface="Aptos" panose="020B0004020202020204" pitchFamily="34" charset="0"/>
                        </a:rPr>
                        <a:t>SIFT</a:t>
                      </a:r>
                      <a:endParaRPr lang="es-ES" sz="1200" b="1" u="sng" strike="noStrike" spc="-1" dirty="0">
                        <a:latin typeface="Aptos" panose="020B0004020202020204" pitchFamily="34" charset="0"/>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a:lstStyle/>
                    <a:p>
                      <a:pPr algn="ctr">
                        <a:lnSpc>
                          <a:spcPct val="100000"/>
                        </a:lnSpc>
                      </a:pPr>
                      <a:r>
                        <a:rPr lang="es-ES" sz="1200" b="1" u="sng" strike="noStrike" spc="-1" dirty="0" err="1">
                          <a:solidFill>
                            <a:srgbClr val="000000"/>
                          </a:solidFill>
                          <a:latin typeface="Aptos" panose="020B0004020202020204" pitchFamily="34" charset="0"/>
                        </a:rPr>
                        <a:t>PolyPhen</a:t>
                      </a:r>
                      <a:endParaRPr lang="es-ES" sz="1200" b="1" u="sng" strike="noStrike" spc="-1" dirty="0">
                        <a:latin typeface="Aptos" panose="020B0004020202020204" pitchFamily="34" charset="0"/>
                      </a:endParaRPr>
                    </a:p>
                  </a:txBody>
                  <a:tcPr marL="7560" marR="7560">
                    <a:lnL w="12240">
                      <a:solidFill>
                        <a:srgbClr val="FFFFFF"/>
                      </a:solidFill>
                    </a:lnL>
                    <a:lnR w="12240" cap="flat" cmpd="sng" algn="ctr">
                      <a:solidFill>
                        <a:srgbClr val="FFFFFF"/>
                      </a:solidFill>
                      <a:prstDash val="solid"/>
                      <a:round/>
                      <a:headEnd type="none" w="med" len="med"/>
                      <a:tailEnd type="none" w="med" len="med"/>
                    </a:lnR>
                    <a:lnT w="12240">
                      <a:solidFill>
                        <a:srgbClr val="FFFFFF"/>
                      </a:solidFill>
                    </a:lnT>
                    <a:lnB w="12240">
                      <a:solidFill>
                        <a:srgbClr val="FFFFFF"/>
                      </a:solidFill>
                    </a:lnB>
                    <a:solidFill>
                      <a:srgbClr val="E7EAEC"/>
                    </a:solidFill>
                  </a:tcPr>
                </a:tc>
                <a:tc>
                  <a:txBody>
                    <a:bodyPr/>
                    <a:lstStyle/>
                    <a:p>
                      <a:pPr algn="ctr">
                        <a:lnSpc>
                          <a:spcPct val="100000"/>
                        </a:lnSpc>
                      </a:pPr>
                      <a:r>
                        <a:rPr lang="es-ES" sz="1200" b="1" u="sng" strike="noStrike" spc="-1" dirty="0">
                          <a:latin typeface="Aptos" panose="020B0004020202020204" pitchFamily="34" charset="0"/>
                        </a:rPr>
                        <a:t>MIM</a:t>
                      </a:r>
                    </a:p>
                  </a:txBody>
                  <a:tcPr marL="7560" marR="7560">
                    <a:lnL w="12240">
                      <a:solidFill>
                        <a:srgbClr val="FFFFFF"/>
                      </a:solidFill>
                    </a:lnL>
                    <a:lnR w="12240" cap="flat" cmpd="sng" algn="ctr">
                      <a:solidFill>
                        <a:srgbClr val="FFFFFF"/>
                      </a:solidFill>
                      <a:prstDash val="solid"/>
                      <a:round/>
                      <a:headEnd type="none" w="med" len="med"/>
                      <a:tailEnd type="none" w="med" len="med"/>
                    </a:lnR>
                    <a:lnT w="12240">
                      <a:solidFill>
                        <a:srgbClr val="FFFFFF"/>
                      </a:solidFill>
                    </a:lnT>
                    <a:lnB w="12240" cap="flat" cmpd="sng" algn="ctr">
                      <a:solidFill>
                        <a:srgbClr val="FFFFFF"/>
                      </a:solidFill>
                      <a:prstDash val="solid"/>
                      <a:round/>
                      <a:headEnd type="none" w="med" len="med"/>
                      <a:tailEnd type="none" w="med" len="med"/>
                    </a:lnB>
                    <a:solidFill>
                      <a:srgbClr val="E7EAEC"/>
                    </a:solidFill>
                  </a:tcPr>
                </a:tc>
                <a:tc>
                  <a:txBody>
                    <a:bodyPr/>
                    <a:lstStyle/>
                    <a:p>
                      <a:pPr algn="ctr">
                        <a:lnSpc>
                          <a:spcPct val="100000"/>
                        </a:lnSpc>
                      </a:pPr>
                      <a:r>
                        <a:rPr lang="es-ES" sz="1200" b="1" u="sng" strike="noStrike" spc="-1" dirty="0">
                          <a:latin typeface="Aptos" panose="020B0004020202020204" pitchFamily="34" charset="0"/>
                        </a:rPr>
                        <a:t>Herencia</a:t>
                      </a:r>
                    </a:p>
                  </a:txBody>
                  <a:tcPr marL="7560" marR="7560">
                    <a:lnL w="12240">
                      <a:solidFill>
                        <a:srgbClr val="FFFFFF"/>
                      </a:solidFill>
                    </a:lnL>
                    <a:lnR w="12240" cap="flat" cmpd="sng" algn="ctr">
                      <a:solidFill>
                        <a:srgbClr val="FFFFFF"/>
                      </a:solidFill>
                      <a:prstDash val="solid"/>
                      <a:round/>
                      <a:headEnd type="none" w="med" len="med"/>
                      <a:tailEnd type="none" w="med" len="med"/>
                    </a:lnR>
                    <a:lnT w="12240">
                      <a:solidFill>
                        <a:srgbClr val="FFFFFF"/>
                      </a:solidFill>
                    </a:lnT>
                    <a:lnB w="12240" cap="flat" cmpd="sng" algn="ctr">
                      <a:solidFill>
                        <a:srgbClr val="FFFFFF"/>
                      </a:solidFill>
                      <a:prstDash val="solid"/>
                      <a:round/>
                      <a:headEnd type="none" w="med" len="med"/>
                      <a:tailEnd type="none" w="med" len="med"/>
                    </a:lnB>
                    <a:solidFill>
                      <a:srgbClr val="E7EAEC"/>
                    </a:solidFill>
                  </a:tcPr>
                </a:tc>
                <a:tc>
                  <a:txBody>
                    <a:bodyPr/>
                    <a:lstStyle/>
                    <a:p>
                      <a:pPr algn="ctr">
                        <a:lnSpc>
                          <a:spcPct val="100000"/>
                        </a:lnSpc>
                      </a:pPr>
                      <a:r>
                        <a:rPr lang="es-ES" sz="1200" b="1" u="sng" strike="noStrike" spc="-1" dirty="0" err="1">
                          <a:latin typeface="Aptos" panose="020B0004020202020204" pitchFamily="34" charset="0"/>
                        </a:rPr>
                        <a:t>Pathway</a:t>
                      </a:r>
                      <a:endParaRPr lang="es-ES" sz="1200" b="1" u="sng" strike="noStrike" spc="-1" dirty="0">
                        <a:latin typeface="Aptos" panose="020B0004020202020204" pitchFamily="34" charset="0"/>
                      </a:endParaRPr>
                    </a:p>
                  </a:txBody>
                  <a:tcPr marL="7560" marR="7560">
                    <a:lnL w="12240">
                      <a:solidFill>
                        <a:srgbClr val="FFFFFF"/>
                      </a:solidFill>
                    </a:lnL>
                    <a:lnR w="12240">
                      <a:solidFill>
                        <a:srgbClr val="FFFFFF"/>
                      </a:solidFill>
                    </a:lnR>
                    <a:lnT w="12240">
                      <a:solidFill>
                        <a:srgbClr val="FFFFFF"/>
                      </a:solidFill>
                    </a:lnT>
                    <a:lnB w="12240" cap="flat" cmpd="sng" algn="ctr">
                      <a:solidFill>
                        <a:srgbClr val="FFFFFF"/>
                      </a:solidFill>
                      <a:prstDash val="solid"/>
                      <a:round/>
                      <a:headEnd type="none" w="med" len="med"/>
                      <a:tailEnd type="none" w="med" len="med"/>
                    </a:lnB>
                    <a:solidFill>
                      <a:srgbClr val="E7EAEC"/>
                    </a:solidFill>
                  </a:tcPr>
                </a:tc>
                <a:extLst>
                  <a:ext uri="{0D108BD9-81ED-4DB2-BD59-A6C34878D82A}">
                    <a16:rowId xmlns:a16="http://schemas.microsoft.com/office/drawing/2014/main" val="10000"/>
                  </a:ext>
                </a:extLst>
              </a:tr>
              <a:tr h="600805">
                <a:tc>
                  <a:txBody>
                    <a:bodyPr/>
                    <a:lstStyle/>
                    <a:p>
                      <a:pPr>
                        <a:lnSpc>
                          <a:spcPct val="100000"/>
                        </a:lnSpc>
                      </a:pPr>
                      <a:r>
                        <a:rPr lang="es-ES" sz="1200" b="0" strike="noStrike" spc="-1" dirty="0">
                          <a:solidFill>
                            <a:srgbClr val="000000"/>
                          </a:solidFill>
                          <a:latin typeface="Aptos" panose="020B0004020202020204" pitchFamily="34" charset="0"/>
                        </a:rPr>
                        <a:t>LEPR</a:t>
                      </a:r>
                      <a:endParaRPr lang="es-ES" sz="1200" b="0" strike="noStrike" spc="-1" dirty="0">
                        <a:latin typeface="Aptos" panose="020B0004020202020204" pitchFamily="34" charset="0"/>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a:lstStyle/>
                    <a:p>
                      <a:pPr algn="ctr">
                        <a:lnSpc>
                          <a:spcPct val="100000"/>
                        </a:lnSpc>
                      </a:pPr>
                      <a:r>
                        <a:rPr lang="es-ES" sz="1200" b="0" strike="noStrike" spc="-1" dirty="0">
                          <a:solidFill>
                            <a:srgbClr val="000000"/>
                          </a:solidFill>
                          <a:latin typeface="Aptos" panose="020B0004020202020204" pitchFamily="34" charset="0"/>
                        </a:rPr>
                        <a:t>1:65609984</a:t>
                      </a:r>
                      <a:endParaRPr lang="es-ES" sz="1200" b="0" strike="noStrike" spc="-1" dirty="0">
                        <a:latin typeface="Aptos" panose="020B0004020202020204" pitchFamily="34" charset="0"/>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a:lstStyle/>
                    <a:p>
                      <a:pPr algn="ctr">
                        <a:lnSpc>
                          <a:spcPct val="100000"/>
                        </a:lnSpc>
                      </a:pPr>
                      <a:r>
                        <a:rPr lang="es-ES" sz="1200" b="0" strike="noStrike" spc="-1">
                          <a:solidFill>
                            <a:srgbClr val="000000"/>
                          </a:solidFill>
                          <a:latin typeface="Aptos" panose="020B0004020202020204" pitchFamily="34" charset="0"/>
                        </a:rPr>
                        <a:t>ENST00000349533.11:c.1790del</a:t>
                      </a:r>
                      <a:endParaRPr lang="es-ES" sz="1200" b="0" strike="noStrike" spc="-1">
                        <a:latin typeface="Aptos" panose="020B0004020202020204" pitchFamily="34" charset="0"/>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a:lstStyle/>
                    <a:p>
                      <a:pPr algn="ctr">
                        <a:lnSpc>
                          <a:spcPct val="100000"/>
                        </a:lnSpc>
                      </a:pPr>
                      <a:r>
                        <a:rPr lang="es-ES" sz="1200" b="0" strike="noStrike" spc="-1">
                          <a:solidFill>
                            <a:srgbClr val="000000"/>
                          </a:solidFill>
                          <a:latin typeface="Aptos" panose="020B0004020202020204" pitchFamily="34" charset="0"/>
                        </a:rPr>
                        <a:t>Indel</a:t>
                      </a:r>
                      <a:endParaRPr lang="es-ES" sz="1200" b="0" strike="noStrike" spc="-1" dirty="0">
                        <a:latin typeface="Aptos" panose="020B0004020202020204" pitchFamily="34" charset="0"/>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a:lstStyle/>
                    <a:p>
                      <a:pPr algn="ctr">
                        <a:lnSpc>
                          <a:spcPct val="100000"/>
                        </a:lnSpc>
                      </a:pPr>
                      <a:r>
                        <a:rPr lang="es-ES" sz="1200" b="0" strike="noStrike" spc="-1" dirty="0">
                          <a:solidFill>
                            <a:srgbClr val="000000"/>
                          </a:solidFill>
                          <a:latin typeface="Aptos" panose="020B0004020202020204" pitchFamily="34" charset="0"/>
                        </a:rPr>
                        <a:t>heterocigoto</a:t>
                      </a:r>
                      <a:endParaRPr lang="es-ES" sz="1200" b="0" strike="noStrike" spc="-1" dirty="0">
                        <a:latin typeface="Aptos" panose="020B0004020202020204" pitchFamily="34" charset="0"/>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a:lstStyle/>
                    <a:p>
                      <a:pPr algn="ctr">
                        <a:lnSpc>
                          <a:spcPct val="100000"/>
                        </a:lnSpc>
                      </a:pPr>
                      <a:r>
                        <a:rPr lang="es-ES" sz="1200" b="0" strike="noStrike" spc="-1" dirty="0">
                          <a:solidFill>
                            <a:srgbClr val="000000"/>
                          </a:solidFill>
                          <a:latin typeface="Aptos" panose="020B0004020202020204" pitchFamily="34" charset="0"/>
                        </a:rPr>
                        <a:t>6.19 x 10-7 (mutación)</a:t>
                      </a:r>
                      <a:endParaRPr lang="es-ES" sz="1200" b="0" strike="noStrike" spc="-1" dirty="0">
                        <a:latin typeface="Aptos" panose="020B0004020202020204" pitchFamily="34" charset="0"/>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a:lstStyle/>
                    <a:p>
                      <a:pPr algn="ctr">
                        <a:lnSpc>
                          <a:spcPct val="100000"/>
                        </a:lnSpc>
                      </a:pPr>
                      <a:r>
                        <a:rPr lang="es-ES" sz="1200" b="0" strike="noStrike" spc="-1">
                          <a:solidFill>
                            <a:srgbClr val="000000"/>
                          </a:solidFill>
                          <a:latin typeface="Aptos" panose="020B0004020202020204" pitchFamily="34" charset="0"/>
                        </a:rPr>
                        <a:t>ENST00000349533.11</a:t>
                      </a:r>
                      <a:endParaRPr lang="es-ES" sz="1200" b="0" strike="noStrike" spc="-1">
                        <a:latin typeface="Aptos" panose="020B0004020202020204" pitchFamily="34" charset="0"/>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a:lstStyle/>
                    <a:p>
                      <a:pPr algn="ctr">
                        <a:lnSpc>
                          <a:spcPct val="100000"/>
                        </a:lnSpc>
                      </a:pPr>
                      <a:r>
                        <a:rPr lang="es-ES" sz="1200" b="0" strike="noStrike" spc="-1" dirty="0">
                          <a:solidFill>
                            <a:srgbClr val="000000"/>
                          </a:solidFill>
                          <a:latin typeface="Aptos" panose="020B0004020202020204" pitchFamily="34" charset="0"/>
                        </a:rPr>
                        <a:t>ENSP00000330393.7:p.Ser597IlefsTer20</a:t>
                      </a:r>
                      <a:endParaRPr lang="es-ES" sz="1200" b="0" strike="noStrike" spc="-1" dirty="0">
                        <a:latin typeface="Aptos" panose="020B0004020202020204" pitchFamily="34" charset="0"/>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a:lstStyle/>
                    <a:p>
                      <a:pPr algn="ctr">
                        <a:lnSpc>
                          <a:spcPct val="100000"/>
                        </a:lnSpc>
                      </a:pPr>
                      <a:r>
                        <a:rPr lang="es-ES" sz="1200" b="0" strike="noStrike" spc="-1" dirty="0" err="1">
                          <a:solidFill>
                            <a:srgbClr val="000000"/>
                          </a:solidFill>
                          <a:latin typeface="Aptos" panose="020B0004020202020204" pitchFamily="34" charset="0"/>
                        </a:rPr>
                        <a:t>Frameshift</a:t>
                      </a:r>
                      <a:endParaRPr lang="es-ES" sz="1200" b="0" strike="noStrike" spc="-1" dirty="0">
                        <a:latin typeface="Aptos" panose="020B0004020202020204" pitchFamily="34" charset="0"/>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a:lstStyle/>
                    <a:p>
                      <a:pPr algn="ctr">
                        <a:lnSpc>
                          <a:spcPct val="100000"/>
                        </a:lnSpc>
                      </a:pPr>
                      <a:r>
                        <a:rPr lang="es-ES" sz="1200" b="0" strike="noStrike" spc="-1">
                          <a:solidFill>
                            <a:srgbClr val="000000"/>
                          </a:solidFill>
                          <a:latin typeface="Aptos" panose="020B0004020202020204" pitchFamily="34" charset="0"/>
                        </a:rPr>
                        <a:t>???</a:t>
                      </a:r>
                      <a:endParaRPr lang="es-ES" sz="1200" b="0" strike="noStrike" spc="-1">
                        <a:latin typeface="Aptos" panose="020B0004020202020204" pitchFamily="34" charset="0"/>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a:lstStyle/>
                    <a:p>
                      <a:pPr algn="ctr">
                        <a:lnSpc>
                          <a:spcPct val="100000"/>
                        </a:lnSpc>
                      </a:pPr>
                      <a:r>
                        <a:rPr lang="es-ES" sz="1200" b="0" strike="noStrike" spc="-1" dirty="0">
                          <a:solidFill>
                            <a:srgbClr val="000000"/>
                          </a:solidFill>
                          <a:latin typeface="Aptos" panose="020B0004020202020204" pitchFamily="34" charset="0"/>
                        </a:rPr>
                        <a:t>???</a:t>
                      </a:r>
                      <a:endParaRPr lang="es-ES" sz="1200" b="0" strike="noStrike" spc="-1" dirty="0">
                        <a:latin typeface="Aptos" panose="020B0004020202020204" pitchFamily="34" charset="0"/>
                      </a:endParaRPr>
                    </a:p>
                  </a:txBody>
                  <a:tcPr marL="7560" marR="7560">
                    <a:lnL w="12240">
                      <a:solidFill>
                        <a:srgbClr val="FFFFFF"/>
                      </a:solidFill>
                    </a:lnL>
                    <a:lnR w="12240" cap="flat" cmpd="sng" algn="ctr">
                      <a:solidFill>
                        <a:srgbClr val="FFFFFF"/>
                      </a:solidFill>
                      <a:prstDash val="solid"/>
                      <a:round/>
                      <a:headEnd type="none" w="med" len="med"/>
                      <a:tailEnd type="none" w="med" len="med"/>
                    </a:lnR>
                    <a:lnT w="12240">
                      <a:solidFill>
                        <a:srgbClr val="FFFFFF"/>
                      </a:solidFill>
                    </a:lnT>
                    <a:lnB w="12240">
                      <a:solidFill>
                        <a:srgbClr val="FFFFFF"/>
                      </a:solidFill>
                    </a:lnB>
                    <a:solidFill>
                      <a:srgbClr val="E7EAEC"/>
                    </a:solidFill>
                  </a:tcPr>
                </a:tc>
                <a:tc>
                  <a:txBody>
                    <a:bodyPr/>
                    <a:lstStyle/>
                    <a:p>
                      <a:pPr algn="ctr">
                        <a:lnSpc>
                          <a:spcPct val="100000"/>
                        </a:lnSpc>
                      </a:pPr>
                      <a:r>
                        <a:rPr lang="es-ES" sz="1200" b="0" strike="noStrike" spc="-1" dirty="0">
                          <a:latin typeface="Aptos" panose="020B0004020202020204" pitchFamily="34" charset="0"/>
                        </a:rPr>
                        <a:t>#614963</a:t>
                      </a:r>
                    </a:p>
                  </a:txBody>
                  <a:tcPr marL="7560" marR="7560">
                    <a:lnL w="12240">
                      <a:solidFill>
                        <a:srgbClr val="FFFFFF"/>
                      </a:solidFill>
                    </a:lnL>
                    <a:lnR w="12240" cap="flat" cmpd="sng" algn="ctr">
                      <a:solidFill>
                        <a:srgbClr val="FFFFFF"/>
                      </a:solidFill>
                      <a:prstDash val="solid"/>
                      <a:round/>
                      <a:headEnd type="none" w="med" len="med"/>
                      <a:tailEnd type="none" w="med" len="med"/>
                    </a:lnR>
                    <a:lnT w="12240" cap="flat" cmpd="sng" algn="ctr">
                      <a:solidFill>
                        <a:srgbClr val="FFFFFF"/>
                      </a:solidFill>
                      <a:prstDash val="solid"/>
                      <a:round/>
                      <a:headEnd type="none" w="med" len="med"/>
                      <a:tailEnd type="none" w="med" len="med"/>
                    </a:lnT>
                    <a:lnB w="12240" cap="flat" cmpd="sng" algn="ctr">
                      <a:solidFill>
                        <a:srgbClr val="FFFFFF"/>
                      </a:solidFill>
                      <a:prstDash val="solid"/>
                      <a:round/>
                      <a:headEnd type="none" w="med" len="med"/>
                      <a:tailEnd type="none" w="med" len="med"/>
                    </a:lnB>
                    <a:solidFill>
                      <a:srgbClr val="E7EAEC"/>
                    </a:solidFill>
                  </a:tcPr>
                </a:tc>
                <a:tc>
                  <a:txBody>
                    <a:bodyPr/>
                    <a:lstStyle/>
                    <a:p>
                      <a:pPr algn="ctr">
                        <a:lnSpc>
                          <a:spcPct val="100000"/>
                        </a:lnSpc>
                      </a:pPr>
                      <a:r>
                        <a:rPr lang="es-ES" sz="1200" b="0" strike="noStrike" spc="-1" dirty="0">
                          <a:latin typeface="Aptos" panose="020B0004020202020204" pitchFamily="34" charset="0"/>
                        </a:rPr>
                        <a:t>Autosómico recesiva</a:t>
                      </a:r>
                    </a:p>
                  </a:txBody>
                  <a:tcPr marL="7560" marR="7560">
                    <a:lnL w="12240">
                      <a:solidFill>
                        <a:srgbClr val="FFFFFF"/>
                      </a:solidFill>
                    </a:lnL>
                    <a:lnR w="12240" cap="flat" cmpd="sng" algn="ctr">
                      <a:solidFill>
                        <a:srgbClr val="FFFFFF"/>
                      </a:solidFill>
                      <a:prstDash val="solid"/>
                      <a:round/>
                      <a:headEnd type="none" w="med" len="med"/>
                      <a:tailEnd type="none" w="med" len="med"/>
                    </a:lnR>
                    <a:lnT w="12240" cap="flat" cmpd="sng" algn="ctr">
                      <a:solidFill>
                        <a:srgbClr val="FFFFFF"/>
                      </a:solidFill>
                      <a:prstDash val="solid"/>
                      <a:round/>
                      <a:headEnd type="none" w="med" len="med"/>
                      <a:tailEnd type="none" w="med" len="med"/>
                    </a:lnT>
                    <a:lnB w="12240" cap="flat" cmpd="sng" algn="ctr">
                      <a:solidFill>
                        <a:srgbClr val="FFFFFF"/>
                      </a:solidFill>
                      <a:prstDash val="solid"/>
                      <a:round/>
                      <a:headEnd type="none" w="med" len="med"/>
                      <a:tailEnd type="none" w="med" len="med"/>
                    </a:lnB>
                    <a:solidFill>
                      <a:srgbClr val="E7EAEC"/>
                    </a:solidFill>
                  </a:tcPr>
                </a:tc>
                <a:tc>
                  <a:txBody>
                    <a:bodyPr/>
                    <a:lstStyle/>
                    <a:p>
                      <a:pPr algn="ctr">
                        <a:lnSpc>
                          <a:spcPct val="100000"/>
                        </a:lnSpc>
                      </a:pPr>
                      <a:r>
                        <a:rPr lang="es-ES" sz="1200" b="0" strike="noStrike" spc="-1" dirty="0">
                          <a:latin typeface="Aptos" panose="020B0004020202020204" pitchFamily="34" charset="0"/>
                        </a:rPr>
                        <a:t>Vías de señalización de </a:t>
                      </a:r>
                      <a:r>
                        <a:rPr lang="es-ES" sz="1200" b="0" strike="noStrike" spc="-1" dirty="0" err="1">
                          <a:latin typeface="Aptos" panose="020B0004020202020204" pitchFamily="34" charset="0"/>
                        </a:rPr>
                        <a:t>adipocitocinas</a:t>
                      </a:r>
                      <a:r>
                        <a:rPr lang="es-ES" sz="1200" b="0" strike="noStrike" spc="-1" dirty="0">
                          <a:latin typeface="Aptos" panose="020B0004020202020204" pitchFamily="34" charset="0"/>
                        </a:rPr>
                        <a:t> y hormonales de AMPK, JAK y STAT</a:t>
                      </a:r>
                    </a:p>
                  </a:txBody>
                  <a:tcPr marL="7560" marR="7560">
                    <a:lnL w="12240">
                      <a:solidFill>
                        <a:srgbClr val="FFFFFF"/>
                      </a:solidFill>
                    </a:lnL>
                    <a:lnR w="12240">
                      <a:solidFill>
                        <a:srgbClr val="FFFFFF"/>
                      </a:solidFill>
                    </a:lnR>
                    <a:lnT w="12240" cap="flat" cmpd="sng" algn="ctr">
                      <a:solidFill>
                        <a:srgbClr val="FFFFFF"/>
                      </a:solidFill>
                      <a:prstDash val="solid"/>
                      <a:round/>
                      <a:headEnd type="none" w="med" len="med"/>
                      <a:tailEnd type="none" w="med" len="med"/>
                    </a:lnT>
                    <a:lnB w="12240" cap="flat" cmpd="sng" algn="ctr">
                      <a:solidFill>
                        <a:srgbClr val="FFFFFF"/>
                      </a:solidFill>
                      <a:prstDash val="solid"/>
                      <a:round/>
                      <a:headEnd type="none" w="med" len="med"/>
                      <a:tailEnd type="none" w="med" len="med"/>
                    </a:lnB>
                    <a:solidFill>
                      <a:srgbClr val="E7EAEC"/>
                    </a:solidFill>
                  </a:tcPr>
                </a:tc>
                <a:extLst>
                  <a:ext uri="{0D108BD9-81ED-4DB2-BD59-A6C34878D82A}">
                    <a16:rowId xmlns:a16="http://schemas.microsoft.com/office/drawing/2014/main" val="10001"/>
                  </a:ext>
                </a:extLst>
              </a:tr>
              <a:tr h="712080">
                <a:tc>
                  <a:txBody>
                    <a:bodyPr/>
                    <a:lstStyle/>
                    <a:p>
                      <a:pPr>
                        <a:lnSpc>
                          <a:spcPct val="100000"/>
                        </a:lnSpc>
                      </a:pPr>
                      <a:r>
                        <a:rPr lang="es-ES" sz="1200" b="0" strike="noStrike" spc="-1" dirty="0">
                          <a:solidFill>
                            <a:srgbClr val="000000"/>
                          </a:solidFill>
                          <a:latin typeface="Aptos" panose="020B0004020202020204" pitchFamily="34" charset="0"/>
                        </a:rPr>
                        <a:t>MC4R</a:t>
                      </a:r>
                      <a:endParaRPr lang="es-ES" sz="1200" b="0" strike="noStrike" spc="-1" dirty="0">
                        <a:latin typeface="Aptos" panose="020B0004020202020204" pitchFamily="34" charset="0"/>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a:lstStyle/>
                    <a:p>
                      <a:pPr algn="ctr">
                        <a:lnSpc>
                          <a:spcPct val="100000"/>
                        </a:lnSpc>
                      </a:pPr>
                      <a:r>
                        <a:rPr lang="es-ES" sz="1200" b="0" strike="noStrike" spc="-1">
                          <a:solidFill>
                            <a:srgbClr val="000000"/>
                          </a:solidFill>
                          <a:latin typeface="Aptos" panose="020B0004020202020204" pitchFamily="34" charset="0"/>
                        </a:rPr>
                        <a:t>18:60371535</a:t>
                      </a:r>
                      <a:endParaRPr lang="es-ES" sz="1200" b="0" strike="noStrike" spc="-1">
                        <a:latin typeface="Aptos" panose="020B0004020202020204" pitchFamily="34" charset="0"/>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a:lstStyle/>
                    <a:p>
                      <a:pPr algn="ctr">
                        <a:lnSpc>
                          <a:spcPct val="100000"/>
                        </a:lnSpc>
                      </a:pPr>
                      <a:r>
                        <a:rPr lang="es-ES" sz="1200" b="0" strike="noStrike" spc="-1">
                          <a:solidFill>
                            <a:srgbClr val="000000"/>
                          </a:solidFill>
                          <a:latin typeface="Aptos" panose="020B0004020202020204" pitchFamily="34" charset="0"/>
                        </a:rPr>
                        <a:t>ENST00000299766.5:c.815C&gt;A</a:t>
                      </a:r>
                      <a:endParaRPr lang="es-ES" sz="1200" b="0" strike="noStrike" spc="-1">
                        <a:latin typeface="Aptos" panose="020B0004020202020204" pitchFamily="34" charset="0"/>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a:lstStyle/>
                    <a:p>
                      <a:pPr algn="ctr">
                        <a:lnSpc>
                          <a:spcPct val="100000"/>
                        </a:lnSpc>
                      </a:pPr>
                      <a:r>
                        <a:rPr lang="es-ES" sz="1200" b="0" strike="noStrike" spc="-1" dirty="0">
                          <a:solidFill>
                            <a:srgbClr val="000000"/>
                          </a:solidFill>
                          <a:latin typeface="Aptos" panose="020B0004020202020204" pitchFamily="34" charset="0"/>
                        </a:rPr>
                        <a:t>SNP</a:t>
                      </a:r>
                      <a:endParaRPr lang="es-ES" sz="1200" b="0" strike="noStrike" spc="-1" dirty="0">
                        <a:latin typeface="Aptos" panose="020B0004020202020204" pitchFamily="34" charset="0"/>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a:lstStyle/>
                    <a:p>
                      <a:pPr algn="ctr">
                        <a:lnSpc>
                          <a:spcPct val="100000"/>
                        </a:lnSpc>
                      </a:pPr>
                      <a:r>
                        <a:rPr lang="es-ES" sz="1200" b="0" strike="noStrike" spc="-1" dirty="0">
                          <a:solidFill>
                            <a:srgbClr val="000000"/>
                          </a:solidFill>
                          <a:latin typeface="Aptos" panose="020B0004020202020204" pitchFamily="34" charset="0"/>
                        </a:rPr>
                        <a:t>heterocigoto</a:t>
                      </a:r>
                      <a:endParaRPr lang="es-ES" sz="1200" b="0" strike="noStrike" spc="-1" dirty="0">
                        <a:latin typeface="Aptos" panose="020B0004020202020204" pitchFamily="34" charset="0"/>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a:lstStyle/>
                    <a:p>
                      <a:pPr algn="ctr">
                        <a:lnSpc>
                          <a:spcPct val="100000"/>
                        </a:lnSpc>
                      </a:pPr>
                      <a:r>
                        <a:rPr lang="es-ES" sz="1200" b="0" strike="noStrike" spc="-1" dirty="0">
                          <a:solidFill>
                            <a:srgbClr val="000000"/>
                          </a:solidFill>
                          <a:latin typeface="Aptos" panose="020B0004020202020204" pitchFamily="34" charset="0"/>
                        </a:rPr>
                        <a:t>6.195x10-7</a:t>
                      </a:r>
                      <a:endParaRPr lang="es-ES" sz="1200" b="0" strike="noStrike" spc="-1" dirty="0">
                        <a:latin typeface="Aptos" panose="020B0004020202020204" pitchFamily="34" charset="0"/>
                      </a:endParaRPr>
                    </a:p>
                    <a:p>
                      <a:pPr algn="ctr">
                        <a:lnSpc>
                          <a:spcPct val="100000"/>
                        </a:lnSpc>
                      </a:pPr>
                      <a:r>
                        <a:rPr lang="es-ES" sz="1200" b="0" strike="noStrike" spc="-1" dirty="0">
                          <a:solidFill>
                            <a:srgbClr val="000000"/>
                          </a:solidFill>
                          <a:latin typeface="Aptos" panose="020B0004020202020204" pitchFamily="34" charset="0"/>
                        </a:rPr>
                        <a:t>(mutación)</a:t>
                      </a:r>
                      <a:endParaRPr lang="es-ES" sz="1200" b="0" strike="noStrike" spc="-1" dirty="0">
                        <a:latin typeface="Aptos" panose="020B0004020202020204" pitchFamily="34" charset="0"/>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a:lstStyle/>
                    <a:p>
                      <a:pPr algn="ctr">
                        <a:lnSpc>
                          <a:spcPct val="100000"/>
                        </a:lnSpc>
                      </a:pPr>
                      <a:r>
                        <a:rPr lang="es-ES" sz="1200" b="0" strike="noStrike" spc="-1">
                          <a:solidFill>
                            <a:srgbClr val="000000"/>
                          </a:solidFill>
                          <a:latin typeface="Aptos" panose="020B0004020202020204" pitchFamily="34" charset="0"/>
                        </a:rPr>
                        <a:t>ENST00000299766.5</a:t>
                      </a:r>
                      <a:endParaRPr lang="es-ES" sz="1200" b="0" strike="noStrike" spc="-1">
                        <a:latin typeface="Aptos" panose="020B0004020202020204" pitchFamily="34" charset="0"/>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a:lstStyle/>
                    <a:p>
                      <a:pPr algn="ctr">
                        <a:lnSpc>
                          <a:spcPct val="100000"/>
                        </a:lnSpc>
                      </a:pPr>
                      <a:r>
                        <a:rPr lang="es-ES" sz="1200" b="0" strike="noStrike" spc="-1">
                          <a:solidFill>
                            <a:srgbClr val="000000"/>
                          </a:solidFill>
                          <a:latin typeface="Aptos" panose="020B0004020202020204" pitchFamily="34" charset="0"/>
                        </a:rPr>
                        <a:t>ENSP00000299766.3:p.Pro272His</a:t>
                      </a:r>
                      <a:endParaRPr lang="es-ES" sz="1200" b="0" strike="noStrike" spc="-1">
                        <a:latin typeface="Aptos" panose="020B0004020202020204" pitchFamily="34" charset="0"/>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a:lstStyle/>
                    <a:p>
                      <a:pPr algn="ctr">
                        <a:lnSpc>
                          <a:spcPct val="100000"/>
                        </a:lnSpc>
                      </a:pPr>
                      <a:r>
                        <a:rPr lang="es-ES" sz="1200" b="0" strike="noStrike" spc="-1">
                          <a:solidFill>
                            <a:srgbClr val="000000"/>
                          </a:solidFill>
                          <a:latin typeface="Aptos" panose="020B0004020202020204" pitchFamily="34" charset="0"/>
                        </a:rPr>
                        <a:t>Missense</a:t>
                      </a:r>
                      <a:endParaRPr lang="es-ES" sz="1200" b="0" strike="noStrike" spc="-1">
                        <a:latin typeface="Aptos" panose="020B0004020202020204" pitchFamily="34" charset="0"/>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a:lstStyle/>
                    <a:p>
                      <a:pPr algn="ctr">
                        <a:lnSpc>
                          <a:spcPct val="100000"/>
                        </a:lnSpc>
                      </a:pPr>
                      <a:r>
                        <a:rPr lang="es-ES" sz="1200" b="0" strike="noStrike" spc="-1" dirty="0" err="1">
                          <a:solidFill>
                            <a:srgbClr val="000000"/>
                          </a:solidFill>
                          <a:latin typeface="Aptos" panose="020B0004020202020204" pitchFamily="34" charset="0"/>
                        </a:rPr>
                        <a:t>deleterious</a:t>
                      </a:r>
                      <a:r>
                        <a:rPr lang="es-ES" sz="1200" b="0" strike="noStrike" spc="-1" dirty="0">
                          <a:solidFill>
                            <a:srgbClr val="000000"/>
                          </a:solidFill>
                          <a:latin typeface="Aptos" panose="020B0004020202020204" pitchFamily="34" charset="0"/>
                        </a:rPr>
                        <a:t> (0)</a:t>
                      </a:r>
                      <a:endParaRPr lang="es-ES" sz="1200" b="0" strike="noStrike" spc="-1" dirty="0">
                        <a:latin typeface="Aptos" panose="020B0004020202020204" pitchFamily="34" charset="0"/>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a:lstStyle/>
                    <a:p>
                      <a:pPr algn="ctr">
                        <a:lnSpc>
                          <a:spcPct val="100000"/>
                        </a:lnSpc>
                      </a:pPr>
                      <a:r>
                        <a:rPr lang="es-ES" sz="1200" b="0" strike="noStrike" spc="-1">
                          <a:solidFill>
                            <a:srgbClr val="000000"/>
                          </a:solidFill>
                          <a:latin typeface="Aptos" panose="020B0004020202020204" pitchFamily="34" charset="0"/>
                        </a:rPr>
                        <a:t>probably damaging (1)</a:t>
                      </a:r>
                      <a:endParaRPr lang="es-ES" sz="1200" b="0" strike="noStrike" spc="-1">
                        <a:latin typeface="Aptos" panose="020B0004020202020204" pitchFamily="34" charset="0"/>
                      </a:endParaRPr>
                    </a:p>
                  </a:txBody>
                  <a:tcPr marL="7560" marR="7560">
                    <a:lnL w="12240">
                      <a:solidFill>
                        <a:srgbClr val="FFFFFF"/>
                      </a:solidFill>
                    </a:lnL>
                    <a:lnR w="12240" cap="flat" cmpd="sng" algn="ctr">
                      <a:solidFill>
                        <a:srgbClr val="FFFFFF"/>
                      </a:solidFill>
                      <a:prstDash val="solid"/>
                      <a:round/>
                      <a:headEnd type="none" w="med" len="med"/>
                      <a:tailEnd type="none" w="med" len="med"/>
                    </a:lnR>
                    <a:lnT w="12240">
                      <a:solidFill>
                        <a:srgbClr val="FFFFFF"/>
                      </a:solidFill>
                    </a:lnT>
                    <a:lnB w="12240">
                      <a:solidFill>
                        <a:srgbClr val="FFFFFF"/>
                      </a:solidFill>
                    </a:lnB>
                    <a:solidFill>
                      <a:srgbClr val="E7EAEC"/>
                    </a:solidFill>
                  </a:tcPr>
                </a:tc>
                <a:tc>
                  <a:txBody>
                    <a:bodyPr/>
                    <a:lstStyle/>
                    <a:p>
                      <a:pPr algn="ctr">
                        <a:lnSpc>
                          <a:spcPct val="100000"/>
                        </a:lnSpc>
                      </a:pPr>
                      <a:r>
                        <a:rPr lang="es-ES" sz="1200" b="0" strike="noStrike" spc="-1" dirty="0">
                          <a:latin typeface="Aptos" panose="020B0004020202020204" pitchFamily="34" charset="0"/>
                        </a:rPr>
                        <a:t>#618406</a:t>
                      </a:r>
                    </a:p>
                  </a:txBody>
                  <a:tcPr marL="7560" marR="7560">
                    <a:lnL w="12240">
                      <a:solidFill>
                        <a:srgbClr val="FFFFFF"/>
                      </a:solidFill>
                    </a:lnL>
                    <a:lnR w="12240" cap="flat" cmpd="sng" algn="ctr">
                      <a:solidFill>
                        <a:srgbClr val="FFFFFF"/>
                      </a:solidFill>
                      <a:prstDash val="solid"/>
                      <a:round/>
                      <a:headEnd type="none" w="med" len="med"/>
                      <a:tailEnd type="none" w="med" len="med"/>
                    </a:lnR>
                    <a:lnT w="12240" cap="flat" cmpd="sng" algn="ctr">
                      <a:solidFill>
                        <a:srgbClr val="FFFFFF"/>
                      </a:solidFill>
                      <a:prstDash val="solid"/>
                      <a:round/>
                      <a:headEnd type="none" w="med" len="med"/>
                      <a:tailEnd type="none" w="med" len="med"/>
                    </a:lnT>
                    <a:lnB w="12240" cap="flat" cmpd="sng" algn="ctr">
                      <a:solidFill>
                        <a:srgbClr val="FFFFFF"/>
                      </a:solidFill>
                      <a:prstDash val="solid"/>
                      <a:round/>
                      <a:headEnd type="none" w="med" len="med"/>
                      <a:tailEnd type="none" w="med" len="med"/>
                    </a:lnB>
                    <a:solidFill>
                      <a:srgbClr val="E7EAEC"/>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 sz="1200" b="0" strike="noStrike" spc="-1" dirty="0">
                          <a:latin typeface="Aptos" panose="020B0004020202020204" pitchFamily="34" charset="0"/>
                        </a:rPr>
                        <a:t>Autosómico recesiva</a:t>
                      </a:r>
                    </a:p>
                    <a:p>
                      <a:pPr algn="ctr">
                        <a:lnSpc>
                          <a:spcPct val="100000"/>
                        </a:lnSpc>
                      </a:pPr>
                      <a:endParaRPr lang="es-ES" sz="1200" b="0" strike="noStrike" spc="-1" dirty="0">
                        <a:latin typeface="Aptos" panose="020B0004020202020204" pitchFamily="34" charset="0"/>
                      </a:endParaRPr>
                    </a:p>
                  </a:txBody>
                  <a:tcPr marL="7560" marR="7560">
                    <a:lnL w="12240">
                      <a:solidFill>
                        <a:srgbClr val="FFFFFF"/>
                      </a:solidFill>
                    </a:lnL>
                    <a:lnR w="12240" cap="flat" cmpd="sng" algn="ctr">
                      <a:solidFill>
                        <a:srgbClr val="FFFFFF"/>
                      </a:solidFill>
                      <a:prstDash val="solid"/>
                      <a:round/>
                      <a:headEnd type="none" w="med" len="med"/>
                      <a:tailEnd type="none" w="med" len="med"/>
                    </a:lnR>
                    <a:lnT w="12240" cap="flat" cmpd="sng" algn="ctr">
                      <a:solidFill>
                        <a:srgbClr val="FFFFFF"/>
                      </a:solidFill>
                      <a:prstDash val="solid"/>
                      <a:round/>
                      <a:headEnd type="none" w="med" len="med"/>
                      <a:tailEnd type="none" w="med" len="med"/>
                    </a:lnT>
                    <a:lnB w="12240" cap="flat" cmpd="sng" algn="ctr">
                      <a:solidFill>
                        <a:srgbClr val="FFFFFF"/>
                      </a:solidFill>
                      <a:prstDash val="solid"/>
                      <a:round/>
                      <a:headEnd type="none" w="med" len="med"/>
                      <a:tailEnd type="none" w="med" len="med"/>
                    </a:lnB>
                    <a:solidFill>
                      <a:srgbClr val="E7EAEC"/>
                    </a:solidFill>
                  </a:tcPr>
                </a:tc>
                <a:tc>
                  <a:txBody>
                    <a:bodyPr/>
                    <a:lstStyle/>
                    <a:p>
                      <a:pPr algn="ctr">
                        <a:lnSpc>
                          <a:spcPct val="100000"/>
                        </a:lnSpc>
                      </a:pPr>
                      <a:r>
                        <a:rPr lang="es-ES" sz="1200" b="0" strike="noStrike" spc="-1" dirty="0">
                          <a:latin typeface="Aptos" panose="020B0004020202020204" pitchFamily="34" charset="0"/>
                        </a:rPr>
                        <a:t>Vía de señalización de la saciedad </a:t>
                      </a:r>
                    </a:p>
                  </a:txBody>
                  <a:tcPr marL="7560" marR="7560">
                    <a:lnL w="12240">
                      <a:solidFill>
                        <a:srgbClr val="FFFFFF"/>
                      </a:solidFill>
                    </a:lnL>
                    <a:lnR w="12240">
                      <a:solidFill>
                        <a:srgbClr val="FFFFFF"/>
                      </a:solidFill>
                    </a:lnR>
                    <a:lnT w="12240" cap="flat" cmpd="sng" algn="ctr">
                      <a:solidFill>
                        <a:srgbClr val="FFFFFF"/>
                      </a:solidFill>
                      <a:prstDash val="solid"/>
                      <a:round/>
                      <a:headEnd type="none" w="med" len="med"/>
                      <a:tailEnd type="none" w="med" len="med"/>
                    </a:lnT>
                    <a:lnB w="12240" cap="flat" cmpd="sng" algn="ctr">
                      <a:solidFill>
                        <a:srgbClr val="FFFFFF"/>
                      </a:solidFill>
                      <a:prstDash val="solid"/>
                      <a:round/>
                      <a:headEnd type="none" w="med" len="med"/>
                      <a:tailEnd type="none" w="med" len="med"/>
                    </a:lnB>
                    <a:solidFill>
                      <a:srgbClr val="E7EAEC"/>
                    </a:solidFill>
                  </a:tcPr>
                </a:tc>
                <a:extLst>
                  <a:ext uri="{0D108BD9-81ED-4DB2-BD59-A6C34878D82A}">
                    <a16:rowId xmlns:a16="http://schemas.microsoft.com/office/drawing/2014/main" val="10002"/>
                  </a:ext>
                </a:extLst>
              </a:tr>
              <a:tr h="648606">
                <a:tc>
                  <a:txBody>
                    <a:bodyPr/>
                    <a:lstStyle/>
                    <a:p>
                      <a:pPr>
                        <a:lnSpc>
                          <a:spcPct val="100000"/>
                        </a:lnSpc>
                      </a:pPr>
                      <a:r>
                        <a:rPr lang="es-ES" sz="1200" b="0" strike="noStrike" spc="-1" dirty="0">
                          <a:solidFill>
                            <a:srgbClr val="000000"/>
                          </a:solidFill>
                          <a:latin typeface="Aptos" panose="020B0004020202020204" pitchFamily="34" charset="0"/>
                        </a:rPr>
                        <a:t>MED12</a:t>
                      </a:r>
                      <a:endParaRPr lang="es-ES" sz="1200" b="0" strike="noStrike" spc="-1" dirty="0">
                        <a:latin typeface="Aptos" panose="020B0004020202020204" pitchFamily="34" charset="0"/>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a:lstStyle/>
                    <a:p>
                      <a:pPr algn="ctr">
                        <a:lnSpc>
                          <a:spcPct val="100000"/>
                        </a:lnSpc>
                      </a:pPr>
                      <a:r>
                        <a:rPr lang="es-ES" sz="1200" b="0" strike="noStrike" spc="-1">
                          <a:solidFill>
                            <a:srgbClr val="000000"/>
                          </a:solidFill>
                          <a:latin typeface="Aptos" panose="020B0004020202020204" pitchFamily="34" charset="0"/>
                        </a:rPr>
                        <a:t>X:71121046</a:t>
                      </a:r>
                      <a:endParaRPr lang="es-ES" sz="1200" b="0" strike="noStrike" spc="-1">
                        <a:latin typeface="Aptos" panose="020B0004020202020204" pitchFamily="34" charset="0"/>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a:lstStyle/>
                    <a:p>
                      <a:pPr algn="ctr">
                        <a:lnSpc>
                          <a:spcPct val="100000"/>
                        </a:lnSpc>
                      </a:pPr>
                      <a:r>
                        <a:rPr lang="es-ES" sz="1200" b="0" strike="noStrike" spc="-1">
                          <a:solidFill>
                            <a:srgbClr val="000000"/>
                          </a:solidFill>
                          <a:latin typeface="Aptos" panose="020B0004020202020204" pitchFamily="34" charset="0"/>
                        </a:rPr>
                        <a:t>ENST00000374080.8:c.629C&gt;T</a:t>
                      </a:r>
                      <a:endParaRPr lang="es-ES" sz="1200" b="0" strike="noStrike" spc="-1">
                        <a:latin typeface="Aptos" panose="020B0004020202020204" pitchFamily="34" charset="0"/>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a:lstStyle/>
                    <a:p>
                      <a:pPr algn="ctr">
                        <a:lnSpc>
                          <a:spcPct val="100000"/>
                        </a:lnSpc>
                      </a:pPr>
                      <a:r>
                        <a:rPr lang="es-ES" sz="1200" b="0" strike="noStrike" spc="-1">
                          <a:solidFill>
                            <a:srgbClr val="000000"/>
                          </a:solidFill>
                          <a:latin typeface="Aptos" panose="020B0004020202020204" pitchFamily="34" charset="0"/>
                        </a:rPr>
                        <a:t>SNP</a:t>
                      </a:r>
                      <a:endParaRPr lang="es-ES" sz="1200" b="0" strike="noStrike" spc="-1">
                        <a:latin typeface="Aptos" panose="020B0004020202020204" pitchFamily="34" charset="0"/>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a:lstStyle/>
                    <a:p>
                      <a:pPr algn="ctr">
                        <a:lnSpc>
                          <a:spcPct val="100000"/>
                        </a:lnSpc>
                      </a:pPr>
                      <a:r>
                        <a:rPr lang="es-ES" sz="1200" b="0" strike="noStrike" spc="-1">
                          <a:solidFill>
                            <a:srgbClr val="000000"/>
                          </a:solidFill>
                          <a:latin typeface="Aptos" panose="020B0004020202020204" pitchFamily="34" charset="0"/>
                        </a:rPr>
                        <a:t>hemicigoto</a:t>
                      </a:r>
                      <a:endParaRPr lang="es-ES" sz="1200" b="0" strike="noStrike" spc="-1">
                        <a:latin typeface="Aptos" panose="020B0004020202020204" pitchFamily="34" charset="0"/>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a:lstStyle/>
                    <a:p>
                      <a:pPr algn="ctr">
                        <a:lnSpc>
                          <a:spcPct val="100000"/>
                        </a:lnSpc>
                      </a:pPr>
                      <a:r>
                        <a:rPr lang="es-ES" sz="1200" b="0" strike="noStrike" spc="-1">
                          <a:solidFill>
                            <a:srgbClr val="000000"/>
                          </a:solidFill>
                          <a:latin typeface="Aptos" panose="020B0004020202020204" pitchFamily="34" charset="0"/>
                        </a:rPr>
                        <a:t>4.553x10-6 (mutación)</a:t>
                      </a:r>
                      <a:endParaRPr lang="es-ES" sz="1200" b="0" strike="noStrike" spc="-1">
                        <a:latin typeface="Aptos" panose="020B0004020202020204" pitchFamily="34" charset="0"/>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a:lstStyle/>
                    <a:p>
                      <a:pPr algn="ctr">
                        <a:lnSpc>
                          <a:spcPct val="100000"/>
                        </a:lnSpc>
                      </a:pPr>
                      <a:r>
                        <a:rPr lang="es-ES" sz="1200" b="0" strike="noStrike" spc="-1">
                          <a:solidFill>
                            <a:srgbClr val="000000"/>
                          </a:solidFill>
                          <a:latin typeface="Aptos" panose="020B0004020202020204" pitchFamily="34" charset="0"/>
                        </a:rPr>
                        <a:t>ENST00000374080.8</a:t>
                      </a:r>
                      <a:endParaRPr lang="es-ES" sz="1200" b="0" strike="noStrike" spc="-1">
                        <a:latin typeface="Aptos" panose="020B0004020202020204" pitchFamily="34" charset="0"/>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a:lstStyle/>
                    <a:p>
                      <a:pPr algn="ctr">
                        <a:lnSpc>
                          <a:spcPct val="100000"/>
                        </a:lnSpc>
                      </a:pPr>
                      <a:r>
                        <a:rPr lang="es-ES" sz="1200" b="0" strike="noStrike" spc="-1">
                          <a:solidFill>
                            <a:srgbClr val="000000"/>
                          </a:solidFill>
                          <a:latin typeface="Aptos" panose="020B0004020202020204" pitchFamily="34" charset="0"/>
                        </a:rPr>
                        <a:t>ENSP00000363193.3:p.Ala210Val</a:t>
                      </a:r>
                      <a:endParaRPr lang="es-ES" sz="1200" b="0" strike="noStrike" spc="-1">
                        <a:latin typeface="Aptos" panose="020B0004020202020204" pitchFamily="34" charset="0"/>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a:lstStyle/>
                    <a:p>
                      <a:pPr algn="ctr">
                        <a:lnSpc>
                          <a:spcPct val="100000"/>
                        </a:lnSpc>
                      </a:pPr>
                      <a:r>
                        <a:rPr lang="es-ES" sz="1200" b="0" strike="noStrike" spc="-1">
                          <a:solidFill>
                            <a:srgbClr val="000000"/>
                          </a:solidFill>
                          <a:latin typeface="Aptos" panose="020B0004020202020204" pitchFamily="34" charset="0"/>
                        </a:rPr>
                        <a:t>Missense</a:t>
                      </a:r>
                      <a:endParaRPr lang="es-ES" sz="1200" b="0" strike="noStrike" spc="-1">
                        <a:latin typeface="Aptos" panose="020B0004020202020204" pitchFamily="34" charset="0"/>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a:lstStyle/>
                    <a:p>
                      <a:pPr algn="ctr">
                        <a:lnSpc>
                          <a:spcPct val="100000"/>
                        </a:lnSpc>
                      </a:pPr>
                      <a:r>
                        <a:rPr lang="es-ES" sz="1200" b="0" strike="noStrike" spc="-1">
                          <a:solidFill>
                            <a:srgbClr val="000000"/>
                          </a:solidFill>
                          <a:latin typeface="Aptos" panose="020B0004020202020204" pitchFamily="34" charset="0"/>
                        </a:rPr>
                        <a:t>deleterious low confidence (0.02)</a:t>
                      </a:r>
                      <a:endParaRPr lang="es-ES" sz="1200" b="0" strike="noStrike" spc="-1">
                        <a:latin typeface="Aptos" panose="020B0004020202020204" pitchFamily="34" charset="0"/>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a:lstStyle/>
                    <a:p>
                      <a:pPr algn="ctr">
                        <a:lnSpc>
                          <a:spcPct val="100000"/>
                        </a:lnSpc>
                      </a:pPr>
                      <a:r>
                        <a:rPr lang="es-ES" sz="1200" b="0" strike="noStrike" spc="-1" dirty="0" err="1">
                          <a:solidFill>
                            <a:srgbClr val="000000"/>
                          </a:solidFill>
                          <a:latin typeface="Aptos" panose="020B0004020202020204" pitchFamily="34" charset="0"/>
                        </a:rPr>
                        <a:t>benign</a:t>
                      </a:r>
                      <a:r>
                        <a:rPr lang="es-ES" sz="1200" b="0" strike="noStrike" spc="-1" dirty="0">
                          <a:solidFill>
                            <a:srgbClr val="000000"/>
                          </a:solidFill>
                          <a:latin typeface="Aptos" panose="020B0004020202020204" pitchFamily="34" charset="0"/>
                        </a:rPr>
                        <a:t> (0.19)</a:t>
                      </a:r>
                      <a:endParaRPr lang="es-ES" sz="1200" b="0" strike="noStrike" spc="-1" dirty="0">
                        <a:latin typeface="Aptos" panose="020B0004020202020204" pitchFamily="34" charset="0"/>
                      </a:endParaRPr>
                    </a:p>
                  </a:txBody>
                  <a:tcPr marL="7560" marR="7560">
                    <a:lnL w="12240">
                      <a:solidFill>
                        <a:srgbClr val="FFFFFF"/>
                      </a:solidFill>
                    </a:lnL>
                    <a:lnR w="12240" cap="flat" cmpd="sng" algn="ctr">
                      <a:solidFill>
                        <a:srgbClr val="FFFFFF"/>
                      </a:solidFill>
                      <a:prstDash val="solid"/>
                      <a:round/>
                      <a:headEnd type="none" w="med" len="med"/>
                      <a:tailEnd type="none" w="med" len="med"/>
                    </a:lnR>
                    <a:lnT w="12240">
                      <a:solidFill>
                        <a:srgbClr val="FFFFFF"/>
                      </a:solidFill>
                    </a:lnT>
                    <a:lnB w="12240">
                      <a:solidFill>
                        <a:srgbClr val="FFFFFF"/>
                      </a:solidFill>
                    </a:lnB>
                    <a:solidFill>
                      <a:srgbClr val="E7EAEC"/>
                    </a:solidFill>
                  </a:tcPr>
                </a:tc>
                <a:tc>
                  <a:txBody>
                    <a:bodyPr/>
                    <a:lstStyle/>
                    <a:p>
                      <a:pPr algn="ctr">
                        <a:lnSpc>
                          <a:spcPct val="100000"/>
                        </a:lnSpc>
                      </a:pPr>
                      <a:r>
                        <a:rPr lang="es-ES" sz="1200" b="0" strike="noStrike" spc="-1" dirty="0">
                          <a:latin typeface="Aptos" panose="020B0004020202020204" pitchFamily="34" charset="0"/>
                        </a:rPr>
                        <a:t>???</a:t>
                      </a:r>
                    </a:p>
                  </a:txBody>
                  <a:tcPr marL="7560" marR="7560">
                    <a:lnL w="12240">
                      <a:solidFill>
                        <a:srgbClr val="FFFFFF"/>
                      </a:solidFill>
                    </a:lnL>
                    <a:lnR w="12240" cap="flat" cmpd="sng" algn="ctr">
                      <a:solidFill>
                        <a:srgbClr val="FFFFFF"/>
                      </a:solidFill>
                      <a:prstDash val="solid"/>
                      <a:round/>
                      <a:headEnd type="none" w="med" len="med"/>
                      <a:tailEnd type="none" w="med" len="med"/>
                    </a:lnR>
                    <a:lnT w="12240" cap="flat" cmpd="sng" algn="ctr">
                      <a:solidFill>
                        <a:srgbClr val="FFFFFF"/>
                      </a:solidFill>
                      <a:prstDash val="solid"/>
                      <a:round/>
                      <a:headEnd type="none" w="med" len="med"/>
                      <a:tailEnd type="none" w="med" len="med"/>
                    </a:lnT>
                    <a:lnB w="12240" cap="flat" cmpd="sng" algn="ctr">
                      <a:solidFill>
                        <a:srgbClr val="FFFFFF"/>
                      </a:solidFill>
                      <a:prstDash val="solid"/>
                      <a:round/>
                      <a:headEnd type="none" w="med" len="med"/>
                      <a:tailEnd type="none" w="med" len="med"/>
                    </a:lnB>
                    <a:solidFill>
                      <a:srgbClr val="E7EAEC"/>
                    </a:solidFill>
                  </a:tcPr>
                </a:tc>
                <a:tc>
                  <a:txBody>
                    <a:bodyPr/>
                    <a:lstStyle/>
                    <a:p>
                      <a:pPr algn="ctr">
                        <a:lnSpc>
                          <a:spcPct val="100000"/>
                        </a:lnSpc>
                      </a:pPr>
                      <a:r>
                        <a:rPr lang="es-ES" sz="1200" b="0" strike="noStrike" spc="-1" dirty="0">
                          <a:latin typeface="Aptos" panose="020B0004020202020204" pitchFamily="34" charset="0"/>
                        </a:rPr>
                        <a:t>???</a:t>
                      </a:r>
                    </a:p>
                  </a:txBody>
                  <a:tcPr marL="7560" marR="7560">
                    <a:lnL w="12240">
                      <a:solidFill>
                        <a:srgbClr val="FFFFFF"/>
                      </a:solidFill>
                    </a:lnL>
                    <a:lnR w="12240" cap="flat" cmpd="sng" algn="ctr">
                      <a:solidFill>
                        <a:srgbClr val="FFFFFF"/>
                      </a:solidFill>
                      <a:prstDash val="solid"/>
                      <a:round/>
                      <a:headEnd type="none" w="med" len="med"/>
                      <a:tailEnd type="none" w="med" len="med"/>
                    </a:lnR>
                    <a:lnT w="12240" cap="flat" cmpd="sng" algn="ctr">
                      <a:solidFill>
                        <a:srgbClr val="FFFFFF"/>
                      </a:solidFill>
                      <a:prstDash val="solid"/>
                      <a:round/>
                      <a:headEnd type="none" w="med" len="med"/>
                      <a:tailEnd type="none" w="med" len="med"/>
                    </a:lnT>
                    <a:lnB w="12240" cap="flat" cmpd="sng" algn="ctr">
                      <a:solidFill>
                        <a:srgbClr val="FFFFFF"/>
                      </a:solidFill>
                      <a:prstDash val="solid"/>
                      <a:round/>
                      <a:headEnd type="none" w="med" len="med"/>
                      <a:tailEnd type="none" w="med" len="med"/>
                    </a:lnB>
                    <a:solidFill>
                      <a:srgbClr val="E7EAEC"/>
                    </a:solidFill>
                  </a:tcPr>
                </a:tc>
                <a:tc>
                  <a:txBody>
                    <a:bodyPr/>
                    <a:lstStyle/>
                    <a:p>
                      <a:pPr algn="ctr">
                        <a:lnSpc>
                          <a:spcPct val="100000"/>
                        </a:lnSpc>
                      </a:pPr>
                      <a:r>
                        <a:rPr lang="es-ES" sz="1200" b="0" strike="noStrike" spc="-1" dirty="0">
                          <a:latin typeface="Aptos" panose="020B0004020202020204" pitchFamily="34" charset="0"/>
                        </a:rPr>
                        <a:t>Vía de señalización de la hormona tiroidea</a:t>
                      </a:r>
                    </a:p>
                  </a:txBody>
                  <a:tcPr marL="7560" marR="7560">
                    <a:lnL w="12240">
                      <a:solidFill>
                        <a:srgbClr val="FFFFFF"/>
                      </a:solidFill>
                    </a:lnL>
                    <a:lnR w="12240">
                      <a:solidFill>
                        <a:srgbClr val="FFFFFF"/>
                      </a:solidFill>
                    </a:lnR>
                    <a:lnT w="12240" cap="flat" cmpd="sng" algn="ctr">
                      <a:solidFill>
                        <a:srgbClr val="FFFFFF"/>
                      </a:solidFill>
                      <a:prstDash val="solid"/>
                      <a:round/>
                      <a:headEnd type="none" w="med" len="med"/>
                      <a:tailEnd type="none" w="med" len="med"/>
                    </a:lnT>
                    <a:lnB w="12240" cap="flat" cmpd="sng" algn="ctr">
                      <a:solidFill>
                        <a:srgbClr val="FFFFFF"/>
                      </a:solidFill>
                      <a:prstDash val="solid"/>
                      <a:round/>
                      <a:headEnd type="none" w="med" len="med"/>
                      <a:tailEnd type="none" w="med" len="med"/>
                    </a:lnB>
                    <a:solidFill>
                      <a:srgbClr val="E7EAEC"/>
                    </a:solidFill>
                  </a:tcPr>
                </a:tc>
                <a:extLst>
                  <a:ext uri="{0D108BD9-81ED-4DB2-BD59-A6C34878D82A}">
                    <a16:rowId xmlns:a16="http://schemas.microsoft.com/office/drawing/2014/main" val="10003"/>
                  </a:ext>
                </a:extLst>
              </a:tr>
              <a:tr h="477360">
                <a:tc>
                  <a:txBody>
                    <a:bodyPr/>
                    <a:lstStyle/>
                    <a:p>
                      <a:pPr>
                        <a:lnSpc>
                          <a:spcPct val="100000"/>
                        </a:lnSpc>
                      </a:pPr>
                      <a:r>
                        <a:rPr lang="es-ES" sz="1200" b="0" strike="noStrike" spc="-1" dirty="0">
                          <a:solidFill>
                            <a:srgbClr val="000000"/>
                          </a:solidFill>
                          <a:latin typeface="Aptos" panose="020B0004020202020204" pitchFamily="34" charset="0"/>
                        </a:rPr>
                        <a:t>TP53</a:t>
                      </a:r>
                      <a:endParaRPr lang="es-ES" sz="1200" b="0" strike="noStrike" spc="-1" dirty="0">
                        <a:latin typeface="Aptos" panose="020B0004020202020204" pitchFamily="34" charset="0"/>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a:lstStyle/>
                    <a:p>
                      <a:pPr algn="ctr">
                        <a:lnSpc>
                          <a:spcPct val="100000"/>
                        </a:lnSpc>
                      </a:pPr>
                      <a:r>
                        <a:rPr lang="es-ES" sz="1200" b="0" strike="noStrike" spc="-1" dirty="0">
                          <a:solidFill>
                            <a:srgbClr val="000000"/>
                          </a:solidFill>
                          <a:latin typeface="Aptos" panose="020B0004020202020204" pitchFamily="34" charset="0"/>
                        </a:rPr>
                        <a:t>17:7676154</a:t>
                      </a:r>
                      <a:endParaRPr lang="es-ES" sz="1200" b="0" strike="noStrike" spc="-1" dirty="0">
                        <a:latin typeface="Aptos" panose="020B0004020202020204" pitchFamily="34" charset="0"/>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a:lstStyle/>
                    <a:p>
                      <a:pPr algn="ctr">
                        <a:lnSpc>
                          <a:spcPct val="100000"/>
                        </a:lnSpc>
                      </a:pPr>
                      <a:r>
                        <a:rPr lang="es-ES" sz="1200" b="0" strike="noStrike" spc="-1" dirty="0">
                          <a:solidFill>
                            <a:srgbClr val="000000"/>
                          </a:solidFill>
                          <a:latin typeface="Aptos" panose="020B0004020202020204" pitchFamily="34" charset="0"/>
                        </a:rPr>
                        <a:t>ENST00000269305.9:c.215C&gt;T</a:t>
                      </a:r>
                      <a:endParaRPr lang="es-ES" sz="1200" b="0" strike="noStrike" spc="-1" dirty="0">
                        <a:latin typeface="Aptos" panose="020B0004020202020204" pitchFamily="34" charset="0"/>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a:lstStyle/>
                    <a:p>
                      <a:pPr algn="ctr">
                        <a:lnSpc>
                          <a:spcPct val="100000"/>
                        </a:lnSpc>
                      </a:pPr>
                      <a:r>
                        <a:rPr lang="es-ES" sz="1200" b="0" strike="noStrike" spc="-1" dirty="0">
                          <a:solidFill>
                            <a:srgbClr val="000000"/>
                          </a:solidFill>
                          <a:latin typeface="Aptos" panose="020B0004020202020204" pitchFamily="34" charset="0"/>
                        </a:rPr>
                        <a:t>SNP</a:t>
                      </a:r>
                      <a:endParaRPr lang="es-ES" sz="1200" b="0" strike="noStrike" spc="-1" dirty="0">
                        <a:latin typeface="Aptos" panose="020B0004020202020204" pitchFamily="34" charset="0"/>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a:lstStyle/>
                    <a:p>
                      <a:pPr algn="ctr">
                        <a:lnSpc>
                          <a:spcPct val="100000"/>
                        </a:lnSpc>
                      </a:pPr>
                      <a:r>
                        <a:rPr lang="es-ES" sz="1200" b="0" strike="noStrike" spc="-1" dirty="0">
                          <a:solidFill>
                            <a:srgbClr val="000000"/>
                          </a:solidFill>
                          <a:latin typeface="Aptos" panose="020B0004020202020204" pitchFamily="34" charset="0"/>
                        </a:rPr>
                        <a:t>heterocigoto</a:t>
                      </a:r>
                      <a:endParaRPr lang="es-ES" sz="1200" b="0" strike="noStrike" spc="-1" dirty="0">
                        <a:latin typeface="Aptos" panose="020B0004020202020204" pitchFamily="34" charset="0"/>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a:lstStyle/>
                    <a:p>
                      <a:pPr algn="ctr">
                        <a:lnSpc>
                          <a:spcPct val="100000"/>
                        </a:lnSpc>
                      </a:pPr>
                      <a:r>
                        <a:rPr lang="es-ES" sz="1200" b="0" strike="noStrike" spc="-1" dirty="0">
                          <a:solidFill>
                            <a:srgbClr val="000000"/>
                          </a:solidFill>
                          <a:latin typeface="Aptos" panose="020B0004020202020204" pitchFamily="34" charset="0"/>
                        </a:rPr>
                        <a:t>6.19 x 10-7 (mutación)</a:t>
                      </a:r>
                      <a:endParaRPr lang="es-ES" sz="1200" b="0" strike="noStrike" spc="-1" dirty="0">
                        <a:latin typeface="Aptos" panose="020B0004020202020204" pitchFamily="34" charset="0"/>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a:lstStyle/>
                    <a:p>
                      <a:pPr algn="ctr">
                        <a:lnSpc>
                          <a:spcPct val="100000"/>
                        </a:lnSpc>
                      </a:pPr>
                      <a:r>
                        <a:rPr lang="es-ES" sz="1200" b="0" strike="noStrike" spc="-1" dirty="0">
                          <a:solidFill>
                            <a:srgbClr val="000000"/>
                          </a:solidFill>
                          <a:latin typeface="Aptos" panose="020B0004020202020204" pitchFamily="34" charset="0"/>
                        </a:rPr>
                        <a:t>ENST00000269305.9</a:t>
                      </a:r>
                      <a:endParaRPr lang="es-ES" sz="1200" b="0" strike="noStrike" spc="-1" dirty="0">
                        <a:latin typeface="Aptos" panose="020B0004020202020204" pitchFamily="34" charset="0"/>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a:lstStyle/>
                    <a:p>
                      <a:pPr algn="ctr">
                        <a:lnSpc>
                          <a:spcPct val="100000"/>
                        </a:lnSpc>
                      </a:pPr>
                      <a:r>
                        <a:rPr lang="es-ES" sz="1200" b="0" strike="noStrike" spc="-1" dirty="0">
                          <a:solidFill>
                            <a:srgbClr val="000000"/>
                          </a:solidFill>
                          <a:latin typeface="Aptos" panose="020B0004020202020204" pitchFamily="34" charset="0"/>
                        </a:rPr>
                        <a:t>ENSP00000269305.4:p.Pro72Leu</a:t>
                      </a:r>
                      <a:endParaRPr lang="es-ES" sz="1200" b="0" strike="noStrike" spc="-1" dirty="0">
                        <a:latin typeface="Aptos" panose="020B0004020202020204" pitchFamily="34" charset="0"/>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a:lstStyle/>
                    <a:p>
                      <a:pPr algn="ctr">
                        <a:lnSpc>
                          <a:spcPct val="100000"/>
                        </a:lnSpc>
                      </a:pPr>
                      <a:r>
                        <a:rPr lang="es-ES" sz="1200" b="0" strike="noStrike" spc="-1" dirty="0" err="1">
                          <a:solidFill>
                            <a:srgbClr val="000000"/>
                          </a:solidFill>
                          <a:latin typeface="Aptos" panose="020B0004020202020204" pitchFamily="34" charset="0"/>
                        </a:rPr>
                        <a:t>Missense</a:t>
                      </a:r>
                      <a:endParaRPr lang="es-ES" sz="1200" b="0" strike="noStrike" spc="-1" dirty="0">
                        <a:latin typeface="Aptos" panose="020B0004020202020204" pitchFamily="34" charset="0"/>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a:lstStyle/>
                    <a:p>
                      <a:pPr algn="ctr">
                        <a:lnSpc>
                          <a:spcPct val="100000"/>
                        </a:lnSpc>
                      </a:pPr>
                      <a:r>
                        <a:rPr lang="es-ES" sz="1200" b="0" strike="noStrike" spc="-1" dirty="0" err="1">
                          <a:solidFill>
                            <a:srgbClr val="000000"/>
                          </a:solidFill>
                          <a:latin typeface="Aptos" panose="020B0004020202020204" pitchFamily="34" charset="0"/>
                        </a:rPr>
                        <a:t>tolerated</a:t>
                      </a:r>
                      <a:r>
                        <a:rPr lang="es-ES" sz="1200" b="0" strike="noStrike" spc="-1" dirty="0">
                          <a:solidFill>
                            <a:srgbClr val="000000"/>
                          </a:solidFill>
                          <a:latin typeface="Aptos" panose="020B0004020202020204" pitchFamily="34" charset="0"/>
                        </a:rPr>
                        <a:t> (0.13)</a:t>
                      </a:r>
                      <a:endParaRPr lang="es-ES" sz="1200" b="0" strike="noStrike" spc="-1" dirty="0">
                        <a:latin typeface="Aptos" panose="020B0004020202020204" pitchFamily="34" charset="0"/>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a:lstStyle/>
                    <a:p>
                      <a:pPr algn="ctr">
                        <a:lnSpc>
                          <a:spcPct val="100000"/>
                        </a:lnSpc>
                      </a:pPr>
                      <a:r>
                        <a:rPr lang="es-ES" sz="1200" b="0" strike="noStrike" spc="-1" dirty="0" err="1">
                          <a:solidFill>
                            <a:srgbClr val="000000"/>
                          </a:solidFill>
                          <a:latin typeface="Aptos" panose="020B0004020202020204" pitchFamily="34" charset="0"/>
                        </a:rPr>
                        <a:t>benign</a:t>
                      </a:r>
                      <a:r>
                        <a:rPr lang="es-ES" sz="1200" b="0" strike="noStrike" spc="-1" dirty="0">
                          <a:solidFill>
                            <a:srgbClr val="000000"/>
                          </a:solidFill>
                          <a:latin typeface="Aptos" panose="020B0004020202020204" pitchFamily="34" charset="0"/>
                        </a:rPr>
                        <a:t> (0.003)</a:t>
                      </a:r>
                      <a:endParaRPr lang="es-ES" sz="1200" b="0" strike="noStrike" spc="-1" dirty="0">
                        <a:latin typeface="Aptos" panose="020B0004020202020204" pitchFamily="34" charset="0"/>
                      </a:endParaRPr>
                    </a:p>
                  </a:txBody>
                  <a:tcPr marL="7560" marR="7560">
                    <a:lnL w="12240">
                      <a:solidFill>
                        <a:srgbClr val="FFFFFF"/>
                      </a:solidFill>
                    </a:lnL>
                    <a:lnR w="12240" cap="flat" cmpd="sng" algn="ctr">
                      <a:solidFill>
                        <a:srgbClr val="FFFFFF"/>
                      </a:solidFill>
                      <a:prstDash val="solid"/>
                      <a:round/>
                      <a:headEnd type="none" w="med" len="med"/>
                      <a:tailEnd type="none" w="med" len="med"/>
                    </a:lnR>
                    <a:lnT w="12240">
                      <a:solidFill>
                        <a:srgbClr val="FFFFFF"/>
                      </a:solidFill>
                    </a:lnT>
                    <a:lnB w="12240">
                      <a:solidFill>
                        <a:srgbClr val="FFFFFF"/>
                      </a:solidFill>
                    </a:lnB>
                    <a:solidFill>
                      <a:srgbClr val="E7EAEC"/>
                    </a:solidFill>
                  </a:tcPr>
                </a:tc>
                <a:tc>
                  <a:txBody>
                    <a:bodyPr/>
                    <a:lstStyle/>
                    <a:p>
                      <a:pPr algn="ctr">
                        <a:lnSpc>
                          <a:spcPct val="100000"/>
                        </a:lnSpc>
                      </a:pPr>
                      <a:r>
                        <a:rPr lang="es-ES" sz="1200" b="0" strike="noStrike" spc="-1" dirty="0">
                          <a:latin typeface="Aptos" panose="020B0004020202020204" pitchFamily="34" charset="0"/>
                        </a:rPr>
                        <a:t>#151623</a:t>
                      </a:r>
                    </a:p>
                  </a:txBody>
                  <a:tcPr marL="7560" marR="7560">
                    <a:lnL w="12240">
                      <a:solidFill>
                        <a:srgbClr val="FFFFFF"/>
                      </a:solidFill>
                    </a:lnL>
                    <a:lnR w="12240" cap="flat" cmpd="sng" algn="ctr">
                      <a:solidFill>
                        <a:srgbClr val="FFFFFF"/>
                      </a:solidFill>
                      <a:prstDash val="solid"/>
                      <a:round/>
                      <a:headEnd type="none" w="med" len="med"/>
                      <a:tailEnd type="none" w="med" len="med"/>
                    </a:lnR>
                    <a:lnT w="12240" cap="flat" cmpd="sng" algn="ctr">
                      <a:solidFill>
                        <a:srgbClr val="FFFFFF"/>
                      </a:solidFill>
                      <a:prstDash val="solid"/>
                      <a:round/>
                      <a:headEnd type="none" w="med" len="med"/>
                      <a:tailEnd type="none" w="med" len="med"/>
                    </a:lnT>
                    <a:lnB w="12240">
                      <a:solidFill>
                        <a:srgbClr val="FFFFFF"/>
                      </a:solidFill>
                    </a:lnB>
                    <a:solidFill>
                      <a:srgbClr val="E7EAEC"/>
                    </a:solidFill>
                  </a:tcPr>
                </a:tc>
                <a:tc>
                  <a:txBody>
                    <a:bodyPr/>
                    <a:lstStyle/>
                    <a:p>
                      <a:pPr algn="ctr">
                        <a:lnSpc>
                          <a:spcPct val="100000"/>
                        </a:lnSpc>
                      </a:pPr>
                      <a:r>
                        <a:rPr lang="es-ES" sz="1200" b="0" strike="noStrike" spc="-1" dirty="0">
                          <a:latin typeface="Aptos" panose="020B0004020202020204" pitchFamily="34" charset="0"/>
                        </a:rPr>
                        <a:t>Autosómica dominante</a:t>
                      </a:r>
                    </a:p>
                  </a:txBody>
                  <a:tcPr marL="7560" marR="7560">
                    <a:lnL w="12240">
                      <a:solidFill>
                        <a:srgbClr val="FFFFFF"/>
                      </a:solidFill>
                    </a:lnL>
                    <a:lnR w="12240" cap="flat" cmpd="sng" algn="ctr">
                      <a:solidFill>
                        <a:srgbClr val="FFFFFF"/>
                      </a:solidFill>
                      <a:prstDash val="solid"/>
                      <a:round/>
                      <a:headEnd type="none" w="med" len="med"/>
                      <a:tailEnd type="none" w="med" len="med"/>
                    </a:lnR>
                    <a:lnT w="12240" cap="flat" cmpd="sng" algn="ctr">
                      <a:solidFill>
                        <a:srgbClr val="FFFFFF"/>
                      </a:solidFill>
                      <a:prstDash val="solid"/>
                      <a:round/>
                      <a:headEnd type="none" w="med" len="med"/>
                      <a:tailEnd type="none" w="med" len="med"/>
                    </a:lnT>
                    <a:lnB w="12240">
                      <a:solidFill>
                        <a:srgbClr val="FFFFFF"/>
                      </a:solidFill>
                    </a:lnB>
                    <a:solidFill>
                      <a:srgbClr val="E7EAEC"/>
                    </a:solidFill>
                  </a:tcPr>
                </a:tc>
                <a:tc>
                  <a:txBody>
                    <a:bodyPr/>
                    <a:lstStyle/>
                    <a:p>
                      <a:pPr algn="ctr">
                        <a:lnSpc>
                          <a:spcPct val="100000"/>
                        </a:lnSpc>
                      </a:pPr>
                      <a:r>
                        <a:rPr lang="es-ES" sz="1200" b="0" strike="noStrike" spc="-1" dirty="0">
                          <a:latin typeface="Aptos" panose="020B0004020202020204" pitchFamily="34" charset="0"/>
                        </a:rPr>
                        <a:t>Ruta de lípidos y aterosclerosis</a:t>
                      </a:r>
                    </a:p>
                  </a:txBody>
                  <a:tcPr marL="7560" marR="7560">
                    <a:lnL w="12240">
                      <a:solidFill>
                        <a:srgbClr val="FFFFFF"/>
                      </a:solidFill>
                    </a:lnL>
                    <a:lnR w="12240">
                      <a:solidFill>
                        <a:srgbClr val="FFFFFF"/>
                      </a:solidFill>
                    </a:lnR>
                    <a:lnT w="12240" cap="flat" cmpd="sng" algn="ctr">
                      <a:solidFill>
                        <a:srgbClr val="FFFFFF"/>
                      </a:solidFill>
                      <a:prstDash val="solid"/>
                      <a:round/>
                      <a:headEnd type="none" w="med" len="med"/>
                      <a:tailEnd type="none" w="med" len="med"/>
                    </a:lnT>
                    <a:lnB w="12240">
                      <a:solidFill>
                        <a:srgbClr val="FFFFFF"/>
                      </a:solidFill>
                    </a:lnB>
                    <a:solidFill>
                      <a:srgbClr val="E7EAEC"/>
                    </a:solidFill>
                  </a:tcPr>
                </a:tc>
                <a:extLst>
                  <a:ext uri="{0D108BD9-81ED-4DB2-BD59-A6C34878D82A}">
                    <a16:rowId xmlns:a16="http://schemas.microsoft.com/office/drawing/2014/main" val="10004"/>
                  </a:ext>
                </a:extLst>
              </a:tr>
            </a:tbl>
          </a:graphicData>
        </a:graphic>
      </p:graphicFrame>
      <p:pic>
        <p:nvPicPr>
          <p:cNvPr id="65" name="Imagen 64"/>
          <p:cNvPicPr/>
          <p:nvPr/>
        </p:nvPicPr>
        <p:blipFill>
          <a:blip r:embed="rId14"/>
          <a:stretch/>
        </p:blipFill>
        <p:spPr>
          <a:xfrm>
            <a:off x="6952320" y="12456000"/>
            <a:ext cx="7416000" cy="1434600"/>
          </a:xfrm>
          <a:prstGeom prst="rect">
            <a:avLst/>
          </a:prstGeom>
          <a:ln>
            <a:noFill/>
          </a:ln>
        </p:spPr>
      </p:pic>
      <p:sp>
        <p:nvSpPr>
          <p:cNvPr id="66" name="CustomShape 23"/>
          <p:cNvSpPr/>
          <p:nvPr/>
        </p:nvSpPr>
        <p:spPr>
          <a:xfrm>
            <a:off x="11448000" y="12312000"/>
            <a:ext cx="144000" cy="288000"/>
          </a:xfrm>
          <a:custGeom>
            <a:avLst/>
            <a:gdLst/>
            <a:ahLst/>
            <a:cxnLst/>
            <a:rect l="0" t="0" r="r" b="b"/>
            <a:pathLst>
              <a:path w="402" h="802">
                <a:moveTo>
                  <a:pt x="193" y="0"/>
                </a:moveTo>
                <a:lnTo>
                  <a:pt x="193" y="0"/>
                </a:lnTo>
                <a:lnTo>
                  <a:pt x="0" y="0"/>
                </a:lnTo>
                <a:lnTo>
                  <a:pt x="200" y="801"/>
                </a:lnTo>
                <a:lnTo>
                  <a:pt x="401" y="0"/>
                </a:lnTo>
                <a:lnTo>
                  <a:pt x="207" y="0"/>
                </a:lnTo>
                <a:lnTo>
                  <a:pt x="207" y="0"/>
                </a:lnTo>
                <a:lnTo>
                  <a:pt x="193" y="0"/>
                </a:lnTo>
              </a:path>
            </a:pathLst>
          </a:custGeom>
          <a:solidFill>
            <a:srgbClr val="729FCF"/>
          </a:solidFill>
          <a:ln>
            <a:solidFill>
              <a:srgbClr val="3465A4"/>
            </a:solidFill>
          </a:ln>
        </p:spPr>
        <p:style>
          <a:lnRef idx="0">
            <a:scrgbClr r="0" g="0" b="0"/>
          </a:lnRef>
          <a:fillRef idx="0">
            <a:scrgbClr r="0" g="0" b="0"/>
          </a:fillRef>
          <a:effectRef idx="0">
            <a:scrgbClr r="0" g="0" b="0"/>
          </a:effectRef>
          <a:fontRef idx="minor"/>
        </p:style>
      </p:sp>
      <p:pic>
        <p:nvPicPr>
          <p:cNvPr id="67" name="Imagen 66"/>
          <p:cNvPicPr/>
          <p:nvPr/>
        </p:nvPicPr>
        <p:blipFill>
          <a:blip r:embed="rId15"/>
          <a:srcRect t="54151"/>
          <a:stretch/>
        </p:blipFill>
        <p:spPr>
          <a:xfrm>
            <a:off x="8064000" y="15120000"/>
            <a:ext cx="5400000" cy="2016000"/>
          </a:xfrm>
          <a:prstGeom prst="rect">
            <a:avLst/>
          </a:prstGeom>
          <a:ln>
            <a:noFill/>
          </a:ln>
        </p:spPr>
      </p:pic>
      <p:sp>
        <p:nvSpPr>
          <p:cNvPr id="68" name="CustomShape 24"/>
          <p:cNvSpPr/>
          <p:nvPr/>
        </p:nvSpPr>
        <p:spPr>
          <a:xfrm>
            <a:off x="7056000" y="14256000"/>
            <a:ext cx="7291440" cy="632520"/>
          </a:xfrm>
          <a:prstGeom prst="roundRect">
            <a:avLst>
              <a:gd name="adj" fmla="val 16667"/>
            </a:avLst>
          </a:prstGeom>
          <a:solidFill>
            <a:schemeClr val="bg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nSpc>
                <a:spcPct val="80000"/>
              </a:lnSpc>
              <a:tabLst>
                <a:tab pos="0" algn="l"/>
              </a:tabLst>
            </a:pPr>
            <a:r>
              <a:rPr lang="es-ES_tradnl" sz="1800" b="1" strike="noStrike" spc="-1">
                <a:solidFill>
                  <a:srgbClr val="4196C9"/>
                </a:solidFill>
                <a:latin typeface="Aptos"/>
              </a:rPr>
              <a:t>Figura 3. </a:t>
            </a:r>
            <a:r>
              <a:rPr lang="es-ES_tradnl" sz="1800" b="0" strike="noStrike" spc="-1">
                <a:solidFill>
                  <a:srgbClr val="000000"/>
                </a:solidFill>
                <a:latin typeface="Aptos"/>
              </a:rPr>
              <a:t>Rutas metabolicas implicadas en MC4R en KEGG.</a:t>
            </a:r>
            <a:endParaRPr lang="es-ES" sz="1800" b="0" strike="noStrike" spc="-1">
              <a:latin typeface="Arial"/>
            </a:endParaRPr>
          </a:p>
        </p:txBody>
      </p:sp>
      <p:sp>
        <p:nvSpPr>
          <p:cNvPr id="69" name="TextShape 25"/>
          <p:cNvSpPr txBox="1"/>
          <p:nvPr/>
        </p:nvSpPr>
        <p:spPr>
          <a:xfrm>
            <a:off x="8064000" y="17138520"/>
            <a:ext cx="5760000" cy="432000"/>
          </a:xfrm>
          <a:prstGeom prst="rect">
            <a:avLst/>
          </a:prstGeom>
          <a:noFill/>
          <a:ln>
            <a:noFill/>
          </a:ln>
        </p:spPr>
        <p:txBody>
          <a:bodyPr lIns="90000" tIns="45000" rIns="90000" bIns="45000">
            <a:noAutofit/>
          </a:bodyPr>
          <a:lstStyle/>
          <a:p>
            <a:r>
              <a:rPr lang="es-ES" sz="1500" b="0" strike="noStrike" spc="-1">
                <a:latin typeface="Arial"/>
              </a:rPr>
              <a:t>MC4R. Via de la señalización hormonal del AMP cíclico </a:t>
            </a:r>
          </a:p>
        </p:txBody>
      </p:sp>
      <p:pic>
        <p:nvPicPr>
          <p:cNvPr id="2" name="Imagen 1">
            <a:extLst>
              <a:ext uri="{FF2B5EF4-FFF2-40B4-BE49-F238E27FC236}">
                <a16:creationId xmlns:a16="http://schemas.microsoft.com/office/drawing/2014/main" id="{FAC392D4-A3C8-7C62-9F7C-71F947C655D0}"/>
              </a:ext>
            </a:extLst>
          </p:cNvPr>
          <p:cNvPicPr>
            <a:picLocks noChangeAspect="1"/>
          </p:cNvPicPr>
          <p:nvPr/>
        </p:nvPicPr>
        <p:blipFill rotWithShape="1">
          <a:blip r:embed="rId16"/>
          <a:srcRect l="16029" t="12976" r="35240" b="5277"/>
          <a:stretch>
            <a:fillRect/>
          </a:stretch>
        </p:blipFill>
        <p:spPr bwMode="auto">
          <a:xfrm>
            <a:off x="437039" y="12239460"/>
            <a:ext cx="5526721" cy="5215686"/>
          </a:xfrm>
          <a:prstGeom prst="rect">
            <a:avLst/>
          </a:prstGeom>
          <a:ln>
            <a:solidFill>
              <a:schemeClr val="tx1"/>
            </a:solidFill>
          </a:ln>
          <a:extLst>
            <a:ext uri="{53640926-AAD7-44D8-BBD7-CCE9431645EC}">
              <a14:shadowObscured xmlns:a14="http://schemas.microsoft.com/office/drawing/2010/main"/>
            </a:ext>
          </a:extLst>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Metadata/LabelInfo.xml><?xml version="1.0" encoding="utf-8"?>
<clbl:labelList xmlns:clbl="http://schemas.microsoft.com/office/2020/mipLabelMetadata">
  <clbl:label id="{0361ecad-3f61-4749-aa5c-87fde47ef9ad}" enabled="1" method="Privileged" siteId="{22c8b4a4-d926-43b2-bcc7-87b998590b47}" removed="0"/>
</clbl:labelList>
</file>

<file path=docProps/app.xml><?xml version="1.0" encoding="utf-8"?>
<Properties xmlns="http://schemas.openxmlformats.org/officeDocument/2006/extended-properties" xmlns:vt="http://schemas.openxmlformats.org/officeDocument/2006/docPropsVTypes">
  <Template>Office Theme</Template>
  <TotalTime>241</TotalTime>
  <Words>672</Words>
  <Application>Microsoft Office PowerPoint</Application>
  <PresentationFormat>Personalizado</PresentationFormat>
  <Paragraphs>90</Paragraphs>
  <Slides>1</Slides>
  <Notes>0</Notes>
  <HiddenSlides>0</HiddenSlides>
  <MMClips>0</MMClips>
  <ScaleCrop>false</ScaleCrop>
  <HeadingPairs>
    <vt:vector size="6" baseType="variant">
      <vt:variant>
        <vt:lpstr>Fuentes usadas</vt:lpstr>
      </vt:variant>
      <vt:variant>
        <vt:i4>6</vt:i4>
      </vt:variant>
      <vt:variant>
        <vt:lpstr>Tema</vt:lpstr>
      </vt:variant>
      <vt:variant>
        <vt:i4>1</vt:i4>
      </vt:variant>
      <vt:variant>
        <vt:lpstr>Títulos de diapositiva</vt:lpstr>
      </vt:variant>
      <vt:variant>
        <vt:i4>1</vt:i4>
      </vt:variant>
    </vt:vector>
  </HeadingPairs>
  <TitlesOfParts>
    <vt:vector size="8" baseType="lpstr">
      <vt:lpstr>Aptos</vt:lpstr>
      <vt:lpstr>Aptos Display</vt:lpstr>
      <vt:lpstr>Arial</vt:lpstr>
      <vt:lpstr>Symbol</vt:lpstr>
      <vt:lpstr>Times New Roman</vt:lpstr>
      <vt:lpstr>Wingdings</vt:lpstr>
      <vt:lpstr>Office Theme</vt:lpstr>
      <vt:lpstr>Presentación de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subject/>
  <dc:creator>Victor  de la O Pascual</dc:creator>
  <dc:description/>
  <cp:lastModifiedBy>Pedro Manuel Rodriguez Santos</cp:lastModifiedBy>
  <cp:revision>38</cp:revision>
  <dcterms:created xsi:type="dcterms:W3CDTF">2025-04-21T10:03:24Z</dcterms:created>
  <dcterms:modified xsi:type="dcterms:W3CDTF">2026-02-01T14:12:48Z</dcterms:modified>
  <dc:language>es-ES</dc:languag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ppVersion">
    <vt:lpwstr>16.0000</vt:lpwstr>
  </property>
  <property fmtid="{D5CDD505-2E9C-101B-9397-08002B2CF9AE}" pid="3" name="ContentTypeId">
    <vt:lpwstr>0x010100DF3D7C797EA12745A270EF30E38719B9</vt:lpwstr>
  </property>
  <property fmtid="{D5CDD505-2E9C-101B-9397-08002B2CF9AE}" pid="4" name="HiddenSlides">
    <vt:i4>0</vt:i4>
  </property>
  <property fmtid="{D5CDD505-2E9C-101B-9397-08002B2CF9AE}" pid="5" name="HyperlinksChanged">
    <vt:bool>false</vt:bool>
  </property>
  <property fmtid="{D5CDD505-2E9C-101B-9397-08002B2CF9AE}" pid="6" name="LinksUpToDate">
    <vt:bool>false</vt:bool>
  </property>
  <property fmtid="{D5CDD505-2E9C-101B-9397-08002B2CF9AE}" pid="7" name="MMClips">
    <vt:i4>0</vt:i4>
  </property>
  <property fmtid="{D5CDD505-2E9C-101B-9397-08002B2CF9AE}" pid="8" name="MediaServiceImageTags">
    <vt:lpwstr/>
  </property>
  <property fmtid="{D5CDD505-2E9C-101B-9397-08002B2CF9AE}" pid="9" name="Notes">
    <vt:i4>0</vt:i4>
  </property>
  <property fmtid="{D5CDD505-2E9C-101B-9397-08002B2CF9AE}" pid="10" name="PresentationFormat">
    <vt:lpwstr>Personalizado</vt:lpwstr>
  </property>
  <property fmtid="{D5CDD505-2E9C-101B-9397-08002B2CF9AE}" pid="11" name="ScaleCrop">
    <vt:bool>false</vt:bool>
  </property>
  <property fmtid="{D5CDD505-2E9C-101B-9397-08002B2CF9AE}" pid="12" name="ShareDoc">
    <vt:bool>false</vt:bool>
  </property>
  <property fmtid="{D5CDD505-2E9C-101B-9397-08002B2CF9AE}" pid="13" name="Slides">
    <vt:i4>1</vt:i4>
  </property>
</Properties>
</file>