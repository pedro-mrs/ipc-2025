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_rels/slideMaster1.xml.rels" ContentType="application/vnd.openxmlformats-package.relationships+xml"/>
  <Override PartName="/ppt/theme/theme1.xml" ContentType="application/vnd.openxmlformats-officedocument.theme+xml"/>
  <Override PartName="/ppt/slideLayouts/slideLayout1.xml" ContentType="application/vnd.openxmlformats-officedocument.presentationml.slideLayout+xml"/>
  <Override PartName="/ppt/slideLayouts/slideLayout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_rels/slideLayout9.xml.rels" ContentType="application/vnd.openxmlformats-package.relationships+xml"/>
  <Override PartName="/ppt/slideLayouts/_rels/slideLayout1.xml.rels" ContentType="application/vnd.openxmlformats-package.relationships+xml"/>
  <Override PartName="/ppt/slideLayouts/_rels/slideLayout2.xml.rels" ContentType="application/vnd.openxmlformats-package.relationships+xml"/>
  <Override PartName="/ppt/slideLayouts/_rels/slideLayout3.xml.rels" ContentType="application/vnd.openxmlformats-package.relationships+xml"/>
  <Override PartName="/ppt/slideLayouts/_rels/slideLayout4.xml.rels" ContentType="application/vnd.openxmlformats-package.relationships+xml"/>
  <Override PartName="/ppt/slideLayouts/_rels/slideLayout5.xml.rels" ContentType="application/vnd.openxmlformats-package.relationships+xml"/>
  <Override PartName="/ppt/slideLayouts/_rels/slideLayout6.xml.rels" ContentType="application/vnd.openxmlformats-package.relationships+xml"/>
  <Override PartName="/ppt/slideLayouts/_rels/slideLayout7.xml.rels" ContentType="application/vnd.openxmlformats-package.relationships+xml"/>
  <Override PartName="/ppt/slideLayouts/_rels/slideLayout8.xml.rels" ContentType="application/vnd.openxmlformats-package.relationships+xml"/>
  <Override PartName="/ppt/slideLayouts/_rels/slideLayout10.xml.rels" ContentType="application/vnd.openxmlformats-package.relationships+xml"/>
  <Override PartName="/ppt/slideLayouts/_rels/slideLayout11.xml.rels" ContentType="application/vnd.openxmlformats-package.relationships+xml"/>
  <Override PartName="/ppt/slideLayouts/_rels/slideLayout12.xml.rels" ContentType="application/vnd.openxmlformats-package.relationships+xml"/>
  <Override PartName="/ppt/_rels/presentation.xml.rels" ContentType="application/vnd.openxmlformats-package.relationships+xml"/>
  <Override PartName="/ppt/slides/slide1.xml" ContentType="application/vnd.openxmlformats-officedocument.presentationml.slide+xml"/>
  <Override PartName="/ppt/slides/_rels/slide1.xml.rels" ContentType="application/vnd.openxmlformats-package.relationships+xml"/>
  <Override PartName="/ppt/media/image1.png" ContentType="image/png"/>
  <Override PartName="/ppt/media/image2.png" ContentType="image/png"/>
  <Override PartName="/ppt/media/image3.png" ContentType="image/png"/>
  <Override PartName="/ppt/media/image4.png" ContentType="image/png"/>
  <Override PartName="/ppt/media/image5.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microsoft.com/office/2020/02/relationships/classificationlabels" Target="docMetadata/LabelInfo.xml"/><Relationship Id="rId5"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Lst>
  <p:sldSz cx="15119350" cy="21383625"/>
  <p:notesSz cx="7559675" cy="10691812"/>
</p:presentation>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1134000" y="3499560"/>
            <a:ext cx="12850560" cy="7444080"/>
          </a:xfrm>
          <a:prstGeom prst="rect">
            <a:avLst/>
          </a:prstGeom>
        </p:spPr>
        <p:txBody>
          <a:bodyPr lIns="0" rIns="0" tIns="0" bIns="0" anchor="ctr">
            <a:noAutofit/>
          </a:bodyPr>
          <a:p>
            <a:endParaRPr b="0" lang="es-ES" sz="1800" spc="-1" strike="noStrike">
              <a:solidFill>
                <a:srgbClr val="000000"/>
              </a:solidFill>
              <a:latin typeface="Arial"/>
            </a:endParaRPr>
          </a:p>
        </p:txBody>
      </p:sp>
      <p:sp>
        <p:nvSpPr>
          <p:cNvPr id="3" name="PlaceHolder 2"/>
          <p:cNvSpPr>
            <a:spLocks noGrp="1"/>
          </p:cNvSpPr>
          <p:nvPr>
            <p:ph type="subTitle"/>
          </p:nvPr>
        </p:nvSpPr>
        <p:spPr>
          <a:xfrm>
            <a:off x="755640" y="5003640"/>
            <a:ext cx="13606920" cy="12402000"/>
          </a:xfrm>
          <a:prstGeom prst="rect">
            <a:avLst/>
          </a:prstGeom>
        </p:spPr>
        <p:txBody>
          <a:bodyPr lIns="0" rIns="0" tIns="0" bIns="0" anchor="ctr">
            <a:noAutofit/>
          </a:bodyPr>
          <a:p>
            <a:pPr algn="ctr"/>
            <a:endParaRPr b="0" lang="es-E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1134000" y="3499560"/>
            <a:ext cx="12850560" cy="7444080"/>
          </a:xfrm>
          <a:prstGeom prst="rect">
            <a:avLst/>
          </a:prstGeom>
        </p:spPr>
        <p:txBody>
          <a:bodyPr lIns="0" rIns="0" tIns="0" bIns="0" anchor="ctr">
            <a:noAutofit/>
          </a:bodyPr>
          <a:p>
            <a:endParaRPr b="0" lang="es-ES" sz="1800" spc="-1" strike="noStrike">
              <a:solidFill>
                <a:srgbClr val="000000"/>
              </a:solidFill>
              <a:latin typeface="Arial"/>
            </a:endParaRPr>
          </a:p>
        </p:txBody>
      </p:sp>
      <p:sp>
        <p:nvSpPr>
          <p:cNvPr id="5" name="PlaceHolder 2"/>
          <p:cNvSpPr>
            <a:spLocks noGrp="1"/>
          </p:cNvSpPr>
          <p:nvPr>
            <p:ph type="body"/>
          </p:nvPr>
        </p:nvSpPr>
        <p:spPr>
          <a:xfrm>
            <a:off x="755640" y="5003640"/>
            <a:ext cx="13606920" cy="12402000"/>
          </a:xfrm>
          <a:prstGeom prst="rect">
            <a:avLst/>
          </a:prstGeom>
        </p:spPr>
        <p:txBody>
          <a:bodyPr lIns="0" rIns="0" tIns="0" bIns="0">
            <a:normAutofit/>
          </a:bodyPr>
          <a:p>
            <a:endParaRPr b="0" lang="es-ES" sz="2800" spc="-1" strike="noStrike">
              <a:solidFill>
                <a:srgbClr val="000000"/>
              </a:solidFill>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1134000" y="3499560"/>
            <a:ext cx="12850560" cy="7444080"/>
          </a:xfrm>
          <a:prstGeom prst="rect">
            <a:avLst/>
          </a:prstGeom>
        </p:spPr>
        <p:txBody>
          <a:bodyPr lIns="0" rIns="0" tIns="0" bIns="0" anchor="ctr">
            <a:noAutofit/>
          </a:bodyPr>
          <a:p>
            <a:endParaRPr b="0" lang="es-ES" sz="1800" spc="-1" strike="noStrike">
              <a:solidFill>
                <a:srgbClr val="000000"/>
              </a:solidFill>
              <a:latin typeface="Arial"/>
            </a:endParaRPr>
          </a:p>
        </p:txBody>
      </p:sp>
      <p:sp>
        <p:nvSpPr>
          <p:cNvPr id="7" name="PlaceHolder 2"/>
          <p:cNvSpPr>
            <a:spLocks noGrp="1"/>
          </p:cNvSpPr>
          <p:nvPr>
            <p:ph type="body"/>
          </p:nvPr>
        </p:nvSpPr>
        <p:spPr>
          <a:xfrm>
            <a:off x="755640" y="5003640"/>
            <a:ext cx="6639840" cy="12402000"/>
          </a:xfrm>
          <a:prstGeom prst="rect">
            <a:avLst/>
          </a:prstGeom>
        </p:spPr>
        <p:txBody>
          <a:bodyPr lIns="0" rIns="0" tIns="0" bIns="0">
            <a:normAutofit/>
          </a:bodyPr>
          <a:p>
            <a:endParaRPr b="0" lang="es-ES" sz="2800" spc="-1" strike="noStrike">
              <a:solidFill>
                <a:srgbClr val="000000"/>
              </a:solidFill>
              <a:latin typeface="Arial"/>
            </a:endParaRPr>
          </a:p>
        </p:txBody>
      </p:sp>
      <p:sp>
        <p:nvSpPr>
          <p:cNvPr id="8" name="PlaceHolder 3"/>
          <p:cNvSpPr>
            <a:spLocks noGrp="1"/>
          </p:cNvSpPr>
          <p:nvPr>
            <p:ph type="body"/>
          </p:nvPr>
        </p:nvSpPr>
        <p:spPr>
          <a:xfrm>
            <a:off x="7727760" y="5003640"/>
            <a:ext cx="6639840" cy="12402000"/>
          </a:xfrm>
          <a:prstGeom prst="rect">
            <a:avLst/>
          </a:prstGeom>
        </p:spPr>
        <p:txBody>
          <a:bodyPr lIns="0" rIns="0" tIns="0" bIns="0">
            <a:normAutofit/>
          </a:bodyPr>
          <a:p>
            <a:endParaRPr b="0" lang="es-ES" sz="2800" spc="-1" strike="noStrike">
              <a:solidFill>
                <a:srgbClr val="000000"/>
              </a:solidFill>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1134000" y="3499560"/>
            <a:ext cx="12850560" cy="7444080"/>
          </a:xfrm>
          <a:prstGeom prst="rect">
            <a:avLst/>
          </a:prstGeom>
        </p:spPr>
        <p:txBody>
          <a:bodyPr lIns="0" rIns="0" tIns="0" bIns="0" anchor="ctr">
            <a:noAutofit/>
          </a:bodyPr>
          <a:p>
            <a:endParaRPr b="0" lang="es-ES" sz="1800" spc="-1" strike="noStrike">
              <a:solidFill>
                <a:srgbClr val="000000"/>
              </a:solidFill>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1134000" y="3499560"/>
            <a:ext cx="12850560" cy="34507440"/>
          </a:xfrm>
          <a:prstGeom prst="rect">
            <a:avLst/>
          </a:prstGeom>
        </p:spPr>
        <p:txBody>
          <a:bodyPr lIns="0" rIns="0" tIns="0" bIns="0" anchor="ctr">
            <a:noAutofit/>
          </a:bodyPr>
          <a:p>
            <a:pPr algn="ctr"/>
            <a:endParaRPr b="0" lang="es-E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1134000" y="3499560"/>
            <a:ext cx="12850560" cy="7444080"/>
          </a:xfrm>
          <a:prstGeom prst="rect">
            <a:avLst/>
          </a:prstGeom>
        </p:spPr>
        <p:txBody>
          <a:bodyPr lIns="0" rIns="0" tIns="0" bIns="0" anchor="ctr">
            <a:noAutofit/>
          </a:bodyPr>
          <a:p>
            <a:endParaRPr b="0" lang="es-ES" sz="1800" spc="-1" strike="noStrike">
              <a:solidFill>
                <a:srgbClr val="000000"/>
              </a:solidFill>
              <a:latin typeface="Arial"/>
            </a:endParaRPr>
          </a:p>
        </p:txBody>
      </p:sp>
      <p:sp>
        <p:nvSpPr>
          <p:cNvPr id="12" name="PlaceHolder 2"/>
          <p:cNvSpPr>
            <a:spLocks noGrp="1"/>
          </p:cNvSpPr>
          <p:nvPr>
            <p:ph type="body"/>
          </p:nvPr>
        </p:nvSpPr>
        <p:spPr>
          <a:xfrm>
            <a:off x="755640" y="5003640"/>
            <a:ext cx="6639840" cy="5915520"/>
          </a:xfrm>
          <a:prstGeom prst="rect">
            <a:avLst/>
          </a:prstGeom>
        </p:spPr>
        <p:txBody>
          <a:bodyPr lIns="0" rIns="0" tIns="0" bIns="0">
            <a:normAutofit/>
          </a:bodyPr>
          <a:p>
            <a:endParaRPr b="0" lang="es-ES" sz="2800" spc="-1" strike="noStrike">
              <a:solidFill>
                <a:srgbClr val="000000"/>
              </a:solidFill>
              <a:latin typeface="Arial"/>
            </a:endParaRPr>
          </a:p>
        </p:txBody>
      </p:sp>
      <p:sp>
        <p:nvSpPr>
          <p:cNvPr id="13" name="PlaceHolder 3"/>
          <p:cNvSpPr>
            <a:spLocks noGrp="1"/>
          </p:cNvSpPr>
          <p:nvPr>
            <p:ph type="body"/>
          </p:nvPr>
        </p:nvSpPr>
        <p:spPr>
          <a:xfrm>
            <a:off x="7727760" y="5003640"/>
            <a:ext cx="6639840" cy="12402000"/>
          </a:xfrm>
          <a:prstGeom prst="rect">
            <a:avLst/>
          </a:prstGeom>
        </p:spPr>
        <p:txBody>
          <a:bodyPr lIns="0" rIns="0" tIns="0" bIns="0">
            <a:normAutofit/>
          </a:bodyPr>
          <a:p>
            <a:endParaRPr b="0" lang="es-ES" sz="2800" spc="-1" strike="noStrike">
              <a:solidFill>
                <a:srgbClr val="000000"/>
              </a:solidFill>
              <a:latin typeface="Arial"/>
            </a:endParaRPr>
          </a:p>
        </p:txBody>
      </p:sp>
      <p:sp>
        <p:nvSpPr>
          <p:cNvPr id="14" name="PlaceHolder 4"/>
          <p:cNvSpPr>
            <a:spLocks noGrp="1"/>
          </p:cNvSpPr>
          <p:nvPr>
            <p:ph type="body"/>
          </p:nvPr>
        </p:nvSpPr>
        <p:spPr>
          <a:xfrm>
            <a:off x="755640" y="11481480"/>
            <a:ext cx="6639840" cy="5915520"/>
          </a:xfrm>
          <a:prstGeom prst="rect">
            <a:avLst/>
          </a:prstGeom>
        </p:spPr>
        <p:txBody>
          <a:bodyPr lIns="0" rIns="0" tIns="0" bIns="0">
            <a:normAutofit/>
          </a:bodyPr>
          <a:p>
            <a:endParaRPr b="0" lang="es-ES" sz="2800" spc="-1" strike="noStrike">
              <a:solidFill>
                <a:srgbClr val="000000"/>
              </a:solidFill>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1134000" y="3499560"/>
            <a:ext cx="12850560" cy="7444080"/>
          </a:xfrm>
          <a:prstGeom prst="rect">
            <a:avLst/>
          </a:prstGeom>
        </p:spPr>
        <p:txBody>
          <a:bodyPr lIns="0" rIns="0" tIns="0" bIns="0" anchor="ctr">
            <a:noAutofit/>
          </a:bodyPr>
          <a:p>
            <a:endParaRPr b="0" lang="es-ES" sz="1800" spc="-1" strike="noStrike">
              <a:solidFill>
                <a:srgbClr val="000000"/>
              </a:solidFill>
              <a:latin typeface="Arial"/>
            </a:endParaRPr>
          </a:p>
        </p:txBody>
      </p:sp>
      <p:sp>
        <p:nvSpPr>
          <p:cNvPr id="16" name="PlaceHolder 2"/>
          <p:cNvSpPr>
            <a:spLocks noGrp="1"/>
          </p:cNvSpPr>
          <p:nvPr>
            <p:ph type="body"/>
          </p:nvPr>
        </p:nvSpPr>
        <p:spPr>
          <a:xfrm>
            <a:off x="755640" y="5003640"/>
            <a:ext cx="6639840" cy="12402000"/>
          </a:xfrm>
          <a:prstGeom prst="rect">
            <a:avLst/>
          </a:prstGeom>
        </p:spPr>
        <p:txBody>
          <a:bodyPr lIns="0" rIns="0" tIns="0" bIns="0">
            <a:normAutofit/>
          </a:bodyPr>
          <a:p>
            <a:endParaRPr b="0" lang="es-ES" sz="2800" spc="-1" strike="noStrike">
              <a:solidFill>
                <a:srgbClr val="000000"/>
              </a:solidFill>
              <a:latin typeface="Arial"/>
            </a:endParaRPr>
          </a:p>
        </p:txBody>
      </p:sp>
      <p:sp>
        <p:nvSpPr>
          <p:cNvPr id="17" name="PlaceHolder 3"/>
          <p:cNvSpPr>
            <a:spLocks noGrp="1"/>
          </p:cNvSpPr>
          <p:nvPr>
            <p:ph type="body"/>
          </p:nvPr>
        </p:nvSpPr>
        <p:spPr>
          <a:xfrm>
            <a:off x="7727760" y="5003640"/>
            <a:ext cx="6639840" cy="5915520"/>
          </a:xfrm>
          <a:prstGeom prst="rect">
            <a:avLst/>
          </a:prstGeom>
        </p:spPr>
        <p:txBody>
          <a:bodyPr lIns="0" rIns="0" tIns="0" bIns="0">
            <a:normAutofit/>
          </a:bodyPr>
          <a:p>
            <a:endParaRPr b="0" lang="es-ES" sz="2800" spc="-1" strike="noStrike">
              <a:solidFill>
                <a:srgbClr val="000000"/>
              </a:solidFill>
              <a:latin typeface="Arial"/>
            </a:endParaRPr>
          </a:p>
        </p:txBody>
      </p:sp>
      <p:sp>
        <p:nvSpPr>
          <p:cNvPr id="18" name="PlaceHolder 4"/>
          <p:cNvSpPr>
            <a:spLocks noGrp="1"/>
          </p:cNvSpPr>
          <p:nvPr>
            <p:ph type="body"/>
          </p:nvPr>
        </p:nvSpPr>
        <p:spPr>
          <a:xfrm>
            <a:off x="7727760" y="11481480"/>
            <a:ext cx="6639840" cy="5915520"/>
          </a:xfrm>
          <a:prstGeom prst="rect">
            <a:avLst/>
          </a:prstGeom>
        </p:spPr>
        <p:txBody>
          <a:bodyPr lIns="0" rIns="0" tIns="0" bIns="0">
            <a:normAutofit/>
          </a:bodyPr>
          <a:p>
            <a:endParaRPr b="0" lang="es-ES" sz="2800" spc="-1" strike="noStrike">
              <a:solidFill>
                <a:srgbClr val="000000"/>
              </a:solidFill>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1134000" y="3499560"/>
            <a:ext cx="12850560" cy="7444080"/>
          </a:xfrm>
          <a:prstGeom prst="rect">
            <a:avLst/>
          </a:prstGeom>
        </p:spPr>
        <p:txBody>
          <a:bodyPr lIns="0" rIns="0" tIns="0" bIns="0" anchor="ctr">
            <a:noAutofit/>
          </a:bodyPr>
          <a:p>
            <a:endParaRPr b="0" lang="es-ES" sz="1800" spc="-1" strike="noStrike">
              <a:solidFill>
                <a:srgbClr val="000000"/>
              </a:solidFill>
              <a:latin typeface="Arial"/>
            </a:endParaRPr>
          </a:p>
        </p:txBody>
      </p:sp>
      <p:sp>
        <p:nvSpPr>
          <p:cNvPr id="20" name="PlaceHolder 2"/>
          <p:cNvSpPr>
            <a:spLocks noGrp="1"/>
          </p:cNvSpPr>
          <p:nvPr>
            <p:ph type="body"/>
          </p:nvPr>
        </p:nvSpPr>
        <p:spPr>
          <a:xfrm>
            <a:off x="755640" y="5003640"/>
            <a:ext cx="6639840" cy="5915520"/>
          </a:xfrm>
          <a:prstGeom prst="rect">
            <a:avLst/>
          </a:prstGeom>
        </p:spPr>
        <p:txBody>
          <a:bodyPr lIns="0" rIns="0" tIns="0" bIns="0">
            <a:normAutofit/>
          </a:bodyPr>
          <a:p>
            <a:endParaRPr b="0" lang="es-ES" sz="2800" spc="-1" strike="noStrike">
              <a:solidFill>
                <a:srgbClr val="000000"/>
              </a:solidFill>
              <a:latin typeface="Arial"/>
            </a:endParaRPr>
          </a:p>
        </p:txBody>
      </p:sp>
      <p:sp>
        <p:nvSpPr>
          <p:cNvPr id="21" name="PlaceHolder 3"/>
          <p:cNvSpPr>
            <a:spLocks noGrp="1"/>
          </p:cNvSpPr>
          <p:nvPr>
            <p:ph type="body"/>
          </p:nvPr>
        </p:nvSpPr>
        <p:spPr>
          <a:xfrm>
            <a:off x="7727760" y="5003640"/>
            <a:ext cx="6639840" cy="5915520"/>
          </a:xfrm>
          <a:prstGeom prst="rect">
            <a:avLst/>
          </a:prstGeom>
        </p:spPr>
        <p:txBody>
          <a:bodyPr lIns="0" rIns="0" tIns="0" bIns="0">
            <a:normAutofit/>
          </a:bodyPr>
          <a:p>
            <a:endParaRPr b="0" lang="es-ES" sz="2800" spc="-1" strike="noStrike">
              <a:solidFill>
                <a:srgbClr val="000000"/>
              </a:solidFill>
              <a:latin typeface="Arial"/>
            </a:endParaRPr>
          </a:p>
        </p:txBody>
      </p:sp>
      <p:sp>
        <p:nvSpPr>
          <p:cNvPr id="22" name="PlaceHolder 4"/>
          <p:cNvSpPr>
            <a:spLocks noGrp="1"/>
          </p:cNvSpPr>
          <p:nvPr>
            <p:ph type="body"/>
          </p:nvPr>
        </p:nvSpPr>
        <p:spPr>
          <a:xfrm>
            <a:off x="755640" y="11481480"/>
            <a:ext cx="13606920" cy="5915520"/>
          </a:xfrm>
          <a:prstGeom prst="rect">
            <a:avLst/>
          </a:prstGeom>
        </p:spPr>
        <p:txBody>
          <a:bodyPr lIns="0" rIns="0" tIns="0" bIns="0">
            <a:normAutofit/>
          </a:bodyPr>
          <a:p>
            <a:endParaRPr b="0" lang="es-ES" sz="2800" spc="-1" strike="noStrike">
              <a:solidFill>
                <a:srgbClr val="000000"/>
              </a:solidFill>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1134000" y="3499560"/>
            <a:ext cx="12850560" cy="7444080"/>
          </a:xfrm>
          <a:prstGeom prst="rect">
            <a:avLst/>
          </a:prstGeom>
        </p:spPr>
        <p:txBody>
          <a:bodyPr lIns="0" rIns="0" tIns="0" bIns="0" anchor="ctr">
            <a:noAutofit/>
          </a:bodyPr>
          <a:p>
            <a:endParaRPr b="0" lang="es-ES" sz="1800" spc="-1" strike="noStrike">
              <a:solidFill>
                <a:srgbClr val="000000"/>
              </a:solidFill>
              <a:latin typeface="Arial"/>
            </a:endParaRPr>
          </a:p>
        </p:txBody>
      </p:sp>
      <p:sp>
        <p:nvSpPr>
          <p:cNvPr id="24" name="PlaceHolder 2"/>
          <p:cNvSpPr>
            <a:spLocks noGrp="1"/>
          </p:cNvSpPr>
          <p:nvPr>
            <p:ph type="body"/>
          </p:nvPr>
        </p:nvSpPr>
        <p:spPr>
          <a:xfrm>
            <a:off x="755640" y="5003640"/>
            <a:ext cx="13606920" cy="5915520"/>
          </a:xfrm>
          <a:prstGeom prst="rect">
            <a:avLst/>
          </a:prstGeom>
        </p:spPr>
        <p:txBody>
          <a:bodyPr lIns="0" rIns="0" tIns="0" bIns="0">
            <a:normAutofit/>
          </a:bodyPr>
          <a:p>
            <a:endParaRPr b="0" lang="es-ES" sz="2800" spc="-1" strike="noStrike">
              <a:solidFill>
                <a:srgbClr val="000000"/>
              </a:solidFill>
              <a:latin typeface="Arial"/>
            </a:endParaRPr>
          </a:p>
        </p:txBody>
      </p:sp>
      <p:sp>
        <p:nvSpPr>
          <p:cNvPr id="25" name="PlaceHolder 3"/>
          <p:cNvSpPr>
            <a:spLocks noGrp="1"/>
          </p:cNvSpPr>
          <p:nvPr>
            <p:ph type="body"/>
          </p:nvPr>
        </p:nvSpPr>
        <p:spPr>
          <a:xfrm>
            <a:off x="755640" y="11481480"/>
            <a:ext cx="13606920" cy="5915520"/>
          </a:xfrm>
          <a:prstGeom prst="rect">
            <a:avLst/>
          </a:prstGeom>
        </p:spPr>
        <p:txBody>
          <a:bodyPr lIns="0" rIns="0" tIns="0" bIns="0">
            <a:normAutofit/>
          </a:bodyPr>
          <a:p>
            <a:endParaRPr b="0" lang="es-ES" sz="2800" spc="-1" strike="noStrike">
              <a:solidFill>
                <a:srgbClr val="000000"/>
              </a:solidFill>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1134000" y="3499560"/>
            <a:ext cx="12850560" cy="7444080"/>
          </a:xfrm>
          <a:prstGeom prst="rect">
            <a:avLst/>
          </a:prstGeom>
        </p:spPr>
        <p:txBody>
          <a:bodyPr lIns="0" rIns="0" tIns="0" bIns="0" anchor="ctr">
            <a:noAutofit/>
          </a:bodyPr>
          <a:p>
            <a:endParaRPr b="0" lang="es-ES" sz="1800" spc="-1" strike="noStrike">
              <a:solidFill>
                <a:srgbClr val="000000"/>
              </a:solidFill>
              <a:latin typeface="Arial"/>
            </a:endParaRPr>
          </a:p>
        </p:txBody>
      </p:sp>
      <p:sp>
        <p:nvSpPr>
          <p:cNvPr id="27" name="PlaceHolder 2"/>
          <p:cNvSpPr>
            <a:spLocks noGrp="1"/>
          </p:cNvSpPr>
          <p:nvPr>
            <p:ph type="body"/>
          </p:nvPr>
        </p:nvSpPr>
        <p:spPr>
          <a:xfrm>
            <a:off x="755640" y="5003640"/>
            <a:ext cx="6639840" cy="5915520"/>
          </a:xfrm>
          <a:prstGeom prst="rect">
            <a:avLst/>
          </a:prstGeom>
        </p:spPr>
        <p:txBody>
          <a:bodyPr lIns="0" rIns="0" tIns="0" bIns="0">
            <a:normAutofit/>
          </a:bodyPr>
          <a:p>
            <a:endParaRPr b="0" lang="es-ES" sz="2800" spc="-1" strike="noStrike">
              <a:solidFill>
                <a:srgbClr val="000000"/>
              </a:solidFill>
              <a:latin typeface="Arial"/>
            </a:endParaRPr>
          </a:p>
        </p:txBody>
      </p:sp>
      <p:sp>
        <p:nvSpPr>
          <p:cNvPr id="28" name="PlaceHolder 3"/>
          <p:cNvSpPr>
            <a:spLocks noGrp="1"/>
          </p:cNvSpPr>
          <p:nvPr>
            <p:ph type="body"/>
          </p:nvPr>
        </p:nvSpPr>
        <p:spPr>
          <a:xfrm>
            <a:off x="7727760" y="5003640"/>
            <a:ext cx="6639840" cy="5915520"/>
          </a:xfrm>
          <a:prstGeom prst="rect">
            <a:avLst/>
          </a:prstGeom>
        </p:spPr>
        <p:txBody>
          <a:bodyPr lIns="0" rIns="0" tIns="0" bIns="0">
            <a:normAutofit/>
          </a:bodyPr>
          <a:p>
            <a:endParaRPr b="0" lang="es-ES" sz="2800" spc="-1" strike="noStrike">
              <a:solidFill>
                <a:srgbClr val="000000"/>
              </a:solidFill>
              <a:latin typeface="Arial"/>
            </a:endParaRPr>
          </a:p>
        </p:txBody>
      </p:sp>
      <p:sp>
        <p:nvSpPr>
          <p:cNvPr id="29" name="PlaceHolder 4"/>
          <p:cNvSpPr>
            <a:spLocks noGrp="1"/>
          </p:cNvSpPr>
          <p:nvPr>
            <p:ph type="body"/>
          </p:nvPr>
        </p:nvSpPr>
        <p:spPr>
          <a:xfrm>
            <a:off x="755640" y="11481480"/>
            <a:ext cx="6639840" cy="5915520"/>
          </a:xfrm>
          <a:prstGeom prst="rect">
            <a:avLst/>
          </a:prstGeom>
        </p:spPr>
        <p:txBody>
          <a:bodyPr lIns="0" rIns="0" tIns="0" bIns="0">
            <a:normAutofit/>
          </a:bodyPr>
          <a:p>
            <a:endParaRPr b="0" lang="es-ES" sz="2800" spc="-1" strike="noStrike">
              <a:solidFill>
                <a:srgbClr val="000000"/>
              </a:solidFill>
              <a:latin typeface="Arial"/>
            </a:endParaRPr>
          </a:p>
        </p:txBody>
      </p:sp>
      <p:sp>
        <p:nvSpPr>
          <p:cNvPr id="30" name="PlaceHolder 5"/>
          <p:cNvSpPr>
            <a:spLocks noGrp="1"/>
          </p:cNvSpPr>
          <p:nvPr>
            <p:ph type="body"/>
          </p:nvPr>
        </p:nvSpPr>
        <p:spPr>
          <a:xfrm>
            <a:off x="7727760" y="11481480"/>
            <a:ext cx="6639840" cy="5915520"/>
          </a:xfrm>
          <a:prstGeom prst="rect">
            <a:avLst/>
          </a:prstGeom>
        </p:spPr>
        <p:txBody>
          <a:bodyPr lIns="0" rIns="0" tIns="0" bIns="0">
            <a:normAutofit/>
          </a:bodyPr>
          <a:p>
            <a:endParaRPr b="0" lang="es-ES" sz="2800" spc="-1" strike="noStrike">
              <a:solidFill>
                <a:srgbClr val="000000"/>
              </a:solidFill>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1134000" y="3499560"/>
            <a:ext cx="12850560" cy="7444080"/>
          </a:xfrm>
          <a:prstGeom prst="rect">
            <a:avLst/>
          </a:prstGeom>
        </p:spPr>
        <p:txBody>
          <a:bodyPr lIns="0" rIns="0" tIns="0" bIns="0" anchor="ctr">
            <a:noAutofit/>
          </a:bodyPr>
          <a:p>
            <a:endParaRPr b="0" lang="es-ES" sz="1800" spc="-1" strike="noStrike">
              <a:solidFill>
                <a:srgbClr val="000000"/>
              </a:solidFill>
              <a:latin typeface="Arial"/>
            </a:endParaRPr>
          </a:p>
        </p:txBody>
      </p:sp>
      <p:sp>
        <p:nvSpPr>
          <p:cNvPr id="32" name="PlaceHolder 2"/>
          <p:cNvSpPr>
            <a:spLocks noGrp="1"/>
          </p:cNvSpPr>
          <p:nvPr>
            <p:ph type="body"/>
          </p:nvPr>
        </p:nvSpPr>
        <p:spPr>
          <a:xfrm>
            <a:off x="755640" y="5003640"/>
            <a:ext cx="4381200" cy="5915520"/>
          </a:xfrm>
          <a:prstGeom prst="rect">
            <a:avLst/>
          </a:prstGeom>
        </p:spPr>
        <p:txBody>
          <a:bodyPr lIns="0" rIns="0" tIns="0" bIns="0">
            <a:normAutofit/>
          </a:bodyPr>
          <a:p>
            <a:endParaRPr b="0" lang="es-ES" sz="2800" spc="-1" strike="noStrike">
              <a:solidFill>
                <a:srgbClr val="000000"/>
              </a:solidFill>
              <a:latin typeface="Arial"/>
            </a:endParaRPr>
          </a:p>
        </p:txBody>
      </p:sp>
      <p:sp>
        <p:nvSpPr>
          <p:cNvPr id="33" name="PlaceHolder 3"/>
          <p:cNvSpPr>
            <a:spLocks noGrp="1"/>
          </p:cNvSpPr>
          <p:nvPr>
            <p:ph type="body"/>
          </p:nvPr>
        </p:nvSpPr>
        <p:spPr>
          <a:xfrm>
            <a:off x="5356440" y="5003640"/>
            <a:ext cx="4381200" cy="5915520"/>
          </a:xfrm>
          <a:prstGeom prst="rect">
            <a:avLst/>
          </a:prstGeom>
        </p:spPr>
        <p:txBody>
          <a:bodyPr lIns="0" rIns="0" tIns="0" bIns="0">
            <a:normAutofit/>
          </a:bodyPr>
          <a:p>
            <a:endParaRPr b="0" lang="es-ES" sz="2800" spc="-1" strike="noStrike">
              <a:solidFill>
                <a:srgbClr val="000000"/>
              </a:solidFill>
              <a:latin typeface="Arial"/>
            </a:endParaRPr>
          </a:p>
        </p:txBody>
      </p:sp>
      <p:sp>
        <p:nvSpPr>
          <p:cNvPr id="34" name="PlaceHolder 4"/>
          <p:cNvSpPr>
            <a:spLocks noGrp="1"/>
          </p:cNvSpPr>
          <p:nvPr>
            <p:ph type="body"/>
          </p:nvPr>
        </p:nvSpPr>
        <p:spPr>
          <a:xfrm>
            <a:off x="9956880" y="5003640"/>
            <a:ext cx="4381200" cy="5915520"/>
          </a:xfrm>
          <a:prstGeom prst="rect">
            <a:avLst/>
          </a:prstGeom>
        </p:spPr>
        <p:txBody>
          <a:bodyPr lIns="0" rIns="0" tIns="0" bIns="0">
            <a:normAutofit/>
          </a:bodyPr>
          <a:p>
            <a:endParaRPr b="0" lang="es-ES" sz="2800" spc="-1" strike="noStrike">
              <a:solidFill>
                <a:srgbClr val="000000"/>
              </a:solidFill>
              <a:latin typeface="Arial"/>
            </a:endParaRPr>
          </a:p>
        </p:txBody>
      </p:sp>
      <p:sp>
        <p:nvSpPr>
          <p:cNvPr id="35" name="PlaceHolder 5"/>
          <p:cNvSpPr>
            <a:spLocks noGrp="1"/>
          </p:cNvSpPr>
          <p:nvPr>
            <p:ph type="body"/>
          </p:nvPr>
        </p:nvSpPr>
        <p:spPr>
          <a:xfrm>
            <a:off x="755640" y="11481480"/>
            <a:ext cx="4381200" cy="5915520"/>
          </a:xfrm>
          <a:prstGeom prst="rect">
            <a:avLst/>
          </a:prstGeom>
        </p:spPr>
        <p:txBody>
          <a:bodyPr lIns="0" rIns="0" tIns="0" bIns="0">
            <a:normAutofit/>
          </a:bodyPr>
          <a:p>
            <a:endParaRPr b="0" lang="es-ES" sz="2800" spc="-1" strike="noStrike">
              <a:solidFill>
                <a:srgbClr val="000000"/>
              </a:solidFill>
              <a:latin typeface="Arial"/>
            </a:endParaRPr>
          </a:p>
        </p:txBody>
      </p:sp>
      <p:sp>
        <p:nvSpPr>
          <p:cNvPr id="36" name="PlaceHolder 6"/>
          <p:cNvSpPr>
            <a:spLocks noGrp="1"/>
          </p:cNvSpPr>
          <p:nvPr>
            <p:ph type="body"/>
          </p:nvPr>
        </p:nvSpPr>
        <p:spPr>
          <a:xfrm>
            <a:off x="5356440" y="11481480"/>
            <a:ext cx="4381200" cy="5915520"/>
          </a:xfrm>
          <a:prstGeom prst="rect">
            <a:avLst/>
          </a:prstGeom>
        </p:spPr>
        <p:txBody>
          <a:bodyPr lIns="0" rIns="0" tIns="0" bIns="0">
            <a:normAutofit/>
          </a:bodyPr>
          <a:p>
            <a:endParaRPr b="0" lang="es-ES" sz="2800" spc="-1" strike="noStrike">
              <a:solidFill>
                <a:srgbClr val="000000"/>
              </a:solidFill>
              <a:latin typeface="Arial"/>
            </a:endParaRPr>
          </a:p>
        </p:txBody>
      </p:sp>
      <p:sp>
        <p:nvSpPr>
          <p:cNvPr id="37" name="PlaceHolder 7"/>
          <p:cNvSpPr>
            <a:spLocks noGrp="1"/>
          </p:cNvSpPr>
          <p:nvPr>
            <p:ph type="body"/>
          </p:nvPr>
        </p:nvSpPr>
        <p:spPr>
          <a:xfrm>
            <a:off x="9956880" y="11481480"/>
            <a:ext cx="4381200" cy="5915520"/>
          </a:xfrm>
          <a:prstGeom prst="rect">
            <a:avLst/>
          </a:prstGeom>
        </p:spPr>
        <p:txBody>
          <a:bodyPr lIns="0" rIns="0" tIns="0" bIns="0">
            <a:normAutofit/>
          </a:bodyPr>
          <a:p>
            <a:endParaRPr b="0" lang="es-ES" sz="2800" spc="-1" strike="noStrike">
              <a:solidFill>
                <a:srgbClr val="000000"/>
              </a:solidFill>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1134000" y="3499560"/>
            <a:ext cx="12850560" cy="7444080"/>
          </a:xfrm>
          <a:prstGeom prst="rect">
            <a:avLst/>
          </a:prstGeom>
        </p:spPr>
        <p:txBody>
          <a:bodyPr lIns="0" rIns="0" tIns="0" bIns="0" anchor="ctr">
            <a:noAutofit/>
          </a:bodyPr>
          <a:p>
            <a:pPr algn="ctr"/>
            <a:r>
              <a:rPr b="0" lang="es-ES" sz="4400" spc="-1" strike="noStrike">
                <a:solidFill>
                  <a:srgbClr val="000000"/>
                </a:solidFill>
                <a:latin typeface="Arial"/>
              </a:rPr>
              <a:t>Pulse para editar el formato del texto de título</a:t>
            </a:r>
            <a:endParaRPr b="0" lang="es-ES" sz="4400" spc="-1" strike="noStrike">
              <a:solidFill>
                <a:srgbClr val="000000"/>
              </a:solidFill>
              <a:latin typeface="Arial"/>
            </a:endParaRPr>
          </a:p>
        </p:txBody>
      </p:sp>
      <p:sp>
        <p:nvSpPr>
          <p:cNvPr id="1" name="PlaceHolder 2"/>
          <p:cNvSpPr>
            <a:spLocks noGrp="1"/>
          </p:cNvSpPr>
          <p:nvPr>
            <p:ph type="body"/>
          </p:nvPr>
        </p:nvSpPr>
        <p:spPr>
          <a:xfrm>
            <a:off x="755640" y="5003640"/>
            <a:ext cx="13606920" cy="1240200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es-ES" sz="2800" spc="-1" strike="noStrike">
                <a:solidFill>
                  <a:srgbClr val="000000"/>
                </a:solidFill>
                <a:latin typeface="Arial"/>
              </a:rPr>
              <a:t>Pulse para editar el formato de texto del esquema</a:t>
            </a:r>
            <a:endParaRPr b="0" lang="es-ES" sz="2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s-ES" sz="2000" spc="-1" strike="noStrike">
                <a:solidFill>
                  <a:srgbClr val="000000"/>
                </a:solidFill>
                <a:latin typeface="Arial"/>
              </a:rPr>
              <a:t>Segundo nivel del esquema</a:t>
            </a:r>
            <a:endParaRPr b="0" lang="es-ES" sz="20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s-ES" sz="1800" spc="-1" strike="noStrike">
                <a:solidFill>
                  <a:srgbClr val="000000"/>
                </a:solidFill>
                <a:latin typeface="Arial"/>
              </a:rPr>
              <a:t>Tercer nivel del esquema</a:t>
            </a:r>
            <a:endParaRPr b="0" lang="es-E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s-ES" sz="1800" spc="-1" strike="noStrike">
                <a:solidFill>
                  <a:srgbClr val="000000"/>
                </a:solidFill>
                <a:latin typeface="Arial"/>
              </a:rPr>
              <a:t>Cuarto nivel del esquema</a:t>
            </a:r>
            <a:endParaRPr b="0" lang="es-E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s-ES" sz="2000" spc="-1" strike="noStrike">
                <a:solidFill>
                  <a:srgbClr val="000000"/>
                </a:solidFill>
                <a:latin typeface="Arial"/>
              </a:rPr>
              <a:t>Quinto nivel del esquema</a:t>
            </a:r>
            <a:endParaRPr b="0" lang="es-E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s-ES" sz="2000" spc="-1" strike="noStrike">
                <a:solidFill>
                  <a:srgbClr val="000000"/>
                </a:solidFill>
                <a:latin typeface="Arial"/>
              </a:rPr>
              <a:t>Sexto nivel del esquema</a:t>
            </a:r>
            <a:endParaRPr b="0" lang="es-E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s-ES" sz="2000" spc="-1" strike="noStrike">
                <a:solidFill>
                  <a:srgbClr val="000000"/>
                </a:solidFill>
                <a:latin typeface="Arial"/>
              </a:rPr>
              <a:t>Séptimo nivel del esquema</a:t>
            </a:r>
            <a:endParaRPr b="0" lang="es-E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hyperlink" Target="https://www.ensembl.org/Tools/VEP" TargetMode="External"/><Relationship Id="rId2" Type="http://schemas.openxmlformats.org/officeDocument/2006/relationships/hyperlink" Target="https://gnomad.broadinstitute.org/" TargetMode="External"/><Relationship Id="rId3" Type="http://schemas.openxmlformats.org/officeDocument/2006/relationships/hyperlink" Target="https://sift.bii.a-star.edu.sg/" TargetMode="External"/><Relationship Id="rId4" Type="http://schemas.openxmlformats.org/officeDocument/2006/relationships/hyperlink" Target="http://genetics.bwh.harvard.edu/pph2/" TargetMode="External"/><Relationship Id="rId5" Type="http://schemas.openxmlformats.org/officeDocument/2006/relationships/hyperlink" Target="https://www.omim.org/" TargetMode="External"/><Relationship Id="rId6" Type="http://schemas.openxmlformats.org/officeDocument/2006/relationships/hyperlink" Target="https://www.ebi.ac.uk/jdispatcher/msa/clustalo" TargetMode="External"/><Relationship Id="rId7" Type="http://schemas.openxmlformats.org/officeDocument/2006/relationships/hyperlink" Target="https://mutalyzer.nl/" TargetMode="External"/><Relationship Id="rId8" Type="http://schemas.openxmlformats.org/officeDocument/2006/relationships/hyperlink" Target="https://www.uniprot.org/" TargetMode="External"/><Relationship Id="rId9" Type="http://schemas.openxmlformats.org/officeDocument/2006/relationships/hyperlink" Target="https://www.ebi.ac.uk/interpro/" TargetMode="External"/><Relationship Id="rId10" Type="http://schemas.openxmlformats.org/officeDocument/2006/relationships/hyperlink" Target="https://www.kegg.jp/kegg/kegg2.html" TargetMode="External"/><Relationship Id="rId11" Type="http://schemas.openxmlformats.org/officeDocument/2006/relationships/image" Target="../media/image1.png"/><Relationship Id="rId12" Type="http://schemas.openxmlformats.org/officeDocument/2006/relationships/image" Target="../media/image2.png"/><Relationship Id="rId13" Type="http://schemas.openxmlformats.org/officeDocument/2006/relationships/image" Target="../media/image3.png"/><Relationship Id="rId14" Type="http://schemas.openxmlformats.org/officeDocument/2006/relationships/image" Target="../media/image4.png"/><Relationship Id="rId15" Type="http://schemas.openxmlformats.org/officeDocument/2006/relationships/image" Target="../media/image5.png"/><Relationship Id="rId16" Type="http://schemas.openxmlformats.org/officeDocument/2006/relationships/slideLayout" Target="../slideLayouts/slideLayout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ffffff"/>
            </a:gs>
            <a:gs pos="100000">
              <a:srgbClr val="59c2e3">
                <a:alpha val="25098"/>
              </a:srgbClr>
            </a:gs>
          </a:gsLst>
          <a:lin ang="2700000"/>
        </a:gradFill>
      </p:bgPr>
    </p:bg>
    <p:spTree>
      <p:nvGrpSpPr>
        <p:cNvPr id="1" name=""/>
        <p:cNvGrpSpPr/>
        <p:nvPr/>
      </p:nvGrpSpPr>
      <p:grpSpPr>
        <a:xfrm>
          <a:off x="0" y="0"/>
          <a:ext cx="0" cy="0"/>
          <a:chOff x="0" y="0"/>
          <a:chExt cx="0" cy="0"/>
        </a:xfrm>
      </p:grpSpPr>
      <p:grpSp>
        <p:nvGrpSpPr>
          <p:cNvPr id="38" name="Group 1"/>
          <p:cNvGrpSpPr/>
          <p:nvPr/>
        </p:nvGrpSpPr>
        <p:grpSpPr>
          <a:xfrm>
            <a:off x="288000" y="3024000"/>
            <a:ext cx="14668200" cy="1504440"/>
            <a:chOff x="288000" y="3024000"/>
            <a:chExt cx="14668200" cy="1504440"/>
          </a:xfrm>
        </p:grpSpPr>
        <p:sp>
          <p:nvSpPr>
            <p:cNvPr id="39" name="CustomShape 2"/>
            <p:cNvSpPr/>
            <p:nvPr/>
          </p:nvSpPr>
          <p:spPr>
            <a:xfrm>
              <a:off x="288000" y="3340800"/>
              <a:ext cx="14668200" cy="118764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p:style>
          <p:txBody>
            <a:bodyPr lIns="90000" rIns="90000" tIns="360000" bIns="45000">
              <a:noAutofit/>
            </a:bodyPr>
            <a:p>
              <a:pPr algn="just">
                <a:lnSpc>
                  <a:spcPct val="80000"/>
                </a:lnSpc>
              </a:pPr>
              <a:r>
                <a:rPr b="0" i="1" lang="es-ES_tradnl" sz="1800" spc="-1" strike="noStrike">
                  <a:solidFill>
                    <a:srgbClr val="000000"/>
                  </a:solidFill>
                  <a:latin typeface="Aptos"/>
                  <a:ea typeface="DejaVu Sans"/>
                </a:rPr>
                <a:t>La obesidad, o acumulación excesiva de grasa corporal, causa graves problemas de salud y enfermedades crónicas. Como caso de estudio, se han estudiado las variantes genéticas en diferentes miembros de la familia Simpson para establecer la posible relación de esta patología con alteraciones a nivel genético.</a:t>
              </a:r>
              <a:endParaRPr b="0" lang="es-ES" sz="1800" spc="-1" strike="noStrike">
                <a:latin typeface="Arial"/>
              </a:endParaRPr>
            </a:p>
          </p:txBody>
        </p:sp>
        <p:sp>
          <p:nvSpPr>
            <p:cNvPr id="40" name="CustomShape 3"/>
            <p:cNvSpPr/>
            <p:nvPr/>
          </p:nvSpPr>
          <p:spPr>
            <a:xfrm>
              <a:off x="581040" y="3024000"/>
              <a:ext cx="5837400" cy="632160"/>
            </a:xfrm>
            <a:prstGeom prst="roundRect">
              <a:avLst>
                <a:gd name="adj" fmla="val 16667"/>
              </a:avLst>
            </a:prstGeom>
            <a:gradFill rotWithShape="0">
              <a:gsLst>
                <a:gs pos="0">
                  <a:srgbClr val="59c2e3"/>
                </a:gs>
                <a:gs pos="100000">
                  <a:srgbClr val="4196c9"/>
                </a:gs>
              </a:gsLst>
              <a:lin ang="2700000"/>
            </a:gra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a:lnSpc>
                  <a:spcPct val="100000"/>
                </a:lnSpc>
              </a:pPr>
              <a:r>
                <a:rPr b="1" lang="es-ES_tradnl" sz="2800" spc="-1" strike="noStrike">
                  <a:solidFill>
                    <a:srgbClr val="ffffff"/>
                  </a:solidFill>
                  <a:latin typeface="Aptos"/>
                  <a:ea typeface="DejaVu Sans"/>
                </a:rPr>
                <a:t>INTRODUCCIÓN</a:t>
              </a:r>
              <a:endParaRPr b="0" lang="es-ES" sz="2800" spc="-1" strike="noStrike">
                <a:latin typeface="Arial"/>
              </a:endParaRPr>
            </a:p>
          </p:txBody>
        </p:sp>
      </p:grpSp>
      <p:grpSp>
        <p:nvGrpSpPr>
          <p:cNvPr id="41" name="Group 4"/>
          <p:cNvGrpSpPr/>
          <p:nvPr/>
        </p:nvGrpSpPr>
        <p:grpSpPr>
          <a:xfrm>
            <a:off x="207720" y="4630680"/>
            <a:ext cx="14668200" cy="1920960"/>
            <a:chOff x="207720" y="4630680"/>
            <a:chExt cx="14668200" cy="1920960"/>
          </a:xfrm>
        </p:grpSpPr>
        <p:sp>
          <p:nvSpPr>
            <p:cNvPr id="42" name="CustomShape 5"/>
            <p:cNvSpPr/>
            <p:nvPr/>
          </p:nvSpPr>
          <p:spPr>
            <a:xfrm>
              <a:off x="207720" y="4875840"/>
              <a:ext cx="14668200" cy="167580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p:style>
          <p:txBody>
            <a:bodyPr lIns="90000" rIns="90000" tIns="360000" bIns="45000">
              <a:noAutofit/>
            </a:bodyPr>
            <a:p>
              <a:pPr algn="just">
                <a:lnSpc>
                  <a:spcPct val="80000"/>
                </a:lnSpc>
              </a:pPr>
              <a:r>
                <a:rPr b="0" i="1" lang="es-ES_tradnl" sz="1700" spc="-1" strike="noStrike">
                  <a:solidFill>
                    <a:srgbClr val="000000"/>
                  </a:solidFill>
                  <a:latin typeface="Aptos"/>
                  <a:ea typeface="DejaVu Sans"/>
                </a:rPr>
                <a:t>Se analizaron tres variantes de Abraham y Maggie Simpson con </a:t>
              </a:r>
              <a:r>
                <a:rPr b="0" i="1" lang="es-ES_tradnl" sz="1700" spc="-1" strike="noStrike" u="sng">
                  <a:solidFill>
                    <a:srgbClr val="467886"/>
                  </a:solidFill>
                  <a:uFillTx/>
                  <a:latin typeface="Aptos"/>
                  <a:ea typeface="DejaVu Sans"/>
                  <a:hlinkClick r:id="rId1"/>
                </a:rPr>
                <a:t>VEP</a:t>
              </a:r>
              <a:r>
                <a:rPr b="0" i="1" lang="es-ES_tradnl" sz="1700" spc="-1" strike="noStrike">
                  <a:solidFill>
                    <a:srgbClr val="000000"/>
                  </a:solidFill>
                  <a:latin typeface="Aptos"/>
                  <a:ea typeface="DejaVu Sans"/>
                </a:rPr>
                <a:t>. Se exploraron la prevalencia en la población con </a:t>
              </a:r>
              <a:r>
                <a:rPr b="0" i="1" lang="es-ES_tradnl" sz="1700" spc="-1" strike="noStrike" u="sng">
                  <a:solidFill>
                    <a:srgbClr val="467886"/>
                  </a:solidFill>
                  <a:uFillTx/>
                  <a:latin typeface="Aptos"/>
                  <a:ea typeface="DejaVu Sans"/>
                  <a:hlinkClick r:id="rId2"/>
                </a:rPr>
                <a:t>gnomAD</a:t>
              </a:r>
              <a:r>
                <a:rPr b="0" i="1" lang="es-ES_tradnl" sz="1700" spc="-1" strike="noStrike">
                  <a:solidFill>
                    <a:srgbClr val="000000"/>
                  </a:solidFill>
                  <a:latin typeface="Aptos"/>
                  <a:ea typeface="DejaVu Sans"/>
                </a:rPr>
                <a:t>; y su patogenicidad con </a:t>
              </a:r>
              <a:r>
                <a:rPr b="0" i="1" lang="es-ES_tradnl" sz="1700" spc="-1" strike="noStrike" u="sng">
                  <a:solidFill>
                    <a:srgbClr val="467886"/>
                  </a:solidFill>
                  <a:uFillTx/>
                  <a:latin typeface="Aptos"/>
                  <a:ea typeface="DejaVu Sans"/>
                  <a:hlinkClick r:id="rId3"/>
                </a:rPr>
                <a:t>SIFT</a:t>
              </a:r>
              <a:r>
                <a:rPr b="0" i="1" lang="es-ES_tradnl" sz="1700" spc="-1" strike="noStrike">
                  <a:solidFill>
                    <a:srgbClr val="000000"/>
                  </a:solidFill>
                  <a:latin typeface="Aptos"/>
                  <a:ea typeface="DejaVu Sans"/>
                </a:rPr>
                <a:t>, </a:t>
              </a:r>
              <a:r>
                <a:rPr b="0" i="1" lang="es-ES_tradnl" sz="1700" spc="-1" strike="noStrike" u="sng">
                  <a:solidFill>
                    <a:srgbClr val="467886"/>
                  </a:solidFill>
                  <a:uFillTx/>
                  <a:latin typeface="Aptos"/>
                  <a:ea typeface="DejaVu Sans"/>
                  <a:hlinkClick r:id="rId4"/>
                </a:rPr>
                <a:t>PolyPhen</a:t>
              </a:r>
              <a:r>
                <a:rPr b="0" i="1" lang="es-ES_tradnl" sz="1700" spc="-1" strike="noStrike">
                  <a:solidFill>
                    <a:srgbClr val="000000"/>
                  </a:solidFill>
                  <a:latin typeface="Aptos"/>
                  <a:ea typeface="DejaVu Sans"/>
                </a:rPr>
                <a:t>, y </a:t>
              </a:r>
              <a:r>
                <a:rPr b="0" i="1" lang="es-ES_tradnl" sz="1700" spc="-1" strike="noStrike" u="sng">
                  <a:solidFill>
                    <a:srgbClr val="467886"/>
                  </a:solidFill>
                  <a:uFillTx/>
                  <a:latin typeface="Aptos"/>
                  <a:ea typeface="DejaVu Sans"/>
                  <a:hlinkClick r:id="rId5"/>
                </a:rPr>
                <a:t>OMIM</a:t>
              </a:r>
              <a:r>
                <a:rPr b="0" i="1" lang="es-ES_tradnl" sz="1700" spc="-1" strike="noStrike">
                  <a:solidFill>
                    <a:srgbClr val="000000"/>
                  </a:solidFill>
                  <a:latin typeface="Aptos"/>
                  <a:ea typeface="DejaVu Sans"/>
                </a:rPr>
                <a:t>. Las variantes “missense” se analizaron con </a:t>
              </a:r>
              <a:r>
                <a:rPr b="0" i="1" lang="es-ES_tradnl" sz="1700" spc="-1" strike="noStrike" u="sng">
                  <a:solidFill>
                    <a:srgbClr val="467886"/>
                  </a:solidFill>
                  <a:uFillTx/>
                  <a:latin typeface="Aptos"/>
                  <a:ea typeface="DejaVu Sans"/>
                  <a:hlinkClick r:id="rId6"/>
                </a:rPr>
                <a:t>CLUSTAL omega</a:t>
              </a:r>
              <a:r>
                <a:rPr b="0" i="1" lang="es-ES_tradnl" sz="1700" spc="-1" strike="noStrike">
                  <a:solidFill>
                    <a:srgbClr val="000000"/>
                  </a:solidFill>
                  <a:latin typeface="Aptos"/>
                  <a:ea typeface="DejaVu Sans"/>
                </a:rPr>
                <a:t> para detectar si la región afectada estaba conservada. Las variantes “frameshift” se analizaron con </a:t>
              </a:r>
              <a:r>
                <a:rPr b="0" i="1" lang="es-ES_tradnl" sz="1700" spc="-1" strike="noStrike" u="sng">
                  <a:solidFill>
                    <a:srgbClr val="467886"/>
                  </a:solidFill>
                  <a:uFillTx/>
                  <a:latin typeface="Aptos"/>
                  <a:ea typeface="DejaVu Sans"/>
                  <a:hlinkClick r:id="rId7"/>
                </a:rPr>
                <a:t>Mutalyzer</a:t>
              </a:r>
              <a:r>
                <a:rPr b="0" i="1" lang="es-ES_tradnl" sz="1700" spc="-1" strike="noStrike">
                  <a:solidFill>
                    <a:srgbClr val="000000"/>
                  </a:solidFill>
                  <a:latin typeface="Aptos"/>
                  <a:ea typeface="DejaVu Sans"/>
                </a:rPr>
                <a:t> para comprobar la estructura del la proteína mutada. Consultamos </a:t>
              </a:r>
              <a:r>
                <a:rPr b="0" i="1" lang="es-ES_tradnl" sz="1700" spc="-1" strike="noStrike" u="sng">
                  <a:solidFill>
                    <a:srgbClr val="467886"/>
                  </a:solidFill>
                  <a:uFillTx/>
                  <a:latin typeface="Aptos"/>
                  <a:ea typeface="DejaVu Sans"/>
                  <a:hlinkClick r:id="rId8"/>
                </a:rPr>
                <a:t>UniProt</a:t>
              </a:r>
              <a:r>
                <a:rPr b="0" i="1" lang="es-ES_tradnl" sz="1700" spc="-1" strike="noStrike">
                  <a:solidFill>
                    <a:srgbClr val="000000"/>
                  </a:solidFill>
                  <a:latin typeface="Aptos"/>
                  <a:ea typeface="DejaVu Sans"/>
                </a:rPr>
                <a:t> e </a:t>
              </a:r>
              <a:r>
                <a:rPr b="0" i="1" lang="es-ES_tradnl" sz="1700" spc="-1" strike="noStrike" u="sng">
                  <a:solidFill>
                    <a:srgbClr val="467886"/>
                  </a:solidFill>
                  <a:uFillTx/>
                  <a:latin typeface="Aptos"/>
                  <a:ea typeface="DejaVu Sans"/>
                  <a:hlinkClick r:id="rId9"/>
                </a:rPr>
                <a:t>InterPro</a:t>
              </a:r>
              <a:r>
                <a:rPr b="0" i="1" lang="es-ES_tradnl" sz="1700" spc="-1" strike="noStrike">
                  <a:solidFill>
                    <a:srgbClr val="000000"/>
                  </a:solidFill>
                  <a:latin typeface="Aptos"/>
                  <a:ea typeface="DejaVu Sans"/>
                </a:rPr>
                <a:t> para comprobar los dominios proteicos afectados en las variantes, y las entradas en </a:t>
              </a:r>
              <a:r>
                <a:rPr b="0" i="1" lang="es-ES_tradnl" sz="1700" spc="-1" strike="noStrike" u="sng">
                  <a:solidFill>
                    <a:srgbClr val="467886"/>
                  </a:solidFill>
                  <a:uFillTx/>
                  <a:latin typeface="Aptos"/>
                  <a:ea typeface="DejaVu Sans"/>
                  <a:hlinkClick r:id="rId10"/>
                </a:rPr>
                <a:t>KEGG</a:t>
              </a:r>
              <a:r>
                <a:rPr b="0" i="1" lang="es-ES_tradnl" sz="1700" spc="-1" strike="noStrike">
                  <a:solidFill>
                    <a:srgbClr val="000000"/>
                  </a:solidFill>
                  <a:latin typeface="Aptos"/>
                  <a:ea typeface="DejaVu Sans"/>
                </a:rPr>
                <a:t> de los genes afectados para comprobar en qué rutas metabólicas está implicados.</a:t>
              </a:r>
              <a:endParaRPr b="0" lang="es-ES" sz="1700" spc="-1" strike="noStrike">
                <a:latin typeface="Arial"/>
              </a:endParaRPr>
            </a:p>
          </p:txBody>
        </p:sp>
        <p:sp>
          <p:nvSpPr>
            <p:cNvPr id="43" name="CustomShape 6"/>
            <p:cNvSpPr/>
            <p:nvPr/>
          </p:nvSpPr>
          <p:spPr>
            <a:xfrm>
              <a:off x="500760" y="4630680"/>
              <a:ext cx="5837400" cy="632160"/>
            </a:xfrm>
            <a:prstGeom prst="roundRect">
              <a:avLst>
                <a:gd name="adj" fmla="val 16667"/>
              </a:avLst>
            </a:prstGeom>
            <a:gradFill rotWithShape="0">
              <a:gsLst>
                <a:gs pos="0">
                  <a:srgbClr val="59c2e3"/>
                </a:gs>
                <a:gs pos="100000">
                  <a:srgbClr val="4196c9"/>
                </a:gs>
              </a:gsLst>
              <a:lin ang="2700000"/>
            </a:gra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a:lnSpc>
                  <a:spcPct val="100000"/>
                </a:lnSpc>
              </a:pPr>
              <a:r>
                <a:rPr b="1" lang="es-ES_tradnl" sz="2800" spc="-1" strike="noStrike">
                  <a:solidFill>
                    <a:srgbClr val="ffffff"/>
                  </a:solidFill>
                  <a:latin typeface="Aptos"/>
                  <a:ea typeface="DejaVu Sans"/>
                </a:rPr>
                <a:t>METODOLOGÍA</a:t>
              </a:r>
              <a:endParaRPr b="0" lang="es-ES" sz="2800" spc="-1" strike="noStrike">
                <a:latin typeface="Arial"/>
              </a:endParaRPr>
            </a:p>
          </p:txBody>
        </p:sp>
      </p:grpSp>
      <p:grpSp>
        <p:nvGrpSpPr>
          <p:cNvPr id="44" name="Group 7"/>
          <p:cNvGrpSpPr/>
          <p:nvPr/>
        </p:nvGrpSpPr>
        <p:grpSpPr>
          <a:xfrm>
            <a:off x="144000" y="6552000"/>
            <a:ext cx="14668200" cy="11018160"/>
            <a:chOff x="144000" y="6552000"/>
            <a:chExt cx="14668200" cy="11018160"/>
          </a:xfrm>
        </p:grpSpPr>
        <p:sp>
          <p:nvSpPr>
            <p:cNvPr id="45" name="CustomShape 8"/>
            <p:cNvSpPr/>
            <p:nvPr/>
          </p:nvSpPr>
          <p:spPr>
            <a:xfrm>
              <a:off x="144000" y="6908400"/>
              <a:ext cx="14668200" cy="10661760"/>
            </a:xfrm>
            <a:prstGeom prst="roundRect">
              <a:avLst>
                <a:gd name="adj" fmla="val 1988"/>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p:style>
        </p:sp>
        <p:sp>
          <p:nvSpPr>
            <p:cNvPr id="46" name="CustomShape 9"/>
            <p:cNvSpPr/>
            <p:nvPr/>
          </p:nvSpPr>
          <p:spPr>
            <a:xfrm>
              <a:off x="437040" y="6552000"/>
              <a:ext cx="5837400" cy="712080"/>
            </a:xfrm>
            <a:prstGeom prst="roundRect">
              <a:avLst>
                <a:gd name="adj" fmla="val 16667"/>
              </a:avLst>
            </a:prstGeom>
            <a:gradFill rotWithShape="0">
              <a:gsLst>
                <a:gs pos="0">
                  <a:srgbClr val="59c2e3"/>
                </a:gs>
                <a:gs pos="100000">
                  <a:srgbClr val="4196c9"/>
                </a:gs>
              </a:gsLst>
              <a:lin ang="2700000"/>
            </a:gra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a:lnSpc>
                  <a:spcPct val="100000"/>
                </a:lnSpc>
              </a:pPr>
              <a:r>
                <a:rPr b="1" lang="es-ES_tradnl" sz="2800" spc="-1" strike="noStrike">
                  <a:solidFill>
                    <a:srgbClr val="ffffff"/>
                  </a:solidFill>
                  <a:latin typeface="Aptos"/>
                  <a:ea typeface="DejaVu Sans"/>
                </a:rPr>
                <a:t>RESULTADOS</a:t>
              </a:r>
              <a:endParaRPr b="0" lang="es-ES" sz="2800" spc="-1" strike="noStrike">
                <a:latin typeface="Arial"/>
              </a:endParaRPr>
            </a:p>
          </p:txBody>
        </p:sp>
      </p:grpSp>
      <p:pic>
        <p:nvPicPr>
          <p:cNvPr id="47" name="Picture 4" descr=""/>
          <p:cNvPicPr/>
          <p:nvPr/>
        </p:nvPicPr>
        <p:blipFill>
          <a:blip r:embed="rId11"/>
          <a:stretch/>
        </p:blipFill>
        <p:spPr>
          <a:xfrm>
            <a:off x="12550680" y="-95400"/>
            <a:ext cx="2325240" cy="1400040"/>
          </a:xfrm>
          <a:prstGeom prst="rect">
            <a:avLst/>
          </a:prstGeom>
          <a:ln>
            <a:noFill/>
          </a:ln>
        </p:spPr>
      </p:pic>
      <p:grpSp>
        <p:nvGrpSpPr>
          <p:cNvPr id="48" name="Group 10"/>
          <p:cNvGrpSpPr/>
          <p:nvPr/>
        </p:nvGrpSpPr>
        <p:grpSpPr>
          <a:xfrm>
            <a:off x="0" y="-5760"/>
            <a:ext cx="3396600" cy="2302200"/>
            <a:chOff x="0" y="-5760"/>
            <a:chExt cx="3396600" cy="2302200"/>
          </a:xfrm>
        </p:grpSpPr>
        <p:pic>
          <p:nvPicPr>
            <p:cNvPr id="49" name="Imagen 4" descr=""/>
            <p:cNvPicPr/>
            <p:nvPr/>
          </p:nvPicPr>
          <p:blipFill>
            <a:blip r:embed="rId12"/>
            <a:stretch/>
          </p:blipFill>
          <p:spPr>
            <a:xfrm>
              <a:off x="0" y="-5760"/>
              <a:ext cx="3396600" cy="2302200"/>
            </a:xfrm>
            <a:prstGeom prst="rect">
              <a:avLst/>
            </a:prstGeom>
            <a:ln>
              <a:noFill/>
            </a:ln>
          </p:spPr>
        </p:pic>
        <p:sp>
          <p:nvSpPr>
            <p:cNvPr id="50" name="CustomShape 11"/>
            <p:cNvSpPr/>
            <p:nvPr/>
          </p:nvSpPr>
          <p:spPr>
            <a:xfrm>
              <a:off x="677880" y="1086840"/>
              <a:ext cx="1585800" cy="4712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sp>
      </p:grpSp>
      <p:sp>
        <p:nvSpPr>
          <p:cNvPr id="51" name="CustomShape 12"/>
          <p:cNvSpPr/>
          <p:nvPr/>
        </p:nvSpPr>
        <p:spPr>
          <a:xfrm>
            <a:off x="780840" y="1086840"/>
            <a:ext cx="13762800" cy="1792800"/>
          </a:xfrm>
          <a:prstGeom prst="roundRect">
            <a:avLst>
              <a:gd name="adj" fmla="val 9702"/>
            </a:avLst>
          </a:prstGeom>
          <a:solidFill>
            <a:srgbClr val="4196c9"/>
          </a:solidFill>
          <a:ln>
            <a:noFill/>
          </a:ln>
        </p:spPr>
        <p:style>
          <a:lnRef idx="2">
            <a:schemeClr val="accent1">
              <a:shade val="15000"/>
            </a:schemeClr>
          </a:lnRef>
          <a:fillRef idx="1">
            <a:schemeClr val="accent1"/>
          </a:fillRef>
          <a:effectRef idx="0">
            <a:schemeClr val="accent1"/>
          </a:effectRef>
          <a:fontRef idx="minor"/>
        </p:style>
        <p:txBody>
          <a:bodyPr lIns="90000" rIns="90000" tIns="46800" bIns="45000" anchor="ctr">
            <a:noAutofit/>
          </a:bodyPr>
          <a:p>
            <a:pPr algn="ctr">
              <a:lnSpc>
                <a:spcPct val="100000"/>
              </a:lnSpc>
            </a:pPr>
            <a:r>
              <a:rPr b="1" lang="es-ES_tradnl" sz="4000" spc="-1" strike="noStrike">
                <a:solidFill>
                  <a:srgbClr val="ffffff"/>
                </a:solidFill>
                <a:latin typeface="Aptos"/>
                <a:ea typeface="DejaVu Sans"/>
              </a:rPr>
              <a:t>Anotación e interpretación de variantes</a:t>
            </a:r>
            <a:endParaRPr b="0" lang="es-ES" sz="4000" spc="-1" strike="noStrike">
              <a:latin typeface="Arial"/>
            </a:endParaRPr>
          </a:p>
          <a:p>
            <a:pPr algn="ctr">
              <a:lnSpc>
                <a:spcPct val="80000"/>
              </a:lnSpc>
            </a:pPr>
            <a:r>
              <a:rPr b="1" i="1" lang="es-ES_tradnl" sz="2800" spc="-1" strike="noStrike">
                <a:solidFill>
                  <a:srgbClr val="ffffff"/>
                </a:solidFill>
                <a:latin typeface="Aptos"/>
                <a:ea typeface="DejaVu Sans"/>
              </a:rPr>
              <a:t>Genética clínica y de poblaciones</a:t>
            </a:r>
            <a:endParaRPr b="0" lang="es-ES" sz="2800" spc="-1" strike="noStrike">
              <a:latin typeface="Arial"/>
            </a:endParaRPr>
          </a:p>
          <a:p>
            <a:pPr algn="ctr">
              <a:lnSpc>
                <a:spcPct val="80000"/>
              </a:lnSpc>
            </a:pPr>
            <a:r>
              <a:rPr b="1" i="1" lang="es-ES_tradnl" sz="2000" spc="-1" strike="noStrike">
                <a:solidFill>
                  <a:srgbClr val="ffffff"/>
                </a:solidFill>
                <a:latin typeface="Aptos"/>
                <a:ea typeface="DejaVu Sans"/>
              </a:rPr>
              <a:t>Paula Damián Moral - Paula Sofía Norniella Jamart - Pedro García Sáez - Pedro Manuel Rodríguez Santos - Pilar Navarro Sánchez - Rubén Martín Blázquez </a:t>
            </a:r>
            <a:endParaRPr b="0" lang="es-ES" sz="2000" spc="-1" strike="noStrike">
              <a:latin typeface="Arial"/>
            </a:endParaRPr>
          </a:p>
        </p:txBody>
      </p:sp>
      <p:grpSp>
        <p:nvGrpSpPr>
          <p:cNvPr id="52" name="Group 13"/>
          <p:cNvGrpSpPr/>
          <p:nvPr/>
        </p:nvGrpSpPr>
        <p:grpSpPr>
          <a:xfrm>
            <a:off x="144000" y="17570520"/>
            <a:ext cx="9095040" cy="3597120"/>
            <a:chOff x="144000" y="17570520"/>
            <a:chExt cx="9095040" cy="3597120"/>
          </a:xfrm>
        </p:grpSpPr>
        <p:sp>
          <p:nvSpPr>
            <p:cNvPr id="53" name="CustomShape 14"/>
            <p:cNvSpPr/>
            <p:nvPr/>
          </p:nvSpPr>
          <p:spPr>
            <a:xfrm>
              <a:off x="144000" y="17866440"/>
              <a:ext cx="9095040" cy="330120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p:style>
          <p:txBody>
            <a:bodyPr lIns="90000" rIns="90000" tIns="360000" bIns="45000">
              <a:noAutofit/>
            </a:bodyPr>
            <a:p>
              <a:pPr algn="just">
                <a:lnSpc>
                  <a:spcPct val="80000"/>
                </a:lnSpc>
              </a:pPr>
              <a:r>
                <a:rPr b="0" i="1" lang="es-ES_tradnl" sz="1800" spc="-1" strike="noStrike">
                  <a:solidFill>
                    <a:srgbClr val="000000"/>
                  </a:solidFill>
                  <a:latin typeface="Aptos"/>
                  <a:ea typeface="DejaVu Sans"/>
                </a:rPr>
                <a:t>Maggie: presenta una deleción en el gen receptor de leptina (LEPR), produciendo una mutación “frameshift”. Esta deleción provoca la pérdida de dominios necesarios para activar vías de señalización de la hormona leptina (encargada de disminuir la ingesta y aumentar el consumo de energía).</a:t>
              </a:r>
              <a:endParaRPr b="0" lang="es-ES" sz="1800" spc="-1" strike="noStrike">
                <a:latin typeface="Arial"/>
              </a:endParaRPr>
            </a:p>
            <a:p>
              <a:pPr algn="just">
                <a:lnSpc>
                  <a:spcPct val="80000"/>
                </a:lnSpc>
              </a:pPr>
              <a:r>
                <a:rPr b="0" i="1" lang="es-ES_tradnl" sz="1800" spc="-1" strike="noStrike">
                  <a:solidFill>
                    <a:srgbClr val="000000"/>
                  </a:solidFill>
                  <a:latin typeface="Aptos"/>
                  <a:ea typeface="DejaVu Sans"/>
                </a:rPr>
                <a:t>Abraham y Maggie: presentan una sustitución en el gen receptor de la melanocortin 4 (MC4R) que provoca una mutación “missense” que altera un dominio extracelular y crucial para la señalizacon. Esta alteración es altamente patogénica, afectando a una región altamente conservada evolutivamente. Se ve alterada la ruta de señalizacion hormonal del cAMP implicado en el control de la saciedad. Como consecuencia, se altera el control del apetito a nivel hipotalámico, derivando en la característica hiperfagia típica de pacientes con obesidad monogénica.</a:t>
              </a:r>
              <a:endParaRPr b="0" lang="es-ES" sz="1800" spc="-1" strike="noStrike">
                <a:latin typeface="Arial"/>
              </a:endParaRPr>
            </a:p>
            <a:p>
              <a:pPr algn="just">
                <a:lnSpc>
                  <a:spcPct val="80000"/>
                </a:lnSpc>
              </a:pPr>
              <a:r>
                <a:rPr b="0" i="1" lang="es-ES_tradnl" sz="1800" spc="-1" strike="noStrike">
                  <a:solidFill>
                    <a:srgbClr val="000000"/>
                  </a:solidFill>
                  <a:latin typeface="Aptos"/>
                  <a:ea typeface="DejaVu Sans"/>
                </a:rPr>
                <a:t>Ambos presentan mutaciones en TP53, y Abraham es hemicigoto para la variante detectada en MED12, pero ambas tienen un nivel de patogenicidad bajo o ambiguo.</a:t>
              </a:r>
              <a:endParaRPr b="0" lang="es-ES" sz="1800" spc="-1" strike="noStrike">
                <a:latin typeface="Arial"/>
              </a:endParaRPr>
            </a:p>
          </p:txBody>
        </p:sp>
        <p:sp>
          <p:nvSpPr>
            <p:cNvPr id="54" name="CustomShape 15"/>
            <p:cNvSpPr/>
            <p:nvPr/>
          </p:nvSpPr>
          <p:spPr>
            <a:xfrm>
              <a:off x="437040" y="17570520"/>
              <a:ext cx="5837400" cy="591480"/>
            </a:xfrm>
            <a:prstGeom prst="roundRect">
              <a:avLst>
                <a:gd name="adj" fmla="val 16667"/>
              </a:avLst>
            </a:prstGeom>
            <a:gradFill rotWithShape="0">
              <a:gsLst>
                <a:gs pos="0">
                  <a:srgbClr val="59c2e3"/>
                </a:gs>
                <a:gs pos="100000">
                  <a:srgbClr val="4196c9"/>
                </a:gs>
              </a:gsLst>
              <a:lin ang="2700000"/>
            </a:gra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a:lnSpc>
                  <a:spcPct val="100000"/>
                </a:lnSpc>
              </a:pPr>
              <a:r>
                <a:rPr b="1" lang="es-ES_tradnl" sz="2800" spc="-1" strike="noStrike">
                  <a:solidFill>
                    <a:srgbClr val="ffffff"/>
                  </a:solidFill>
                  <a:latin typeface="Aptos"/>
                  <a:ea typeface="DejaVu Sans"/>
                </a:rPr>
                <a:t>DISCUSIÓN</a:t>
              </a:r>
              <a:endParaRPr b="0" lang="es-ES" sz="2800" spc="-1" strike="noStrike">
                <a:latin typeface="Arial"/>
              </a:endParaRPr>
            </a:p>
          </p:txBody>
        </p:sp>
      </p:grpSp>
      <p:grpSp>
        <p:nvGrpSpPr>
          <p:cNvPr id="55" name="Group 16"/>
          <p:cNvGrpSpPr/>
          <p:nvPr/>
        </p:nvGrpSpPr>
        <p:grpSpPr>
          <a:xfrm>
            <a:off x="9576000" y="17657640"/>
            <a:ext cx="5366160" cy="2934360"/>
            <a:chOff x="9576000" y="17657640"/>
            <a:chExt cx="5366160" cy="2934360"/>
          </a:xfrm>
        </p:grpSpPr>
        <p:sp>
          <p:nvSpPr>
            <p:cNvPr id="56" name="CustomShape 17"/>
            <p:cNvSpPr/>
            <p:nvPr/>
          </p:nvSpPr>
          <p:spPr>
            <a:xfrm>
              <a:off x="9576000" y="17899200"/>
              <a:ext cx="5366160" cy="269280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p:style>
          <p:txBody>
            <a:bodyPr lIns="90000" rIns="90000" tIns="360000" bIns="45000">
              <a:noAutofit/>
            </a:bodyPr>
            <a:p>
              <a:pPr algn="just">
                <a:lnSpc>
                  <a:spcPct val="80000"/>
                </a:lnSpc>
              </a:pPr>
              <a:r>
                <a:rPr b="0" i="1" lang="es-ES_tradnl" sz="1800" spc="-1" strike="noStrike">
                  <a:solidFill>
                    <a:srgbClr val="000000"/>
                  </a:solidFill>
                  <a:latin typeface="Aptos"/>
                  <a:ea typeface="DejaVu Sans"/>
                </a:rPr>
                <a:t>Las variantes de los genes LEPR (portada por Maggie) y MC4R (portada por Abraham y Maggie) pueden indicar que los Simpson sean propensos a desarrollar obesidad. Por otro lado, mutaciones que comparten ambos en los genes MED12 y TP53, no se consideran patogénicas ni se observa relación con el fenotipo observado. Por lo tanto, la familia Simpson debe tener una dieta controlada y hábitos de vida saludable si no desean desarrollar obesidad.</a:t>
              </a:r>
              <a:endParaRPr b="0" lang="es-ES" sz="1800" spc="-1" strike="noStrike">
                <a:latin typeface="Arial"/>
              </a:endParaRPr>
            </a:p>
          </p:txBody>
        </p:sp>
        <p:sp>
          <p:nvSpPr>
            <p:cNvPr id="57" name="CustomShape 18"/>
            <p:cNvSpPr/>
            <p:nvPr/>
          </p:nvSpPr>
          <p:spPr>
            <a:xfrm>
              <a:off x="9797400" y="17657640"/>
              <a:ext cx="4406400" cy="482400"/>
            </a:xfrm>
            <a:prstGeom prst="roundRect">
              <a:avLst>
                <a:gd name="adj" fmla="val 16667"/>
              </a:avLst>
            </a:prstGeom>
            <a:gradFill rotWithShape="0">
              <a:gsLst>
                <a:gs pos="0">
                  <a:srgbClr val="59c2e3"/>
                </a:gs>
                <a:gs pos="100000">
                  <a:srgbClr val="4196c9"/>
                </a:gs>
              </a:gsLst>
              <a:lin ang="2700000"/>
            </a:gra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a:lnSpc>
                  <a:spcPct val="100000"/>
                </a:lnSpc>
              </a:pPr>
              <a:r>
                <a:rPr b="1" lang="es-ES_tradnl" sz="2800" spc="-1" strike="noStrike">
                  <a:solidFill>
                    <a:srgbClr val="ffffff"/>
                  </a:solidFill>
                  <a:latin typeface="Aptos"/>
                  <a:ea typeface="DejaVu Sans"/>
                </a:rPr>
                <a:t>CONCLUSIONES</a:t>
              </a:r>
              <a:endParaRPr b="0" lang="es-ES" sz="2800" spc="-1" strike="noStrike">
                <a:latin typeface="Arial"/>
              </a:endParaRPr>
            </a:p>
          </p:txBody>
        </p:sp>
      </p:grpSp>
      <p:sp>
        <p:nvSpPr>
          <p:cNvPr id="58" name="CustomShape 19"/>
          <p:cNvSpPr/>
          <p:nvPr/>
        </p:nvSpPr>
        <p:spPr>
          <a:xfrm>
            <a:off x="440640" y="7503480"/>
            <a:ext cx="13959000" cy="632160"/>
          </a:xfrm>
          <a:prstGeom prst="roundRect">
            <a:avLst>
              <a:gd name="adj" fmla="val 16667"/>
            </a:avLst>
          </a:prstGeom>
          <a:solidFill>
            <a:schemeClr val="bg2"/>
          </a:solidFill>
          <a:ln>
            <a:no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nSpc>
                <a:spcPct val="80000"/>
              </a:lnSpc>
              <a:tabLst>
                <a:tab algn="l" pos="0"/>
              </a:tabLst>
            </a:pPr>
            <a:r>
              <a:rPr b="1" lang="es-ES_tradnl" sz="1800" spc="-1" strike="noStrike">
                <a:solidFill>
                  <a:srgbClr val="4196c9"/>
                </a:solidFill>
                <a:latin typeface="Aptos"/>
                <a:ea typeface="DejaVu Sans"/>
              </a:rPr>
              <a:t>Tabla 1. </a:t>
            </a:r>
            <a:r>
              <a:rPr b="0" lang="es-ES_tradnl" sz="1800" spc="-1" strike="noStrike">
                <a:solidFill>
                  <a:srgbClr val="000000"/>
                </a:solidFill>
                <a:latin typeface="Aptos"/>
                <a:ea typeface="DejaVu Sans"/>
              </a:rPr>
              <a:t>Información de las variantes analizadas con VEP.</a:t>
            </a:r>
            <a:endParaRPr b="0" lang="es-ES" sz="1800" spc="-1" strike="noStrike">
              <a:latin typeface="Arial"/>
            </a:endParaRPr>
          </a:p>
        </p:txBody>
      </p:sp>
      <p:sp>
        <p:nvSpPr>
          <p:cNvPr id="59" name="CustomShape 20"/>
          <p:cNvSpPr/>
          <p:nvPr/>
        </p:nvSpPr>
        <p:spPr>
          <a:xfrm>
            <a:off x="288000" y="11592000"/>
            <a:ext cx="6176520" cy="632160"/>
          </a:xfrm>
          <a:prstGeom prst="roundRect">
            <a:avLst>
              <a:gd name="adj" fmla="val 16667"/>
            </a:avLst>
          </a:prstGeom>
          <a:solidFill>
            <a:schemeClr val="bg2"/>
          </a:solidFill>
          <a:ln>
            <a:no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nSpc>
                <a:spcPct val="80000"/>
              </a:lnSpc>
              <a:tabLst>
                <a:tab algn="l" pos="0"/>
              </a:tabLst>
            </a:pPr>
            <a:r>
              <a:rPr b="1" lang="es-ES_tradnl" sz="1800" spc="-1" strike="noStrike">
                <a:solidFill>
                  <a:srgbClr val="4196c9"/>
                </a:solidFill>
                <a:latin typeface="Aptos"/>
                <a:ea typeface="DejaVu Sans"/>
              </a:rPr>
              <a:t>Figura 1. </a:t>
            </a:r>
            <a:r>
              <a:rPr b="0" lang="es-ES_tradnl" sz="1800" spc="-1" strike="noStrike">
                <a:solidFill>
                  <a:srgbClr val="000000"/>
                </a:solidFill>
                <a:latin typeface="Aptos"/>
                <a:ea typeface="DejaVu Sans"/>
              </a:rPr>
              <a:t>Estructura de LEPR wt y variante.</a:t>
            </a:r>
            <a:endParaRPr b="0" lang="es-ES" sz="1800" spc="-1" strike="noStrike">
              <a:latin typeface="Arial"/>
            </a:endParaRPr>
          </a:p>
        </p:txBody>
      </p:sp>
      <p:sp>
        <p:nvSpPr>
          <p:cNvPr id="60" name="CustomShape 21"/>
          <p:cNvSpPr/>
          <p:nvPr/>
        </p:nvSpPr>
        <p:spPr>
          <a:xfrm>
            <a:off x="7065000" y="11592000"/>
            <a:ext cx="7406640" cy="632160"/>
          </a:xfrm>
          <a:prstGeom prst="roundRect">
            <a:avLst>
              <a:gd name="adj" fmla="val 16667"/>
            </a:avLst>
          </a:prstGeom>
          <a:solidFill>
            <a:schemeClr val="bg2"/>
          </a:solidFill>
          <a:ln>
            <a:no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nSpc>
                <a:spcPct val="80000"/>
              </a:lnSpc>
              <a:tabLst>
                <a:tab algn="l" pos="0"/>
              </a:tabLst>
            </a:pPr>
            <a:r>
              <a:rPr b="1" lang="es-ES_tradnl" sz="1800" spc="-1" strike="noStrike">
                <a:solidFill>
                  <a:srgbClr val="4196c9"/>
                </a:solidFill>
                <a:latin typeface="Aptos"/>
                <a:ea typeface="DejaVu Sans"/>
              </a:rPr>
              <a:t>Figura 2. </a:t>
            </a:r>
            <a:r>
              <a:rPr b="0" lang="es-ES_tradnl" sz="1800" spc="-1" strike="noStrike">
                <a:solidFill>
                  <a:srgbClr val="000000"/>
                </a:solidFill>
                <a:latin typeface="Aptos"/>
                <a:ea typeface="DejaVu Sans"/>
              </a:rPr>
              <a:t>Alineamiento múltiple de MCR4 por Custal Omega.</a:t>
            </a:r>
            <a:endParaRPr b="0" lang="es-ES" sz="1800" spc="-1" strike="noStrike">
              <a:latin typeface="Arial"/>
            </a:endParaRPr>
          </a:p>
        </p:txBody>
      </p:sp>
      <p:graphicFrame>
        <p:nvGraphicFramePr>
          <p:cNvPr id="61" name="Table 22"/>
          <p:cNvGraphicFramePr/>
          <p:nvPr/>
        </p:nvGraphicFramePr>
        <p:xfrm>
          <a:off x="207720" y="8313480"/>
          <a:ext cx="14436720" cy="2681280"/>
        </p:xfrm>
        <a:graphic>
          <a:graphicData uri="http://schemas.openxmlformats.org/drawingml/2006/table">
            <a:tbl>
              <a:tblPr/>
              <a:tblGrid>
                <a:gridCol w="528120"/>
                <a:gridCol w="992160"/>
                <a:gridCol w="1226520"/>
                <a:gridCol w="434880"/>
                <a:gridCol w="880920"/>
                <a:gridCol w="1025640"/>
                <a:gridCol w="1460520"/>
                <a:gridCol w="1482840"/>
                <a:gridCol w="958680"/>
                <a:gridCol w="825120"/>
                <a:gridCol w="947520"/>
                <a:gridCol w="780480"/>
                <a:gridCol w="955080"/>
                <a:gridCol w="1938240"/>
              </a:tblGrid>
              <a:tr h="521640">
                <a:tc>
                  <a:txBody>
                    <a:bodyPr lIns="7560" rIns="7560">
                      <a:noAutofit/>
                    </a:bodyPr>
                    <a:p>
                      <a:pPr>
                        <a:lnSpc>
                          <a:spcPct val="100000"/>
                        </a:lnSpc>
                      </a:pPr>
                      <a:r>
                        <a:rPr b="1" lang="es-ES" sz="1200" spc="-1" strike="noStrike" u="sng">
                          <a:solidFill>
                            <a:srgbClr val="000000"/>
                          </a:solidFill>
                          <a:uFillTx/>
                          <a:latin typeface="Aptos"/>
                          <a:ea typeface="DejaVu Sans"/>
                        </a:rPr>
                        <a:t>Gen</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1" lang="es-ES" sz="1200" spc="-1" strike="noStrike" u="sng">
                          <a:solidFill>
                            <a:srgbClr val="000000"/>
                          </a:solidFill>
                          <a:uFillTx/>
                          <a:latin typeface="Aptos"/>
                          <a:ea typeface="DejaVu Sans"/>
                        </a:rPr>
                        <a:t>Coordenada</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1" lang="es-ES" sz="1200" spc="-1" strike="noStrike" u="sng">
                          <a:solidFill>
                            <a:srgbClr val="000000"/>
                          </a:solidFill>
                          <a:uFillTx/>
                          <a:latin typeface="Aptos"/>
                          <a:ea typeface="DejaVu Sans"/>
                        </a:rPr>
                        <a:t>Nomenclatura.c</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1" lang="es-ES" sz="1200" spc="-1" strike="noStrike" u="sng">
                          <a:solidFill>
                            <a:srgbClr val="000000"/>
                          </a:solidFill>
                          <a:uFillTx/>
                          <a:latin typeface="Aptos"/>
                          <a:ea typeface="DejaVu Sans"/>
                        </a:rPr>
                        <a:t>Tipo</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1" lang="es-ES" sz="1200" spc="-1" strike="noStrike" u="sng">
                          <a:solidFill>
                            <a:srgbClr val="000000"/>
                          </a:solidFill>
                          <a:uFillTx/>
                          <a:latin typeface="Aptos"/>
                          <a:ea typeface="DejaVu Sans"/>
                        </a:rPr>
                        <a:t>Genotipo</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1" lang="es-ES" sz="1200" spc="-1" strike="noStrike" u="sng">
                          <a:solidFill>
                            <a:srgbClr val="000000"/>
                          </a:solidFill>
                          <a:uFillTx/>
                          <a:latin typeface="Aptos"/>
                          <a:ea typeface="DejaVu Sans"/>
                        </a:rPr>
                        <a:t>Frecuencia</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1" lang="es-ES" sz="1200" spc="-1" strike="noStrike" u="sng">
                          <a:solidFill>
                            <a:srgbClr val="000000"/>
                          </a:solidFill>
                          <a:uFillTx/>
                          <a:latin typeface="Aptos"/>
                          <a:ea typeface="DejaVu Sans"/>
                        </a:rPr>
                        <a:t>Proteína</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1" lang="es-ES" sz="1200" spc="-1" strike="noStrike" u="sng">
                          <a:solidFill>
                            <a:srgbClr val="000000"/>
                          </a:solidFill>
                          <a:uFillTx/>
                          <a:latin typeface="Aptos"/>
                          <a:ea typeface="DejaVu Sans"/>
                        </a:rPr>
                        <a:t>Nomenclatura.p</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1" lang="es-ES" sz="1200" spc="-1" strike="noStrike" u="sng">
                          <a:solidFill>
                            <a:srgbClr val="000000"/>
                          </a:solidFill>
                          <a:uFillTx/>
                          <a:latin typeface="Aptos"/>
                          <a:ea typeface="DejaVu Sans"/>
                        </a:rPr>
                        <a:t>Efecto</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1" lang="es-ES" sz="1200" spc="-1" strike="noStrike" u="sng">
                          <a:solidFill>
                            <a:srgbClr val="000000"/>
                          </a:solidFill>
                          <a:uFillTx/>
                          <a:latin typeface="Aptos"/>
                          <a:ea typeface="DejaVu Sans"/>
                        </a:rPr>
                        <a:t>SIFT</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1" lang="es-ES" sz="1200" spc="-1" strike="noStrike" u="sng">
                          <a:solidFill>
                            <a:srgbClr val="000000"/>
                          </a:solidFill>
                          <a:uFillTx/>
                          <a:latin typeface="Aptos"/>
                          <a:ea typeface="DejaVu Sans"/>
                        </a:rPr>
                        <a:t>PolyPhen</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1" lang="es-ES" sz="1200" spc="-1" strike="noStrike" u="sng">
                          <a:solidFill>
                            <a:srgbClr val="000000"/>
                          </a:solidFill>
                          <a:uFillTx/>
                          <a:latin typeface="Aptos"/>
                          <a:ea typeface="DejaVu Sans"/>
                        </a:rPr>
                        <a:t>MIM</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1" lang="es-ES" sz="1200" spc="-1" strike="noStrike" u="sng">
                          <a:solidFill>
                            <a:srgbClr val="000000"/>
                          </a:solidFill>
                          <a:uFillTx/>
                          <a:latin typeface="Aptos"/>
                          <a:ea typeface="DejaVu Sans"/>
                        </a:rPr>
                        <a:t>Herencia</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1" lang="es-ES" sz="1200" spc="-1" strike="noStrike" u="sng">
                          <a:solidFill>
                            <a:srgbClr val="000000"/>
                          </a:solidFill>
                          <a:uFillTx/>
                          <a:latin typeface="Aptos"/>
                          <a:ea typeface="DejaVu Sans"/>
                        </a:rPr>
                        <a:t>Pathway</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r>
              <a:tr h="774360">
                <a:tc>
                  <a:txBody>
                    <a:bodyPr lIns="7560" rIns="7560">
                      <a:noAutofit/>
                    </a:bodyPr>
                    <a:p>
                      <a:pPr>
                        <a:lnSpc>
                          <a:spcPct val="100000"/>
                        </a:lnSpc>
                      </a:pPr>
                      <a:r>
                        <a:rPr b="0" lang="es-ES" sz="1200" spc="-1" strike="noStrike">
                          <a:solidFill>
                            <a:srgbClr val="000000"/>
                          </a:solidFill>
                          <a:latin typeface="Aptos"/>
                          <a:ea typeface="DejaVu Sans"/>
                        </a:rPr>
                        <a:t>LEPR</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1:65609984</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ENST00000349533.11:c.1790del</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Indel</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heterocigoto</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6.19 x 10-7 (mutación)</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ENST00000349533.11</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ENSP00000330393.7:p.Ser597IlefsTer20</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Frameshift</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#614963</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Autosómico recesiva</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Vías de señalización de adipocitocinas y hormonales de AMPK, JAK y STAT</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r>
              <a:tr h="603720">
                <a:tc>
                  <a:txBody>
                    <a:bodyPr lIns="7560" rIns="7560">
                      <a:noAutofit/>
                    </a:bodyPr>
                    <a:p>
                      <a:pPr>
                        <a:lnSpc>
                          <a:spcPct val="100000"/>
                        </a:lnSpc>
                      </a:pPr>
                      <a:r>
                        <a:rPr b="0" lang="es-ES" sz="1200" spc="-1" strike="noStrike">
                          <a:solidFill>
                            <a:srgbClr val="000000"/>
                          </a:solidFill>
                          <a:latin typeface="Aptos"/>
                          <a:ea typeface="DejaVu Sans"/>
                        </a:rPr>
                        <a:t>MC4R</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18:60371535</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ENST00000299766.5:c.815C&gt;A</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SNP</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heterocigoto</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6.195x10-7</a:t>
                      </a:r>
                      <a:endParaRPr b="0" lang="es-ES" sz="1200" spc="-1" strike="noStrike">
                        <a:latin typeface="Arial"/>
                      </a:endParaRPr>
                    </a:p>
                    <a:p>
                      <a:pPr algn="ctr">
                        <a:lnSpc>
                          <a:spcPct val="100000"/>
                        </a:lnSpc>
                      </a:pPr>
                      <a:r>
                        <a:rPr b="0" lang="es-ES" sz="1200" spc="-1" strike="noStrike">
                          <a:solidFill>
                            <a:srgbClr val="000000"/>
                          </a:solidFill>
                          <a:latin typeface="Aptos"/>
                          <a:ea typeface="DejaVu Sans"/>
                        </a:rPr>
                        <a:t>(mutación)</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ENST00000299766.5</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ENSP00000299766.3:p.Pro272His</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Missense</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deleterious (0)</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probably damaging (1)</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#618406</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tabLst>
                          <a:tab algn="l" pos="0"/>
                        </a:tabLst>
                      </a:pPr>
                      <a:r>
                        <a:rPr b="0" lang="es-ES" sz="1200" spc="-1" strike="noStrike">
                          <a:solidFill>
                            <a:srgbClr val="000000"/>
                          </a:solidFill>
                          <a:latin typeface="Aptos"/>
                          <a:ea typeface="DejaVu Sans"/>
                        </a:rPr>
                        <a:t>Autosómico recesiva</a:t>
                      </a:r>
                      <a:endParaRPr b="0" lang="es-ES" sz="1200" spc="-1" strike="noStrike">
                        <a:latin typeface="Arial"/>
                      </a:endParaRPr>
                    </a:p>
                    <a:p>
                      <a:pPr algn="ctr">
                        <a:lnSpc>
                          <a:spcPct val="100000"/>
                        </a:lnSpc>
                        <a:tabLst>
                          <a:tab algn="l" pos="0"/>
                        </a:tabLst>
                      </a:pP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Vía de señalización de la saciedad </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r>
              <a:tr h="774360">
                <a:tc>
                  <a:txBody>
                    <a:bodyPr lIns="7560" rIns="7560">
                      <a:noAutofit/>
                    </a:bodyPr>
                    <a:p>
                      <a:pPr>
                        <a:lnSpc>
                          <a:spcPct val="100000"/>
                        </a:lnSpc>
                      </a:pPr>
                      <a:r>
                        <a:rPr b="0" lang="es-ES" sz="1200" spc="-1" strike="noStrike">
                          <a:solidFill>
                            <a:srgbClr val="000000"/>
                          </a:solidFill>
                          <a:latin typeface="Aptos"/>
                          <a:ea typeface="DejaVu Sans"/>
                        </a:rPr>
                        <a:t>MED12</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X:71121046</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ENST00000374080.8:c.629C&gt;T</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SNP</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hemicigoto</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4.553x10-6 (mutación)</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ENST00000374080.8</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ENSP00000363193.3:p.Ala210Val</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Missense</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deleterious low confidence (0.02)</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benign (0.19)</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Vía de señalización de la hormona tiroidea</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r>
              <a:tr h="433080">
                <a:tc>
                  <a:txBody>
                    <a:bodyPr lIns="7560" rIns="7560">
                      <a:noAutofit/>
                    </a:bodyPr>
                    <a:p>
                      <a:pPr>
                        <a:lnSpc>
                          <a:spcPct val="100000"/>
                        </a:lnSpc>
                      </a:pPr>
                      <a:r>
                        <a:rPr b="0" lang="es-ES" sz="1200" spc="-1" strike="noStrike">
                          <a:solidFill>
                            <a:srgbClr val="000000"/>
                          </a:solidFill>
                          <a:latin typeface="Aptos"/>
                          <a:ea typeface="DejaVu Sans"/>
                        </a:rPr>
                        <a:t>TP53</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17:7676154</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ENST00000269305.9:c.215C&gt;T</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SNP</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heterocigoto</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6.19 x 10-7 (mutación)</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ENST00000269305.9</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ENSP00000269305.4:p.Pro72Leu</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Missense</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tolerated (0.13)</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benign (0.003)</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#151623</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Autosómica dominante</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a:noAutofit/>
                    </a:bodyPr>
                    <a:p>
                      <a:pPr algn="ctr">
                        <a:lnSpc>
                          <a:spcPct val="100000"/>
                        </a:lnSpc>
                      </a:pPr>
                      <a:r>
                        <a:rPr b="0" lang="es-ES" sz="1200" spc="-1" strike="noStrike">
                          <a:solidFill>
                            <a:srgbClr val="000000"/>
                          </a:solidFill>
                          <a:latin typeface="Aptos"/>
                          <a:ea typeface="DejaVu Sans"/>
                        </a:rPr>
                        <a:t>Ruta de lípidos y aterosclerosis</a:t>
                      </a:r>
                      <a:endParaRPr b="0" lang="es-ES" sz="12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r>
            </a:tbl>
          </a:graphicData>
        </a:graphic>
      </p:graphicFrame>
      <p:pic>
        <p:nvPicPr>
          <p:cNvPr id="62" name="Imagen 64" descr=""/>
          <p:cNvPicPr/>
          <p:nvPr/>
        </p:nvPicPr>
        <p:blipFill>
          <a:blip r:embed="rId13"/>
          <a:stretch/>
        </p:blipFill>
        <p:spPr>
          <a:xfrm>
            <a:off x="6952320" y="12456000"/>
            <a:ext cx="7415640" cy="1434240"/>
          </a:xfrm>
          <a:prstGeom prst="rect">
            <a:avLst/>
          </a:prstGeom>
          <a:ln>
            <a:noFill/>
          </a:ln>
        </p:spPr>
      </p:pic>
      <p:sp>
        <p:nvSpPr>
          <p:cNvPr id="63" name="CustomShape 23"/>
          <p:cNvSpPr/>
          <p:nvPr/>
        </p:nvSpPr>
        <p:spPr>
          <a:xfrm>
            <a:off x="11448000" y="12312000"/>
            <a:ext cx="143640" cy="287640"/>
          </a:xfrm>
          <a:custGeom>
            <a:avLst/>
            <a:gdLst/>
            <a:ahLst/>
            <a:rect l="l" t="t" r="r" b="b"/>
            <a:pathLst>
              <a:path w="402" h="802">
                <a:moveTo>
                  <a:pt x="193" y="0"/>
                </a:moveTo>
                <a:lnTo>
                  <a:pt x="193" y="0"/>
                </a:lnTo>
                <a:lnTo>
                  <a:pt x="0" y="0"/>
                </a:lnTo>
                <a:lnTo>
                  <a:pt x="200" y="801"/>
                </a:lnTo>
                <a:lnTo>
                  <a:pt x="401" y="0"/>
                </a:lnTo>
                <a:lnTo>
                  <a:pt x="207" y="0"/>
                </a:lnTo>
                <a:lnTo>
                  <a:pt x="207" y="0"/>
                </a:lnTo>
                <a:lnTo>
                  <a:pt x="193" y="0"/>
                </a:lnTo>
              </a:path>
            </a:pathLst>
          </a:custGeom>
          <a:solidFill>
            <a:srgbClr val="729fcf"/>
          </a:solidFill>
          <a:ln>
            <a:solidFill>
              <a:srgbClr val="3465a4"/>
            </a:solidFill>
          </a:ln>
        </p:spPr>
        <p:style>
          <a:lnRef idx="0"/>
          <a:fillRef idx="0"/>
          <a:effectRef idx="0"/>
          <a:fontRef idx="minor"/>
        </p:style>
      </p:sp>
      <p:pic>
        <p:nvPicPr>
          <p:cNvPr id="64" name="Imagen 66" descr=""/>
          <p:cNvPicPr/>
          <p:nvPr/>
        </p:nvPicPr>
        <p:blipFill>
          <a:blip r:embed="rId14"/>
          <a:srcRect l="0" t="54155" r="0" b="0"/>
          <a:stretch/>
        </p:blipFill>
        <p:spPr>
          <a:xfrm>
            <a:off x="8064000" y="15120000"/>
            <a:ext cx="5399640" cy="2015640"/>
          </a:xfrm>
          <a:prstGeom prst="rect">
            <a:avLst/>
          </a:prstGeom>
          <a:ln>
            <a:noFill/>
          </a:ln>
        </p:spPr>
      </p:pic>
      <p:sp>
        <p:nvSpPr>
          <p:cNvPr id="65" name="CustomShape 24"/>
          <p:cNvSpPr/>
          <p:nvPr/>
        </p:nvSpPr>
        <p:spPr>
          <a:xfrm>
            <a:off x="7056000" y="14256000"/>
            <a:ext cx="7291080" cy="632160"/>
          </a:xfrm>
          <a:prstGeom prst="roundRect">
            <a:avLst>
              <a:gd name="adj" fmla="val 16667"/>
            </a:avLst>
          </a:prstGeom>
          <a:solidFill>
            <a:schemeClr val="bg2"/>
          </a:solidFill>
          <a:ln>
            <a:no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nSpc>
                <a:spcPct val="80000"/>
              </a:lnSpc>
              <a:tabLst>
                <a:tab algn="l" pos="0"/>
              </a:tabLst>
            </a:pPr>
            <a:r>
              <a:rPr b="1" lang="es-ES_tradnl" sz="1800" spc="-1" strike="noStrike">
                <a:solidFill>
                  <a:srgbClr val="4196c9"/>
                </a:solidFill>
                <a:latin typeface="Aptos"/>
                <a:ea typeface="DejaVu Sans"/>
              </a:rPr>
              <a:t>Figura 3. </a:t>
            </a:r>
            <a:r>
              <a:rPr b="0" lang="es-ES_tradnl" sz="1800" spc="-1" strike="noStrike">
                <a:solidFill>
                  <a:srgbClr val="000000"/>
                </a:solidFill>
                <a:latin typeface="Aptos"/>
                <a:ea typeface="DejaVu Sans"/>
              </a:rPr>
              <a:t>Rutas metabolicas implicadas en MC4R en KEGG.</a:t>
            </a:r>
            <a:endParaRPr b="0" lang="es-ES" sz="1800" spc="-1" strike="noStrike">
              <a:latin typeface="Arial"/>
            </a:endParaRPr>
          </a:p>
        </p:txBody>
      </p:sp>
      <p:sp>
        <p:nvSpPr>
          <p:cNvPr id="66" name="CustomShape 25"/>
          <p:cNvSpPr/>
          <p:nvPr/>
        </p:nvSpPr>
        <p:spPr>
          <a:xfrm>
            <a:off x="8064000" y="17138520"/>
            <a:ext cx="5759640" cy="431640"/>
          </a:xfrm>
          <a:prstGeom prst="rect">
            <a:avLst/>
          </a:prstGeom>
          <a:noFill/>
          <a:ln>
            <a:noFill/>
          </a:ln>
        </p:spPr>
        <p:style>
          <a:lnRef idx="0"/>
          <a:fillRef idx="0"/>
          <a:effectRef idx="0"/>
          <a:fontRef idx="minor"/>
        </p:style>
        <p:txBody>
          <a:bodyPr lIns="90000" rIns="90000" tIns="45000" bIns="45000">
            <a:noAutofit/>
          </a:bodyPr>
          <a:p>
            <a:pPr>
              <a:lnSpc>
                <a:spcPct val="100000"/>
              </a:lnSpc>
            </a:pPr>
            <a:r>
              <a:rPr b="0" lang="es-ES" sz="1500" spc="-1" strike="noStrike">
                <a:solidFill>
                  <a:srgbClr val="000000"/>
                </a:solidFill>
                <a:latin typeface="Arial"/>
                <a:ea typeface="DejaVu Sans"/>
              </a:rPr>
              <a:t>MC4R. Via de la señalización hormonal del AMP cíclico </a:t>
            </a:r>
            <a:endParaRPr b="0" lang="es-ES" sz="1500" spc="-1" strike="noStrike">
              <a:latin typeface="Arial"/>
            </a:endParaRPr>
          </a:p>
        </p:txBody>
      </p:sp>
      <p:pic>
        <p:nvPicPr>
          <p:cNvPr id="67" name="Imagen 1" descr=""/>
          <p:cNvPicPr/>
          <p:nvPr/>
        </p:nvPicPr>
        <p:blipFill>
          <a:blip r:embed="rId15"/>
          <a:srcRect l="16030" t="12976" r="35241" b="5276"/>
          <a:stretch/>
        </p:blipFill>
        <p:spPr>
          <a:xfrm>
            <a:off x="437040" y="12239640"/>
            <a:ext cx="5526360" cy="5215320"/>
          </a:xfrm>
          <a:prstGeom prst="rect">
            <a:avLst/>
          </a:prstGeom>
          <a:ln>
            <a:solidFill>
              <a:schemeClr val="tx1"/>
            </a:solid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Metadata/LabelInfo.xml><?xml version="1.0" encoding="utf-8"?>
<clbl:labelList xmlns:clbl="http://schemas.microsoft.com/office/2020/mipLabelMetadata">
  <clbl:label id="{0361ecad-3f61-4749-aa5c-87fde47ef9ad}" enabled="1" method="Privileged" siteId="{22c8b4a4-d926-43b2-bcc7-87b998590b47}" removed="0"/>
</clbl:labelList>
</file>

<file path=docProps/app.xml><?xml version="1.0" encoding="utf-8"?>
<Properties xmlns="http://schemas.openxmlformats.org/officeDocument/2006/extended-properties" xmlns:vt="http://schemas.openxmlformats.org/officeDocument/2006/docPropsVTypes">
  <Template>Office Theme</Template>
  <TotalTime>256</TotalTime>
  <Application>LibreOffice/6.4.5.2$Windows_X86_64 LibreOffice_project/a726b36747cf2001e06b58ad5db1aa3a9a1872d6</Application>
  <Words>672</Words>
  <Paragraphs>90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2025-04-21T10:03:24Z</dcterms:created>
  <dc:creator>Victor  de la O Pascual</dc:creator>
  <dc:description/>
  <dc:language>es-ES</dc:language>
  <cp:lastModifiedBy/>
  <dcterms:modified xsi:type="dcterms:W3CDTF">2026-02-01T16:12:09Z</dcterms:modified>
  <cp:revision>40</cp:revision>
  <dc:subject/>
  <dc:title>Presentación de PowerPoint</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ntentTypeId">
    <vt:lpwstr>0x010100DF3D7C797EA12745A270EF30E38719B9</vt:lpwstr>
  </property>
  <property fmtid="{D5CDD505-2E9C-101B-9397-08002B2CF9AE}" pid="4" name="HiddenSlides">
    <vt:i4>0</vt:i4>
  </property>
  <property fmtid="{D5CDD505-2E9C-101B-9397-08002B2CF9AE}" pid="5" name="HyperlinksChanged">
    <vt:bool>0</vt:bool>
  </property>
  <property fmtid="{D5CDD505-2E9C-101B-9397-08002B2CF9AE}" pid="6" name="LinksUpToDate">
    <vt:bool>0</vt:bool>
  </property>
  <property fmtid="{D5CDD505-2E9C-101B-9397-08002B2CF9AE}" pid="7" name="MMClips">
    <vt:i4>0</vt:i4>
  </property>
  <property fmtid="{D5CDD505-2E9C-101B-9397-08002B2CF9AE}" pid="8" name="MediaServiceImageTags">
    <vt:lpwstr/>
  </property>
  <property fmtid="{D5CDD505-2E9C-101B-9397-08002B2CF9AE}" pid="9" name="Notes">
    <vt:i4>0</vt:i4>
  </property>
  <property fmtid="{D5CDD505-2E9C-101B-9397-08002B2CF9AE}" pid="10" name="PresentationFormat">
    <vt:lpwstr>Personalizado</vt:lpwstr>
  </property>
  <property fmtid="{D5CDD505-2E9C-101B-9397-08002B2CF9AE}" pid="11" name="ScaleCrop">
    <vt:bool>0</vt:bool>
  </property>
  <property fmtid="{D5CDD505-2E9C-101B-9397-08002B2CF9AE}" pid="12" name="ShareDoc">
    <vt:bool>0</vt:bool>
  </property>
  <property fmtid="{D5CDD505-2E9C-101B-9397-08002B2CF9AE}" pid="13" name="Slides">
    <vt:i4>1</vt:i4>
  </property>
</Properties>
</file>