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5119350" cy="21383625"/>
  <p:notesSz cx="7559675" cy="106918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dro García" initials="PG" lastIdx="4" clrIdx="0">
    <p:extLst>
      <p:ext uri="{19B8F6BF-5375-455C-9EA6-DF929625EA0E}">
        <p15:presenceInfo xmlns:p15="http://schemas.microsoft.com/office/powerpoint/2012/main" userId="S::pgarcia@stoller.es::cf999d9a-c9a7-46a8-bf6e-7f4789723d8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014813-A212-B44D-BCA9-51EC712DEE5A}" v="1" dt="2026-02-01T19:09:10.4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25"/>
    <p:restoredTop sz="94605"/>
  </p:normalViewPr>
  <p:slideViewPr>
    <p:cSldViewPr snapToGrid="0">
      <p:cViewPr>
        <p:scale>
          <a:sx n="90" d="100"/>
          <a:sy n="90" d="100"/>
        </p:scale>
        <p:origin x="144" y="-5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commentAuthors" Target="commentAuthors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a Norniella Jamart" userId="92dcd70e170e53a7" providerId="LiveId" clId="{963EB8FB-3F3D-597D-A817-5FBE33DBCB47}"/>
    <pc:docChg chg="modSld">
      <pc:chgData name="Paula Norniella Jamart" userId="92dcd70e170e53a7" providerId="LiveId" clId="{963EB8FB-3F3D-597D-A817-5FBE33DBCB47}" dt="2026-02-01T19:09:40.260" v="6" actId="1076"/>
      <pc:docMkLst>
        <pc:docMk/>
      </pc:docMkLst>
      <pc:sldChg chg="addSp modSp mod">
        <pc:chgData name="Paula Norniella Jamart" userId="92dcd70e170e53a7" providerId="LiveId" clId="{963EB8FB-3F3D-597D-A817-5FBE33DBCB47}" dt="2026-02-01T19:09:40.260" v="6" actId="1076"/>
        <pc:sldMkLst>
          <pc:docMk/>
          <pc:sldMk cId="0" sldId="256"/>
        </pc:sldMkLst>
        <pc:picChg chg="add mod">
          <ac:chgData name="Paula Norniella Jamart" userId="92dcd70e170e53a7" providerId="LiveId" clId="{963EB8FB-3F3D-597D-A817-5FBE33DBCB47}" dt="2026-02-01T19:09:40.260" v="6" actId="1076"/>
          <ac:picMkLst>
            <pc:docMk/>
            <pc:sldMk cId="0" sldId="256"/>
            <ac:picMk id="3" creationId="{77ED0077-7CDA-5232-C64C-3CA3DBB9B7DD}"/>
          </ac:picMkLst>
        </pc:pic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01T22:06:21.326" idx="1">
    <p:pos x="7965" y="6084"/>
    <p:text>Esta habría que ponerla dominante, o las dos opciones:</p:text>
    <p:extLst>
      <p:ext uri="{C676402C-5697-4E1C-873F-D02D1690AC5C}">
        <p15:threadingInfo xmlns:p15="http://schemas.microsoft.com/office/powerpoint/2012/main" timeZoneBias="-60"/>
      </p:ext>
    </p:extLst>
  </p:cm>
  <p:cm authorId="1" dt="2026-02-01T22:18:23.154" idx="2">
    <p:pos x="7965" y="6220"/>
    <p:text>Según OMIM: ▼ Inheritance
The transmission pattern of early-onset severe obesity in the families reported by Yeo et al. (1998) and Vaisse et al. (1998) was consistent with autosomal dominant inheritance.</p:text>
    <p:extLst>
      <p:ext uri="{C676402C-5697-4E1C-873F-D02D1690AC5C}">
        <p15:threadingInfo xmlns:p15="http://schemas.microsoft.com/office/powerpoint/2012/main" timeZoneBias="-60">
          <p15:parentCm authorId="1" idx="1"/>
        </p15:threadingInfo>
      </p:ext>
    </p:extLst>
  </p:cm>
  <p:cm authorId="1" dt="2026-02-01T22:19:55.525" idx="3">
    <p:pos x="7965" y="6356"/>
    <p:text>Drabkin et al. (2018) tambien lo muestra.</p:text>
    <p:extLst>
      <p:ext uri="{C676402C-5697-4E1C-873F-D02D1690AC5C}">
        <p15:threadingInfo xmlns:p15="http://schemas.microsoft.com/office/powerpoint/2012/main" timeZoneBias="-60">
          <p15:parentCm authorId="1" idx="1"/>
        </p15:threadingInfo>
      </p:ext>
    </p:extLst>
  </p:cm>
  <p:cm authorId="1" dt="2026-02-01T22:21:28.072" idx="4">
    <p:pos x="7965" y="6492"/>
    <p:text>Citas: Drabkin, M., Birk, O. S., Birk, R. Heterozygous versus homozygous phenotype caused by the same MC4R mutation: novel mutation affecting a large consanguineous kindred. BMC Med. Genet. 19: 135, 2018. Note: Electronic Article. [PubMed: 30068297, related citations] [Full Text]
Vaisse, C., Clement, K., Guy-Grand, B., Froguel, P. A frameshift mutation in human MC4R is associated with a dominant form of obesity. Nature Genet. 20: 113-114, 1998. [PubMed: 9771699, related citations] [Full Text]
Yeo, G. S. H., Farooqi, I. S., Aminian, S., Halsall, D. J., Stanhope, R. G., O'Rahilly, S. A frameshift mutation in MC4R associated with dominantly inherited human obesity. Nature Genet. 20: 111-112, 1998. [PubMed: 9771698, related citations] [Full Text]</p:text>
    <p:extLst>
      <p:ext uri="{C676402C-5697-4E1C-873F-D02D1690AC5C}">
        <p15:threadingInfo xmlns:p15="http://schemas.microsoft.com/office/powerpoint/2012/main" timeZoneBias="-60">
          <p15:parentCm authorId="1" idx="1"/>
        </p15:threadingInfo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C9869D-3451-6C43-8CCE-BBD265B9C833}" type="datetimeFigureOut">
              <a:rPr lang="es-ES" smtClean="0"/>
              <a:t>1/2/26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503488" y="1336675"/>
            <a:ext cx="25527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462F95-8DF0-804F-B599-A38CA395DD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4107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62F95-8DF0-804F-B599-A38CA395DDBC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2594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134000" y="3499560"/>
            <a:ext cx="12850560" cy="744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755640" y="5003640"/>
            <a:ext cx="13606920" cy="1240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134000" y="3499560"/>
            <a:ext cx="12850560" cy="744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5640" y="5003640"/>
            <a:ext cx="13606920" cy="12402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134000" y="3499560"/>
            <a:ext cx="12850560" cy="744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5640" y="5003640"/>
            <a:ext cx="6639840" cy="12402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7727760" y="5003640"/>
            <a:ext cx="6639840" cy="12402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34000" y="3499560"/>
            <a:ext cx="12850560" cy="744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1134000" y="3499560"/>
            <a:ext cx="12850560" cy="3450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134000" y="3499560"/>
            <a:ext cx="12850560" cy="744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55640" y="5003640"/>
            <a:ext cx="6639840" cy="5915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7727760" y="5003640"/>
            <a:ext cx="6639840" cy="12402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755640" y="11481480"/>
            <a:ext cx="6639840" cy="5915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134000" y="3499560"/>
            <a:ext cx="12850560" cy="744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755640" y="5003640"/>
            <a:ext cx="6639840" cy="12402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7727760" y="5003640"/>
            <a:ext cx="6639840" cy="5915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7727760" y="11481480"/>
            <a:ext cx="6639840" cy="5915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134000" y="3499560"/>
            <a:ext cx="12850560" cy="744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55640" y="5003640"/>
            <a:ext cx="6639840" cy="5915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7727760" y="5003640"/>
            <a:ext cx="6639840" cy="5915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755640" y="11481480"/>
            <a:ext cx="13606920" cy="5915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134000" y="3499560"/>
            <a:ext cx="12850560" cy="744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55640" y="5003640"/>
            <a:ext cx="13606920" cy="5915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755640" y="11481480"/>
            <a:ext cx="13606920" cy="5915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34000" y="3499560"/>
            <a:ext cx="12850560" cy="744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55640" y="5003640"/>
            <a:ext cx="6639840" cy="5915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7727760" y="5003640"/>
            <a:ext cx="6639840" cy="5915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755640" y="11481480"/>
            <a:ext cx="6639840" cy="5915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7727760" y="11481480"/>
            <a:ext cx="6639840" cy="5915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134000" y="3499560"/>
            <a:ext cx="12850560" cy="744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755640" y="5003640"/>
            <a:ext cx="4381200" cy="5915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5356440" y="5003640"/>
            <a:ext cx="4381200" cy="5915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9956880" y="5003640"/>
            <a:ext cx="4381200" cy="5915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755640" y="11481480"/>
            <a:ext cx="4381200" cy="5915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5356440" y="11481480"/>
            <a:ext cx="4381200" cy="5915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9956880" y="11481480"/>
            <a:ext cx="4381200" cy="5915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134000" y="3499560"/>
            <a:ext cx="12850560" cy="744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s-ES" sz="4400" b="0" strike="noStrike" spc="-1">
                <a:solidFill>
                  <a:srgbClr val="000000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5640" y="5003640"/>
            <a:ext cx="13606920" cy="12402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bi.ac.uk/jdispatcher/msa/clustalo" TargetMode="Externa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hyperlink" Target="https://www.ensembl.org/Tools/VEP" TargetMode="External"/><Relationship Id="rId7" Type="http://schemas.openxmlformats.org/officeDocument/2006/relationships/hyperlink" Target="https://www.omim.org/" TargetMode="External"/><Relationship Id="rId12" Type="http://schemas.openxmlformats.org/officeDocument/2006/relationships/hyperlink" Target="https://www.kegg.jp/kegg/kegg2.html" TargetMode="External"/><Relationship Id="rId1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genetics.bwh.harvard.edu/pph2/" TargetMode="External"/><Relationship Id="rId11" Type="http://schemas.openxmlformats.org/officeDocument/2006/relationships/hyperlink" Target="https://www.ebi.ac.uk/interpro/" TargetMode="External"/><Relationship Id="rId5" Type="http://schemas.openxmlformats.org/officeDocument/2006/relationships/hyperlink" Target="https://sift.bii.a-star.edu.sg/" TargetMode="External"/><Relationship Id="rId15" Type="http://schemas.openxmlformats.org/officeDocument/2006/relationships/image" Target="../media/image3.png"/><Relationship Id="rId10" Type="http://schemas.openxmlformats.org/officeDocument/2006/relationships/hyperlink" Target="https://www.uniprot.org/" TargetMode="External"/><Relationship Id="rId19" Type="http://schemas.openxmlformats.org/officeDocument/2006/relationships/comments" Target="../comments/comment1.xml"/><Relationship Id="rId4" Type="http://schemas.openxmlformats.org/officeDocument/2006/relationships/hyperlink" Target="https://gnomad.broadinstitute.org/" TargetMode="External"/><Relationship Id="rId9" Type="http://schemas.openxmlformats.org/officeDocument/2006/relationships/hyperlink" Target="https://mutalyzer.nl/" TargetMode="External"/><Relationship Id="rId1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59C2E3">
                <a:alpha val="25098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1"/>
          <p:cNvGrpSpPr/>
          <p:nvPr/>
        </p:nvGrpSpPr>
        <p:grpSpPr>
          <a:xfrm>
            <a:off x="288000" y="3024000"/>
            <a:ext cx="14668200" cy="1504440"/>
            <a:chOff x="288000" y="3024000"/>
            <a:chExt cx="14668200" cy="1504440"/>
          </a:xfrm>
        </p:grpSpPr>
        <p:sp>
          <p:nvSpPr>
            <p:cNvPr id="39" name="CustomShape 2"/>
            <p:cNvSpPr/>
            <p:nvPr/>
          </p:nvSpPr>
          <p:spPr>
            <a:xfrm>
              <a:off x="288000" y="3340800"/>
              <a:ext cx="14668200" cy="118764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60000" rIns="90000" bIns="45000">
              <a:noAutofit/>
            </a:bodyPr>
            <a:lstStyle/>
            <a:p>
              <a:pPr algn="just">
                <a:lnSpc>
                  <a:spcPct val="80000"/>
                </a:lnSpc>
              </a:pPr>
              <a:r>
                <a:rPr lang="es-ES_tradnl" sz="1800" b="0" i="1" strike="noStrike" spc="-1">
                  <a:solidFill>
                    <a:srgbClr val="000000"/>
                  </a:solidFill>
                  <a:latin typeface="Aptos"/>
                  <a:ea typeface="DejaVu Sans"/>
                </a:rPr>
                <a:t>La obesidad, o acumulación excesiva de grasa corporal, causa graves problemas de salud y enfermedades crónicas. Como caso de estudio, se han estudiado las variantes genéticas en diferentes miembros de la familia Simpson para establecer la posible relación de esta patología con alteraciones a nivel genético.</a:t>
              </a:r>
              <a:endParaRPr lang="es-ES" sz="1800" b="0" strike="noStrike" spc="-1">
                <a:latin typeface="Arial"/>
              </a:endParaRPr>
            </a:p>
          </p:txBody>
        </p:sp>
        <p:sp>
          <p:nvSpPr>
            <p:cNvPr id="40" name="CustomShape 3"/>
            <p:cNvSpPr/>
            <p:nvPr/>
          </p:nvSpPr>
          <p:spPr>
            <a:xfrm>
              <a:off x="581040" y="3024000"/>
              <a:ext cx="5837400" cy="63216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59C2E3"/>
                </a:gs>
                <a:gs pos="100000">
                  <a:srgbClr val="4196C9"/>
                </a:gs>
              </a:gsLst>
              <a:lin ang="2700000"/>
            </a:gradFill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2800" b="1" strike="noStrike" spc="-1">
                  <a:solidFill>
                    <a:srgbClr val="FFFFFF"/>
                  </a:solidFill>
                  <a:latin typeface="Aptos"/>
                  <a:ea typeface="DejaVu Sans"/>
                </a:rPr>
                <a:t>INTRODUCCIÓN</a:t>
              </a:r>
              <a:endParaRPr lang="es-ES" sz="2800" b="0" strike="noStrike" spc="-1">
                <a:latin typeface="Arial"/>
              </a:endParaRPr>
            </a:p>
          </p:txBody>
        </p:sp>
      </p:grpSp>
      <p:grpSp>
        <p:nvGrpSpPr>
          <p:cNvPr id="41" name="Group 4"/>
          <p:cNvGrpSpPr/>
          <p:nvPr/>
        </p:nvGrpSpPr>
        <p:grpSpPr>
          <a:xfrm>
            <a:off x="207720" y="4630680"/>
            <a:ext cx="14668200" cy="1920960"/>
            <a:chOff x="207720" y="4630680"/>
            <a:chExt cx="14668200" cy="1920960"/>
          </a:xfrm>
        </p:grpSpPr>
        <p:sp>
          <p:nvSpPr>
            <p:cNvPr id="42" name="CustomShape 5"/>
            <p:cNvSpPr/>
            <p:nvPr/>
          </p:nvSpPr>
          <p:spPr>
            <a:xfrm>
              <a:off x="207720" y="4875840"/>
              <a:ext cx="14668200" cy="167580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60000" rIns="90000" bIns="45000">
              <a:noAutofit/>
            </a:bodyPr>
            <a:lstStyle/>
            <a:p>
              <a:pPr algn="just">
                <a:lnSpc>
                  <a:spcPct val="80000"/>
                </a:lnSpc>
              </a:pPr>
              <a:r>
                <a:rPr lang="es-ES_tradnl" sz="1700" b="0" i="1" strike="noStrike" spc="-1">
                  <a:solidFill>
                    <a:srgbClr val="000000"/>
                  </a:solidFill>
                  <a:latin typeface="Aptos"/>
                  <a:ea typeface="DejaVu Sans"/>
                </a:rPr>
                <a:t>Se analizaron tres variantes de Abraham y Maggie Simpson con </a:t>
              </a:r>
              <a:r>
                <a:rPr lang="es-ES_tradnl" sz="1700" b="0" i="1" u="sng" strike="noStrike" spc="-1">
                  <a:solidFill>
                    <a:srgbClr val="467886"/>
                  </a:solidFill>
                  <a:uFillTx/>
                  <a:latin typeface="Aptos"/>
                  <a:ea typeface="DejaVu Sans"/>
                  <a:hlinkClick r:id="rId3"/>
                </a:rPr>
                <a:t>VEP</a:t>
              </a:r>
              <a:r>
                <a:rPr lang="es-ES_tradnl" sz="1700" b="0" i="1" strike="noStrike" spc="-1">
                  <a:solidFill>
                    <a:srgbClr val="000000"/>
                  </a:solidFill>
                  <a:latin typeface="Aptos"/>
                  <a:ea typeface="DejaVu Sans"/>
                </a:rPr>
                <a:t>. Se exploraron la prevalencia en la población con </a:t>
              </a:r>
              <a:r>
                <a:rPr lang="es-ES_tradnl" sz="1700" b="0" i="1" u="sng" strike="noStrike" spc="-1">
                  <a:solidFill>
                    <a:srgbClr val="467886"/>
                  </a:solidFill>
                  <a:uFillTx/>
                  <a:latin typeface="Aptos"/>
                  <a:ea typeface="DejaVu Sans"/>
                  <a:hlinkClick r:id="rId4"/>
                </a:rPr>
                <a:t>gnomAD</a:t>
              </a:r>
              <a:r>
                <a:rPr lang="es-ES_tradnl" sz="1700" b="0" i="1" strike="noStrike" spc="-1">
                  <a:solidFill>
                    <a:srgbClr val="000000"/>
                  </a:solidFill>
                  <a:latin typeface="Aptos"/>
                  <a:ea typeface="DejaVu Sans"/>
                </a:rPr>
                <a:t>; y su patogenicidad con </a:t>
              </a:r>
              <a:r>
                <a:rPr lang="es-ES_tradnl" sz="1700" b="0" i="1" u="sng" strike="noStrike" spc="-1">
                  <a:solidFill>
                    <a:srgbClr val="467886"/>
                  </a:solidFill>
                  <a:uFillTx/>
                  <a:latin typeface="Aptos"/>
                  <a:ea typeface="DejaVu Sans"/>
                  <a:hlinkClick r:id="rId5"/>
                </a:rPr>
                <a:t>SIFT</a:t>
              </a:r>
              <a:r>
                <a:rPr lang="es-ES_tradnl" sz="1700" b="0" i="1" strike="noStrike" spc="-1">
                  <a:solidFill>
                    <a:srgbClr val="000000"/>
                  </a:solidFill>
                  <a:latin typeface="Aptos"/>
                  <a:ea typeface="DejaVu Sans"/>
                </a:rPr>
                <a:t>, </a:t>
              </a:r>
              <a:r>
                <a:rPr lang="es-ES_tradnl" sz="1700" b="0" i="1" u="sng" strike="noStrike" spc="-1">
                  <a:solidFill>
                    <a:srgbClr val="467886"/>
                  </a:solidFill>
                  <a:uFillTx/>
                  <a:latin typeface="Aptos"/>
                  <a:ea typeface="DejaVu Sans"/>
                  <a:hlinkClick r:id="rId6"/>
                </a:rPr>
                <a:t>PolyPhen</a:t>
              </a:r>
              <a:r>
                <a:rPr lang="es-ES_tradnl" sz="1700" b="0" i="1" strike="noStrike" spc="-1">
                  <a:solidFill>
                    <a:srgbClr val="000000"/>
                  </a:solidFill>
                  <a:latin typeface="Aptos"/>
                  <a:ea typeface="DejaVu Sans"/>
                </a:rPr>
                <a:t>, y </a:t>
              </a:r>
              <a:r>
                <a:rPr lang="es-ES_tradnl" sz="1700" b="0" i="1" u="sng" strike="noStrike" spc="-1">
                  <a:solidFill>
                    <a:srgbClr val="467886"/>
                  </a:solidFill>
                  <a:uFillTx/>
                  <a:latin typeface="Aptos"/>
                  <a:ea typeface="DejaVu Sans"/>
                  <a:hlinkClick r:id="rId7"/>
                </a:rPr>
                <a:t>OMIM</a:t>
              </a:r>
              <a:r>
                <a:rPr lang="es-ES_tradnl" sz="1700" b="0" i="1" strike="noStrike" spc="-1">
                  <a:solidFill>
                    <a:srgbClr val="000000"/>
                  </a:solidFill>
                  <a:latin typeface="Aptos"/>
                  <a:ea typeface="DejaVu Sans"/>
                </a:rPr>
                <a:t>. Las variantes “missense” se analizaron con </a:t>
              </a:r>
              <a:r>
                <a:rPr lang="es-ES_tradnl" sz="1700" b="0" i="1" u="sng" strike="noStrike" spc="-1">
                  <a:solidFill>
                    <a:srgbClr val="467886"/>
                  </a:solidFill>
                  <a:uFillTx/>
                  <a:latin typeface="Aptos"/>
                  <a:ea typeface="DejaVu Sans"/>
                  <a:hlinkClick r:id="rId8"/>
                </a:rPr>
                <a:t>CLUSTAL omega</a:t>
              </a:r>
              <a:r>
                <a:rPr lang="es-ES_tradnl" sz="1700" b="0" i="1" strike="noStrike" spc="-1">
                  <a:solidFill>
                    <a:srgbClr val="000000"/>
                  </a:solidFill>
                  <a:latin typeface="Aptos"/>
                  <a:ea typeface="DejaVu Sans"/>
                </a:rPr>
                <a:t> para detectar si la región afectada estaba conservada. Las variantes “frameshift” se analizaron con </a:t>
              </a:r>
              <a:r>
                <a:rPr lang="es-ES_tradnl" sz="1700" b="0" i="1" u="sng" strike="noStrike" spc="-1">
                  <a:solidFill>
                    <a:srgbClr val="467886"/>
                  </a:solidFill>
                  <a:uFillTx/>
                  <a:latin typeface="Aptos"/>
                  <a:ea typeface="DejaVu Sans"/>
                  <a:hlinkClick r:id="rId9"/>
                </a:rPr>
                <a:t>Mutalyzer</a:t>
              </a:r>
              <a:r>
                <a:rPr lang="es-ES_tradnl" sz="1700" b="0" i="1" strike="noStrike" spc="-1">
                  <a:solidFill>
                    <a:srgbClr val="000000"/>
                  </a:solidFill>
                  <a:latin typeface="Aptos"/>
                  <a:ea typeface="DejaVu Sans"/>
                </a:rPr>
                <a:t> para comprobar la estructura del la proteína mutada. Consultamos </a:t>
              </a:r>
              <a:r>
                <a:rPr lang="es-ES_tradnl" sz="1700" b="0" i="1" u="sng" strike="noStrike" spc="-1">
                  <a:solidFill>
                    <a:srgbClr val="467886"/>
                  </a:solidFill>
                  <a:uFillTx/>
                  <a:latin typeface="Aptos"/>
                  <a:ea typeface="DejaVu Sans"/>
                  <a:hlinkClick r:id="rId10"/>
                </a:rPr>
                <a:t>UniProt</a:t>
              </a:r>
              <a:r>
                <a:rPr lang="es-ES_tradnl" sz="1700" b="0" i="1" strike="noStrike" spc="-1">
                  <a:solidFill>
                    <a:srgbClr val="000000"/>
                  </a:solidFill>
                  <a:latin typeface="Aptos"/>
                  <a:ea typeface="DejaVu Sans"/>
                </a:rPr>
                <a:t> e </a:t>
              </a:r>
              <a:r>
                <a:rPr lang="es-ES_tradnl" sz="1700" b="0" i="1" u="sng" strike="noStrike" spc="-1">
                  <a:solidFill>
                    <a:srgbClr val="467886"/>
                  </a:solidFill>
                  <a:uFillTx/>
                  <a:latin typeface="Aptos"/>
                  <a:ea typeface="DejaVu Sans"/>
                  <a:hlinkClick r:id="rId11"/>
                </a:rPr>
                <a:t>InterPro</a:t>
              </a:r>
              <a:r>
                <a:rPr lang="es-ES_tradnl" sz="1700" b="0" i="1" strike="noStrike" spc="-1">
                  <a:solidFill>
                    <a:srgbClr val="000000"/>
                  </a:solidFill>
                  <a:latin typeface="Aptos"/>
                  <a:ea typeface="DejaVu Sans"/>
                </a:rPr>
                <a:t> para comprobar los dominios proteicos afectados en las variantes, y las entradas en </a:t>
              </a:r>
              <a:r>
                <a:rPr lang="es-ES_tradnl" sz="1700" b="0" i="1" u="sng" strike="noStrike" spc="-1">
                  <a:solidFill>
                    <a:srgbClr val="467886"/>
                  </a:solidFill>
                  <a:uFillTx/>
                  <a:latin typeface="Aptos"/>
                  <a:ea typeface="DejaVu Sans"/>
                  <a:hlinkClick r:id="rId12"/>
                </a:rPr>
                <a:t>KEGG</a:t>
              </a:r>
              <a:r>
                <a:rPr lang="es-ES_tradnl" sz="1700" b="0" i="1" strike="noStrike" spc="-1">
                  <a:solidFill>
                    <a:srgbClr val="000000"/>
                  </a:solidFill>
                  <a:latin typeface="Aptos"/>
                  <a:ea typeface="DejaVu Sans"/>
                </a:rPr>
                <a:t> de los genes afectados para comprobar en qué rutas metabólicas está implicados.</a:t>
              </a:r>
              <a:endParaRPr lang="es-ES" sz="1700" b="0" strike="noStrike" spc="-1">
                <a:latin typeface="Arial"/>
              </a:endParaRPr>
            </a:p>
          </p:txBody>
        </p:sp>
        <p:sp>
          <p:nvSpPr>
            <p:cNvPr id="43" name="CustomShape 6"/>
            <p:cNvSpPr/>
            <p:nvPr/>
          </p:nvSpPr>
          <p:spPr>
            <a:xfrm>
              <a:off x="500760" y="4630680"/>
              <a:ext cx="5837400" cy="63216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59C2E3"/>
                </a:gs>
                <a:gs pos="100000">
                  <a:srgbClr val="4196C9"/>
                </a:gs>
              </a:gsLst>
              <a:lin ang="2700000"/>
            </a:gradFill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2800" b="1" strike="noStrike" spc="-1">
                  <a:solidFill>
                    <a:srgbClr val="FFFFFF"/>
                  </a:solidFill>
                  <a:latin typeface="Aptos"/>
                  <a:ea typeface="DejaVu Sans"/>
                </a:rPr>
                <a:t>METODOLOGÍA</a:t>
              </a:r>
              <a:endParaRPr lang="es-ES" sz="2800" b="0" strike="noStrike" spc="-1">
                <a:latin typeface="Arial"/>
              </a:endParaRPr>
            </a:p>
          </p:txBody>
        </p:sp>
      </p:grpSp>
      <p:grpSp>
        <p:nvGrpSpPr>
          <p:cNvPr id="44" name="Group 7"/>
          <p:cNvGrpSpPr/>
          <p:nvPr/>
        </p:nvGrpSpPr>
        <p:grpSpPr>
          <a:xfrm>
            <a:off x="144000" y="6552000"/>
            <a:ext cx="14668200" cy="11018160"/>
            <a:chOff x="144000" y="6552000"/>
            <a:chExt cx="14668200" cy="11018160"/>
          </a:xfrm>
        </p:grpSpPr>
        <p:sp>
          <p:nvSpPr>
            <p:cNvPr id="45" name="CustomShape 8"/>
            <p:cNvSpPr/>
            <p:nvPr/>
          </p:nvSpPr>
          <p:spPr>
            <a:xfrm>
              <a:off x="144000" y="6908400"/>
              <a:ext cx="14668200" cy="10661760"/>
            </a:xfrm>
            <a:prstGeom prst="roundRect">
              <a:avLst>
                <a:gd name="adj" fmla="val 1988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s-ES"/>
            </a:p>
          </p:txBody>
        </p:sp>
        <p:sp>
          <p:nvSpPr>
            <p:cNvPr id="46" name="CustomShape 9"/>
            <p:cNvSpPr/>
            <p:nvPr/>
          </p:nvSpPr>
          <p:spPr>
            <a:xfrm>
              <a:off x="437040" y="6552000"/>
              <a:ext cx="5837400" cy="71208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59C2E3"/>
                </a:gs>
                <a:gs pos="100000">
                  <a:srgbClr val="4196C9"/>
                </a:gs>
              </a:gsLst>
              <a:lin ang="2700000"/>
            </a:gradFill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2800" b="1" strike="noStrike" spc="-1">
                  <a:solidFill>
                    <a:srgbClr val="FFFFFF"/>
                  </a:solidFill>
                  <a:latin typeface="Aptos"/>
                  <a:ea typeface="DejaVu Sans"/>
                </a:rPr>
                <a:t>RESULTADOS</a:t>
              </a:r>
              <a:endParaRPr lang="es-ES" sz="2800" b="0" strike="noStrike" spc="-1">
                <a:latin typeface="Arial"/>
              </a:endParaRPr>
            </a:p>
          </p:txBody>
        </p:sp>
      </p:grpSp>
      <p:pic>
        <p:nvPicPr>
          <p:cNvPr id="47" name="Picture 4"/>
          <p:cNvPicPr/>
          <p:nvPr/>
        </p:nvPicPr>
        <p:blipFill>
          <a:blip r:embed="rId13"/>
          <a:stretch/>
        </p:blipFill>
        <p:spPr>
          <a:xfrm>
            <a:off x="12550680" y="-95400"/>
            <a:ext cx="2325240" cy="1400040"/>
          </a:xfrm>
          <a:prstGeom prst="rect">
            <a:avLst/>
          </a:prstGeom>
          <a:ln>
            <a:noFill/>
          </a:ln>
        </p:spPr>
      </p:pic>
      <p:grpSp>
        <p:nvGrpSpPr>
          <p:cNvPr id="48" name="Group 10"/>
          <p:cNvGrpSpPr/>
          <p:nvPr/>
        </p:nvGrpSpPr>
        <p:grpSpPr>
          <a:xfrm>
            <a:off x="0" y="-5760"/>
            <a:ext cx="3396600" cy="2302200"/>
            <a:chOff x="0" y="-5760"/>
            <a:chExt cx="3396600" cy="2302200"/>
          </a:xfrm>
        </p:grpSpPr>
        <p:pic>
          <p:nvPicPr>
            <p:cNvPr id="49" name="Imagen 4"/>
            <p:cNvPicPr/>
            <p:nvPr/>
          </p:nvPicPr>
          <p:blipFill>
            <a:blip r:embed="rId14"/>
            <a:stretch/>
          </p:blipFill>
          <p:spPr>
            <a:xfrm>
              <a:off x="0" y="-5760"/>
              <a:ext cx="3396600" cy="2302200"/>
            </a:xfrm>
            <a:prstGeom prst="rect">
              <a:avLst/>
            </a:prstGeom>
            <a:ln>
              <a:noFill/>
            </a:ln>
          </p:spPr>
        </p:pic>
        <p:sp>
          <p:nvSpPr>
            <p:cNvPr id="50" name="CustomShape 11"/>
            <p:cNvSpPr/>
            <p:nvPr/>
          </p:nvSpPr>
          <p:spPr>
            <a:xfrm>
              <a:off x="677880" y="1086840"/>
              <a:ext cx="1585800" cy="471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51" name="CustomShape 12"/>
          <p:cNvSpPr/>
          <p:nvPr/>
        </p:nvSpPr>
        <p:spPr>
          <a:xfrm>
            <a:off x="780840" y="1086840"/>
            <a:ext cx="13762800" cy="1792800"/>
          </a:xfrm>
          <a:prstGeom prst="roundRect">
            <a:avLst>
              <a:gd name="adj" fmla="val 9702"/>
            </a:avLst>
          </a:prstGeom>
          <a:solidFill>
            <a:srgbClr val="4196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68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_tradnl" sz="4000" b="1" strike="noStrike" spc="-1">
                <a:solidFill>
                  <a:srgbClr val="FFFFFF"/>
                </a:solidFill>
                <a:latin typeface="Aptos"/>
                <a:ea typeface="DejaVu Sans"/>
              </a:rPr>
              <a:t>Anotación e interpretación de variantes</a:t>
            </a:r>
            <a:endParaRPr lang="es-ES" sz="4000" b="0" strike="noStrike" spc="-1">
              <a:latin typeface="Arial"/>
            </a:endParaRPr>
          </a:p>
          <a:p>
            <a:pPr algn="ctr">
              <a:lnSpc>
                <a:spcPct val="80000"/>
              </a:lnSpc>
            </a:pPr>
            <a:r>
              <a:rPr lang="es-ES_tradnl" sz="2800" b="1" i="1" strike="noStrike" spc="-1">
                <a:solidFill>
                  <a:srgbClr val="FFFFFF"/>
                </a:solidFill>
                <a:latin typeface="Aptos"/>
                <a:ea typeface="DejaVu Sans"/>
              </a:rPr>
              <a:t>Genética clínica y de poblaciones</a:t>
            </a:r>
            <a:endParaRPr lang="es-ES" sz="2800" b="0" strike="noStrike" spc="-1">
              <a:latin typeface="Arial"/>
            </a:endParaRPr>
          </a:p>
          <a:p>
            <a:pPr algn="ctr">
              <a:lnSpc>
                <a:spcPct val="80000"/>
              </a:lnSpc>
            </a:pPr>
            <a:r>
              <a:rPr lang="es-ES_tradnl" sz="2000" b="1" i="1" strike="noStrike" spc="-1">
                <a:solidFill>
                  <a:srgbClr val="FFFFFF"/>
                </a:solidFill>
                <a:latin typeface="Aptos"/>
                <a:ea typeface="DejaVu Sans"/>
              </a:rPr>
              <a:t>Paula Damián Moral - Paula Sofía Norniella Jamart - Pedro García Sáez - Pedro Manuel Rodríguez Santos - Pilar Navarro Sánchez - Rubén Martín Blázquez </a:t>
            </a:r>
            <a:endParaRPr lang="es-ES" sz="2000" b="0" strike="noStrike" spc="-1">
              <a:latin typeface="Arial"/>
            </a:endParaRPr>
          </a:p>
        </p:txBody>
      </p:sp>
      <p:grpSp>
        <p:nvGrpSpPr>
          <p:cNvPr id="52" name="Group 13"/>
          <p:cNvGrpSpPr/>
          <p:nvPr/>
        </p:nvGrpSpPr>
        <p:grpSpPr>
          <a:xfrm>
            <a:off x="144000" y="17570520"/>
            <a:ext cx="9095040" cy="3597120"/>
            <a:chOff x="144000" y="17570520"/>
            <a:chExt cx="9095040" cy="3597120"/>
          </a:xfrm>
        </p:grpSpPr>
        <p:sp>
          <p:nvSpPr>
            <p:cNvPr id="53" name="CustomShape 14"/>
            <p:cNvSpPr/>
            <p:nvPr/>
          </p:nvSpPr>
          <p:spPr>
            <a:xfrm>
              <a:off x="144000" y="17866440"/>
              <a:ext cx="9095040" cy="330120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60000" rIns="90000" bIns="45000">
              <a:noAutofit/>
            </a:bodyPr>
            <a:lstStyle/>
            <a:p>
              <a:pPr algn="just">
                <a:lnSpc>
                  <a:spcPct val="80000"/>
                </a:lnSpc>
              </a:pPr>
              <a:r>
                <a:rPr lang="es-ES_tradnl" sz="1800" b="0" i="1" strike="noStrike" spc="-1" dirty="0">
                  <a:solidFill>
                    <a:srgbClr val="000000"/>
                  </a:solidFill>
                  <a:latin typeface="Aptos"/>
                  <a:ea typeface="DejaVu Sans"/>
                </a:rPr>
                <a:t>Maggie presenta una </a:t>
              </a:r>
              <a:r>
                <a:rPr lang="es-ES_tradnl" sz="1800" b="0" i="1" strike="noStrike" spc="-1" dirty="0" err="1">
                  <a:solidFill>
                    <a:srgbClr val="000000"/>
                  </a:solidFill>
                  <a:latin typeface="Aptos"/>
                  <a:ea typeface="DejaVu Sans"/>
                </a:rPr>
                <a:t>deleción</a:t>
              </a:r>
              <a:r>
                <a:rPr lang="es-ES_tradnl" sz="1800" b="0" i="1" strike="noStrike" spc="-1" dirty="0">
                  <a:solidFill>
                    <a:srgbClr val="000000"/>
                  </a:solidFill>
                  <a:latin typeface="Aptos"/>
                  <a:ea typeface="DejaVu Sans"/>
                </a:rPr>
                <a:t> en el gen receptor de </a:t>
              </a:r>
              <a:r>
                <a:rPr lang="es-ES_tradnl" sz="1800" b="0" i="1" strike="noStrike" spc="-1" dirty="0" err="1">
                  <a:solidFill>
                    <a:srgbClr val="000000"/>
                  </a:solidFill>
                  <a:latin typeface="Aptos"/>
                  <a:ea typeface="DejaVu Sans"/>
                </a:rPr>
                <a:t>leptina</a:t>
              </a:r>
              <a:r>
                <a:rPr lang="es-ES_tradnl" sz="1800" b="0" i="1" strike="noStrike" spc="-1" dirty="0">
                  <a:solidFill>
                    <a:srgbClr val="000000"/>
                  </a:solidFill>
                  <a:latin typeface="Aptos"/>
                  <a:ea typeface="DejaVu Sans"/>
                </a:rPr>
                <a:t> (LEPR), produciendo una mutación “</a:t>
              </a:r>
              <a:r>
                <a:rPr lang="es-ES_tradnl" sz="1800" b="0" i="1" strike="noStrike" spc="-1" dirty="0" err="1">
                  <a:solidFill>
                    <a:srgbClr val="000000"/>
                  </a:solidFill>
                  <a:latin typeface="Aptos"/>
                  <a:ea typeface="DejaVu Sans"/>
                </a:rPr>
                <a:t>frameshift</a:t>
              </a:r>
              <a:r>
                <a:rPr lang="es-ES_tradnl" sz="1800" b="0" i="1" strike="noStrike" spc="-1" dirty="0">
                  <a:solidFill>
                    <a:srgbClr val="000000"/>
                  </a:solidFill>
                  <a:latin typeface="Aptos"/>
                  <a:ea typeface="DejaVu Sans"/>
                </a:rPr>
                <a:t>”. Esta </a:t>
              </a:r>
              <a:r>
                <a:rPr lang="es-ES_tradnl" sz="1800" b="0" i="1" strike="noStrike" spc="-1" dirty="0" err="1">
                  <a:solidFill>
                    <a:srgbClr val="000000"/>
                  </a:solidFill>
                  <a:latin typeface="Aptos"/>
                  <a:ea typeface="DejaVu Sans"/>
                </a:rPr>
                <a:t>deleción</a:t>
              </a:r>
              <a:r>
                <a:rPr lang="es-ES_tradnl" sz="1800" b="0" i="1" strike="noStrike" spc="-1" dirty="0">
                  <a:solidFill>
                    <a:srgbClr val="000000"/>
                  </a:solidFill>
                  <a:latin typeface="Aptos"/>
                  <a:ea typeface="DejaVu Sans"/>
                </a:rPr>
                <a:t> provoca la pérdida de dominios necesarios para activar vías de señalización de la hormona </a:t>
              </a:r>
              <a:r>
                <a:rPr lang="es-ES_tradnl" sz="1800" b="0" i="1" strike="noStrike" spc="-1" dirty="0" err="1">
                  <a:solidFill>
                    <a:srgbClr val="000000"/>
                  </a:solidFill>
                  <a:latin typeface="Aptos"/>
                  <a:ea typeface="DejaVu Sans"/>
                </a:rPr>
                <a:t>leptina</a:t>
              </a:r>
              <a:r>
                <a:rPr lang="es-ES_tradnl" sz="1800" b="0" i="1" strike="noStrike" spc="-1" dirty="0">
                  <a:solidFill>
                    <a:srgbClr val="000000"/>
                  </a:solidFill>
                  <a:latin typeface="Aptos"/>
                  <a:ea typeface="DejaVu Sans"/>
                </a:rPr>
                <a:t> (encargada de disminuir la ingesta y aumentar el consumo de energía).</a:t>
              </a:r>
              <a:endParaRPr lang="es-ES" sz="1800" b="0" strike="noStrike" spc="-1" dirty="0">
                <a:latin typeface="Arial"/>
              </a:endParaRPr>
            </a:p>
            <a:p>
              <a:pPr algn="just">
                <a:lnSpc>
                  <a:spcPct val="80000"/>
                </a:lnSpc>
              </a:pPr>
              <a:r>
                <a:rPr lang="es-ES_tradnl" sz="1800" b="0" i="1" strike="noStrike" spc="-1" dirty="0">
                  <a:solidFill>
                    <a:srgbClr val="000000"/>
                  </a:solidFill>
                  <a:latin typeface="Aptos"/>
                  <a:ea typeface="DejaVu Sans"/>
                </a:rPr>
                <a:t>Abraham y Maggie presentan una sustitución en el gen receptor de la </a:t>
              </a:r>
              <a:r>
                <a:rPr lang="es-ES_tradnl" sz="1800" b="0" i="1" strike="noStrike" spc="-1" dirty="0" err="1">
                  <a:solidFill>
                    <a:srgbClr val="000000"/>
                  </a:solidFill>
                  <a:latin typeface="Aptos"/>
                  <a:ea typeface="DejaVu Sans"/>
                </a:rPr>
                <a:t>melanocortina</a:t>
              </a:r>
              <a:r>
                <a:rPr lang="es-ES_tradnl" sz="1800" b="0" i="1" strike="noStrike" spc="-1" dirty="0">
                  <a:solidFill>
                    <a:srgbClr val="000000"/>
                  </a:solidFill>
                  <a:latin typeface="Aptos"/>
                  <a:ea typeface="DejaVu Sans"/>
                </a:rPr>
                <a:t> 4 (MC4R) que provoca una mutación “</a:t>
              </a:r>
              <a:r>
                <a:rPr lang="es-ES_tradnl" sz="1800" b="0" i="1" strike="noStrike" spc="-1" dirty="0" err="1">
                  <a:solidFill>
                    <a:srgbClr val="000000"/>
                  </a:solidFill>
                  <a:latin typeface="Aptos"/>
                  <a:ea typeface="DejaVu Sans"/>
                </a:rPr>
                <a:t>missense</a:t>
              </a:r>
              <a:r>
                <a:rPr lang="es-ES_tradnl" sz="1800" b="0" i="1" strike="noStrike" spc="-1" dirty="0">
                  <a:solidFill>
                    <a:srgbClr val="000000"/>
                  </a:solidFill>
                  <a:latin typeface="Aptos"/>
                  <a:ea typeface="DejaVu Sans"/>
                </a:rPr>
                <a:t>” que altera un dominio extracelular y crucial para la señalización. Esta alteración es altamente patogénica, afectando a una región altamente conservada evolutivamente. Se ve alterada la ruta de señalización hormonal del </a:t>
              </a:r>
              <a:r>
                <a:rPr lang="es-ES_tradnl" sz="1800" b="0" i="1" strike="noStrike" spc="-1" dirty="0" err="1">
                  <a:solidFill>
                    <a:srgbClr val="000000"/>
                  </a:solidFill>
                  <a:latin typeface="Aptos"/>
                  <a:ea typeface="DejaVu Sans"/>
                </a:rPr>
                <a:t>cAMP</a:t>
              </a:r>
              <a:r>
                <a:rPr lang="es-ES_tradnl" sz="1800" b="0" i="1" strike="noStrike" spc="-1" dirty="0">
                  <a:solidFill>
                    <a:srgbClr val="000000"/>
                  </a:solidFill>
                  <a:latin typeface="Aptos"/>
                  <a:ea typeface="DejaVu Sans"/>
                </a:rPr>
                <a:t> implicado en el control de la saciedad. Como consecuencia, se altera el control del apetito a nivel hipotalámico, derivando en la característica </a:t>
              </a:r>
              <a:r>
                <a:rPr lang="es-ES_tradnl" sz="1800" b="0" i="1" strike="noStrike" spc="-1" dirty="0" err="1">
                  <a:solidFill>
                    <a:srgbClr val="000000"/>
                  </a:solidFill>
                  <a:latin typeface="Aptos"/>
                  <a:ea typeface="DejaVu Sans"/>
                </a:rPr>
                <a:t>hiperfagia</a:t>
              </a:r>
              <a:r>
                <a:rPr lang="es-ES_tradnl" sz="1800" b="0" i="1" strike="noStrike" spc="-1" dirty="0">
                  <a:solidFill>
                    <a:srgbClr val="000000"/>
                  </a:solidFill>
                  <a:latin typeface="Aptos"/>
                  <a:ea typeface="DejaVu Sans"/>
                </a:rPr>
                <a:t> típica de pacientes con obesidad </a:t>
              </a:r>
              <a:r>
                <a:rPr lang="es-ES_tradnl" sz="1800" b="0" i="1" strike="noStrike" spc="-1" dirty="0" err="1">
                  <a:solidFill>
                    <a:srgbClr val="000000"/>
                  </a:solidFill>
                  <a:latin typeface="Aptos"/>
                  <a:ea typeface="DejaVu Sans"/>
                </a:rPr>
                <a:t>monogénica</a:t>
              </a:r>
              <a:r>
                <a:rPr lang="es-ES_tradnl" sz="1800" b="0" i="1" strike="noStrike" spc="-1" dirty="0">
                  <a:solidFill>
                    <a:srgbClr val="000000"/>
                  </a:solidFill>
                  <a:latin typeface="Aptos"/>
                  <a:ea typeface="DejaVu Sans"/>
                </a:rPr>
                <a:t>.</a:t>
              </a:r>
              <a:endParaRPr lang="es-ES" sz="1800" b="0" strike="noStrike" spc="-1" dirty="0">
                <a:latin typeface="Arial"/>
              </a:endParaRPr>
            </a:p>
            <a:p>
              <a:pPr algn="just">
                <a:lnSpc>
                  <a:spcPct val="80000"/>
                </a:lnSpc>
              </a:pPr>
              <a:r>
                <a:rPr lang="es-ES_tradnl" sz="1800" b="0" i="1" strike="noStrike" spc="-1" dirty="0">
                  <a:solidFill>
                    <a:srgbClr val="000000"/>
                  </a:solidFill>
                  <a:latin typeface="Aptos"/>
                  <a:ea typeface="DejaVu Sans"/>
                </a:rPr>
                <a:t>Ambos presentan mutaciones en TP53, y Abraham es </a:t>
              </a:r>
              <a:r>
                <a:rPr lang="es-ES_tradnl" sz="1800" b="0" i="1" strike="noStrike" spc="-1" dirty="0" err="1">
                  <a:solidFill>
                    <a:srgbClr val="000000"/>
                  </a:solidFill>
                  <a:latin typeface="Aptos"/>
                  <a:ea typeface="DejaVu Sans"/>
                </a:rPr>
                <a:t>hemicigoto</a:t>
              </a:r>
              <a:r>
                <a:rPr lang="es-ES_tradnl" sz="1800" b="0" i="1" strike="noStrike" spc="-1" dirty="0">
                  <a:solidFill>
                    <a:srgbClr val="000000"/>
                  </a:solidFill>
                  <a:latin typeface="Aptos"/>
                  <a:ea typeface="DejaVu Sans"/>
                </a:rPr>
                <a:t> para la variante detectada en MED12, pero ambas tienen un nivel de patogenicidad bajo o ambiguo.</a:t>
              </a:r>
              <a:endParaRPr lang="es-ES" sz="1800" b="0" strike="noStrike" spc="-1" dirty="0">
                <a:latin typeface="Arial"/>
              </a:endParaRPr>
            </a:p>
          </p:txBody>
        </p:sp>
        <p:sp>
          <p:nvSpPr>
            <p:cNvPr id="54" name="CustomShape 15"/>
            <p:cNvSpPr/>
            <p:nvPr/>
          </p:nvSpPr>
          <p:spPr>
            <a:xfrm>
              <a:off x="437040" y="17570520"/>
              <a:ext cx="5837400" cy="59148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59C2E3"/>
                </a:gs>
                <a:gs pos="100000">
                  <a:srgbClr val="4196C9"/>
                </a:gs>
              </a:gsLst>
              <a:lin ang="2700000"/>
            </a:gradFill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2800" b="1" strike="noStrike" spc="-1">
                  <a:solidFill>
                    <a:srgbClr val="FFFFFF"/>
                  </a:solidFill>
                  <a:latin typeface="Aptos"/>
                  <a:ea typeface="DejaVu Sans"/>
                </a:rPr>
                <a:t>DISCUSIÓN</a:t>
              </a:r>
              <a:endParaRPr lang="es-ES" sz="2800" b="0" strike="noStrike" spc="-1">
                <a:latin typeface="Arial"/>
              </a:endParaRPr>
            </a:p>
          </p:txBody>
        </p:sp>
      </p:grpSp>
      <p:grpSp>
        <p:nvGrpSpPr>
          <p:cNvPr id="55" name="Group 16"/>
          <p:cNvGrpSpPr/>
          <p:nvPr/>
        </p:nvGrpSpPr>
        <p:grpSpPr>
          <a:xfrm>
            <a:off x="9576000" y="17657640"/>
            <a:ext cx="5366160" cy="2934360"/>
            <a:chOff x="9576000" y="17657640"/>
            <a:chExt cx="5366160" cy="2934360"/>
          </a:xfrm>
        </p:grpSpPr>
        <p:sp>
          <p:nvSpPr>
            <p:cNvPr id="56" name="CustomShape 17"/>
            <p:cNvSpPr/>
            <p:nvPr/>
          </p:nvSpPr>
          <p:spPr>
            <a:xfrm>
              <a:off x="9576000" y="17899200"/>
              <a:ext cx="5366160" cy="269280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60000" rIns="90000" bIns="45000">
              <a:noAutofit/>
            </a:bodyPr>
            <a:lstStyle/>
            <a:p>
              <a:pPr algn="just">
                <a:lnSpc>
                  <a:spcPct val="80000"/>
                </a:lnSpc>
              </a:pPr>
              <a:r>
                <a:rPr lang="es-ES_tradnl" sz="1800" b="0" i="1" strike="noStrike" spc="-1">
                  <a:solidFill>
                    <a:srgbClr val="000000"/>
                  </a:solidFill>
                  <a:latin typeface="Aptos"/>
                  <a:ea typeface="DejaVu Sans"/>
                </a:rPr>
                <a:t>Las variantes de los genes LEPR (portada por Maggie) y MC4R (portada por Abraham y Maggie) pueden indicar que los Simpson sean propensos a desarrollar obesidad. Por otro lado, mutaciones que comparten ambos en los genes MED12 y TP53, no se consideran patogénicas ni se observa relación con el fenotipo observado. Por lo tanto, la familia Simpson debe tener una dieta controlada y hábitos de vida saludable si no desean desarrollar obesidad.</a:t>
              </a:r>
              <a:endParaRPr lang="es-ES" sz="1800" b="0" strike="noStrike" spc="-1">
                <a:latin typeface="Arial"/>
              </a:endParaRPr>
            </a:p>
          </p:txBody>
        </p:sp>
        <p:sp>
          <p:nvSpPr>
            <p:cNvPr id="57" name="CustomShape 18"/>
            <p:cNvSpPr/>
            <p:nvPr/>
          </p:nvSpPr>
          <p:spPr>
            <a:xfrm>
              <a:off x="9797400" y="17657640"/>
              <a:ext cx="4406400" cy="48240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59C2E3"/>
                </a:gs>
                <a:gs pos="100000">
                  <a:srgbClr val="4196C9"/>
                </a:gs>
              </a:gsLst>
              <a:lin ang="2700000"/>
            </a:gradFill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2800" b="1" strike="noStrike" spc="-1">
                  <a:solidFill>
                    <a:srgbClr val="FFFFFF"/>
                  </a:solidFill>
                  <a:latin typeface="Aptos"/>
                  <a:ea typeface="DejaVu Sans"/>
                </a:rPr>
                <a:t>CONCLUSIONES</a:t>
              </a:r>
              <a:endParaRPr lang="es-ES" sz="2800" b="0" strike="noStrike" spc="-1">
                <a:latin typeface="Arial"/>
              </a:endParaRPr>
            </a:p>
          </p:txBody>
        </p:sp>
      </p:grpSp>
      <p:sp>
        <p:nvSpPr>
          <p:cNvPr id="58" name="CustomShape 19"/>
          <p:cNvSpPr/>
          <p:nvPr/>
        </p:nvSpPr>
        <p:spPr>
          <a:xfrm>
            <a:off x="440640" y="7503480"/>
            <a:ext cx="13959000" cy="63216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s-ES_tradnl" sz="1800" b="1" strike="noStrike" spc="-1">
                <a:solidFill>
                  <a:srgbClr val="4196C9"/>
                </a:solidFill>
                <a:latin typeface="Aptos"/>
                <a:ea typeface="DejaVu Sans"/>
              </a:rPr>
              <a:t>Tabla 1. </a:t>
            </a:r>
            <a:r>
              <a:rPr lang="es-ES_tradnl" sz="1800" b="0" strike="noStrike" spc="-1">
                <a:solidFill>
                  <a:srgbClr val="000000"/>
                </a:solidFill>
                <a:latin typeface="Aptos"/>
                <a:ea typeface="DejaVu Sans"/>
              </a:rPr>
              <a:t>Información de las variantes analizadas con VEP.</a:t>
            </a:r>
            <a:endParaRPr lang="es-ES" sz="1800" b="0" strike="noStrike" spc="-1">
              <a:latin typeface="Arial"/>
            </a:endParaRPr>
          </a:p>
        </p:txBody>
      </p:sp>
      <p:sp>
        <p:nvSpPr>
          <p:cNvPr id="59" name="CustomShape 20"/>
          <p:cNvSpPr/>
          <p:nvPr/>
        </p:nvSpPr>
        <p:spPr>
          <a:xfrm>
            <a:off x="288000" y="11592000"/>
            <a:ext cx="6176520" cy="63216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s-ES_tradnl" sz="1800" b="1" strike="noStrike" spc="-1" dirty="0">
                <a:solidFill>
                  <a:srgbClr val="4196C9"/>
                </a:solidFill>
                <a:latin typeface="Aptos"/>
                <a:ea typeface="DejaVu Sans"/>
              </a:rPr>
              <a:t>Figura 1. </a:t>
            </a:r>
            <a:r>
              <a:rPr lang="es-ES_tradnl" sz="1800" b="0" strike="noStrike" spc="-1" dirty="0">
                <a:solidFill>
                  <a:srgbClr val="000000"/>
                </a:solidFill>
                <a:latin typeface="Aptos"/>
                <a:ea typeface="DejaVu Sans"/>
              </a:rPr>
              <a:t>Secuencia proteica de LEPR </a:t>
            </a:r>
            <a:r>
              <a:rPr lang="es-ES_tradnl" sz="1800" b="0" i="1" strike="noStrike" spc="-1" dirty="0" err="1">
                <a:solidFill>
                  <a:srgbClr val="000000"/>
                </a:solidFill>
                <a:latin typeface="Aptos"/>
                <a:ea typeface="DejaVu Sans"/>
              </a:rPr>
              <a:t>wt</a:t>
            </a:r>
            <a:r>
              <a:rPr lang="es-ES_tradnl" sz="1800" b="0" strike="noStrike" spc="-1" dirty="0">
                <a:solidFill>
                  <a:srgbClr val="000000"/>
                </a:solidFill>
                <a:latin typeface="Aptos"/>
                <a:ea typeface="DejaVu Sans"/>
              </a:rPr>
              <a:t> y su variante.</a:t>
            </a:r>
            <a:endParaRPr lang="es-ES" sz="1800" b="0" strike="noStrike" spc="-1" dirty="0">
              <a:latin typeface="Arial"/>
            </a:endParaRPr>
          </a:p>
        </p:txBody>
      </p:sp>
      <p:sp>
        <p:nvSpPr>
          <p:cNvPr id="60" name="CustomShape 21"/>
          <p:cNvSpPr/>
          <p:nvPr/>
        </p:nvSpPr>
        <p:spPr>
          <a:xfrm>
            <a:off x="7065000" y="11592000"/>
            <a:ext cx="7406640" cy="63216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s-ES_tradnl" sz="1800" b="1" strike="noStrike" spc="-1" dirty="0">
                <a:solidFill>
                  <a:srgbClr val="4196C9"/>
                </a:solidFill>
                <a:latin typeface="Aptos"/>
                <a:ea typeface="DejaVu Sans"/>
              </a:rPr>
              <a:t>Figura 2. </a:t>
            </a:r>
            <a:r>
              <a:rPr lang="es-ES_tradnl" sz="1800" b="0" strike="noStrike" spc="-1" dirty="0">
                <a:solidFill>
                  <a:srgbClr val="000000"/>
                </a:solidFill>
                <a:latin typeface="Aptos"/>
                <a:ea typeface="DejaVu Sans"/>
              </a:rPr>
              <a:t>Alineamiento múltiple de MCR4 con CLUSTAL Omega.</a:t>
            </a:r>
            <a:endParaRPr lang="es-ES" sz="1800" b="0" strike="noStrike" spc="-1" dirty="0">
              <a:latin typeface="Arial"/>
            </a:endParaRPr>
          </a:p>
        </p:txBody>
      </p:sp>
      <p:graphicFrame>
        <p:nvGraphicFramePr>
          <p:cNvPr id="61" name="Table 22"/>
          <p:cNvGraphicFramePr/>
          <p:nvPr>
            <p:extLst>
              <p:ext uri="{D42A27DB-BD31-4B8C-83A1-F6EECF244321}">
                <p14:modId xmlns:p14="http://schemas.microsoft.com/office/powerpoint/2010/main" val="853382669"/>
              </p:ext>
            </p:extLst>
          </p:nvPr>
        </p:nvGraphicFramePr>
        <p:xfrm>
          <a:off x="207720" y="8313480"/>
          <a:ext cx="14436720" cy="3067200"/>
        </p:xfrm>
        <a:graphic>
          <a:graphicData uri="http://schemas.openxmlformats.org/drawingml/2006/table">
            <a:tbl>
              <a:tblPr/>
              <a:tblGrid>
                <a:gridCol w="528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4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0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46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56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03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287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1222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804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9550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93824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ES" sz="1200" b="1" u="sng" strike="noStrike" spc="-1" dirty="0">
                          <a:solidFill>
                            <a:srgbClr val="000000"/>
                          </a:solidFill>
                          <a:uFillTx/>
                          <a:latin typeface="Aptos"/>
                          <a:ea typeface="DejaVu Sans"/>
                        </a:rPr>
                        <a:t>Gen</a:t>
                      </a:r>
                      <a:endParaRPr lang="es-ES" sz="1200" b="0" strike="noStrike" spc="-1" dirty="0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1" u="sng" strike="noStrike" spc="-1">
                          <a:solidFill>
                            <a:srgbClr val="000000"/>
                          </a:solidFill>
                          <a:uFillTx/>
                          <a:latin typeface="Aptos"/>
                          <a:ea typeface="DejaVu Sans"/>
                        </a:rPr>
                        <a:t>Coordenada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1" u="sng" strike="noStrike" spc="-1">
                          <a:solidFill>
                            <a:srgbClr val="000000"/>
                          </a:solidFill>
                          <a:uFillTx/>
                          <a:latin typeface="Aptos"/>
                          <a:ea typeface="DejaVu Sans"/>
                        </a:rPr>
                        <a:t>Nomenclatura.c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1" u="sng" strike="noStrike" spc="-1">
                          <a:solidFill>
                            <a:srgbClr val="000000"/>
                          </a:solidFill>
                          <a:uFillTx/>
                          <a:latin typeface="Aptos"/>
                          <a:ea typeface="DejaVu Sans"/>
                        </a:rPr>
                        <a:t>Tipo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1" u="sng" strike="noStrike" spc="-1">
                          <a:solidFill>
                            <a:srgbClr val="000000"/>
                          </a:solidFill>
                          <a:uFillTx/>
                          <a:latin typeface="Aptos"/>
                          <a:ea typeface="DejaVu Sans"/>
                        </a:rPr>
                        <a:t>Genotipo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1" u="sng" strike="noStrike" spc="-1">
                          <a:solidFill>
                            <a:srgbClr val="000000"/>
                          </a:solidFill>
                          <a:uFillTx/>
                          <a:latin typeface="Aptos"/>
                          <a:ea typeface="DejaVu Sans"/>
                        </a:rPr>
                        <a:t>Frecuencia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1" u="sng" strike="noStrike" spc="-1">
                          <a:solidFill>
                            <a:srgbClr val="000000"/>
                          </a:solidFill>
                          <a:uFillTx/>
                          <a:latin typeface="Aptos"/>
                          <a:ea typeface="DejaVu Sans"/>
                        </a:rPr>
                        <a:t>Proteína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1" u="sng" strike="noStrike" spc="-1">
                          <a:solidFill>
                            <a:srgbClr val="000000"/>
                          </a:solidFill>
                          <a:uFillTx/>
                          <a:latin typeface="Aptos"/>
                          <a:ea typeface="DejaVu Sans"/>
                        </a:rPr>
                        <a:t>Nomenclatura.p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1" u="sng" strike="noStrike" spc="-1">
                          <a:solidFill>
                            <a:srgbClr val="000000"/>
                          </a:solidFill>
                          <a:uFillTx/>
                          <a:latin typeface="Aptos"/>
                          <a:ea typeface="DejaVu Sans"/>
                        </a:rPr>
                        <a:t>Efecto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1" u="sng" strike="noStrike" spc="-1">
                          <a:solidFill>
                            <a:srgbClr val="000000"/>
                          </a:solidFill>
                          <a:uFillTx/>
                          <a:latin typeface="Aptos"/>
                          <a:ea typeface="DejaVu Sans"/>
                        </a:rPr>
                        <a:t>SIFT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1" u="sng" strike="noStrike" spc="-1">
                          <a:solidFill>
                            <a:srgbClr val="000000"/>
                          </a:solidFill>
                          <a:uFillTx/>
                          <a:latin typeface="Aptos"/>
                          <a:ea typeface="DejaVu Sans"/>
                        </a:rPr>
                        <a:t>PolyPhen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1" u="sng" strike="noStrike" spc="-1">
                          <a:solidFill>
                            <a:srgbClr val="000000"/>
                          </a:solidFill>
                          <a:uFillTx/>
                          <a:latin typeface="Aptos"/>
                          <a:ea typeface="DejaVu Sans"/>
                        </a:rPr>
                        <a:t>MIM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1" u="sng" strike="noStrike" spc="-1">
                          <a:solidFill>
                            <a:srgbClr val="000000"/>
                          </a:solidFill>
                          <a:uFillTx/>
                          <a:latin typeface="Aptos"/>
                          <a:ea typeface="DejaVu Sans"/>
                        </a:rPr>
                        <a:t>Herencia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1" u="sng" strike="noStrike" spc="-1">
                          <a:solidFill>
                            <a:srgbClr val="000000"/>
                          </a:solidFill>
                          <a:uFillTx/>
                          <a:latin typeface="Aptos"/>
                          <a:ea typeface="DejaVu Sans"/>
                        </a:rPr>
                        <a:t>Pathway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ES" sz="1200" b="0" strike="noStrike" spc="-1" dirty="0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LEPR</a:t>
                      </a:r>
                      <a:endParaRPr lang="es-ES" sz="1200" b="0" strike="noStrike" spc="-1" dirty="0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 dirty="0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1:65609984</a:t>
                      </a:r>
                      <a:endParaRPr lang="es-ES" sz="1200" b="0" strike="noStrike" spc="-1" dirty="0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 dirty="0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ENST00000349533.11:c.1790del</a:t>
                      </a:r>
                      <a:endParaRPr lang="es-ES" sz="1200" b="0" strike="noStrike" spc="-1" dirty="0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Indel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heterocigoto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6.19 x 10-7 (mutación)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ENST00000349533.11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 dirty="0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ENSP00000330393.7:p.Ser597IlefsTer20</a:t>
                      </a:r>
                      <a:endParaRPr lang="es-ES" sz="1200" b="0" strike="noStrike" spc="-1" dirty="0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Frameshift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 dirty="0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-</a:t>
                      </a:r>
                      <a:endParaRPr lang="es-ES" sz="1200" b="0" strike="noStrike" spc="-1" dirty="0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-</a:t>
                      </a:r>
                      <a:endParaRPr lang="es-ES" sz="1200" b="0" strike="noStrike" spc="-1" dirty="0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 dirty="0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# 614963</a:t>
                      </a:r>
                      <a:endParaRPr lang="es-ES" sz="1200" b="0" strike="noStrike" spc="-1" dirty="0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Autosómico recesiva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Vías de señalización de adipocitocinas y hormonales de AMPK, JAK y STAT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ES" sz="1200" b="0" strike="noStrike" spc="-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MC4R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18:60371535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 dirty="0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ENST00000299766.5:c.815C&gt;A</a:t>
                      </a:r>
                      <a:endParaRPr lang="es-ES" sz="1200" b="0" strike="noStrike" spc="-1" dirty="0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 dirty="0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SNP</a:t>
                      </a:r>
                      <a:endParaRPr lang="es-ES" sz="1200" b="0" strike="noStrike" spc="-1" dirty="0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 dirty="0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heterocigoto</a:t>
                      </a:r>
                      <a:endParaRPr lang="es-ES" sz="1200" b="0" strike="noStrike" spc="-1" dirty="0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 dirty="0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6.195x10-7</a:t>
                      </a:r>
                      <a:endParaRPr lang="es-ES" sz="1200" b="0" strike="noStrike" spc="-1" dirty="0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 dirty="0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(mutación)</a:t>
                      </a:r>
                      <a:endParaRPr lang="es-ES" sz="1200" b="0" strike="noStrike" spc="-1" dirty="0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 dirty="0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ENST00000299766.5</a:t>
                      </a:r>
                      <a:endParaRPr lang="es-ES" sz="1200" b="0" strike="noStrike" spc="-1" dirty="0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ENSP00000299766.3:p.Pro272His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Missense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deleterious (0)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probably damaging (1)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 dirty="0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# 618406</a:t>
                      </a:r>
                      <a:endParaRPr lang="es-ES" sz="1200" b="0" strike="noStrike" spc="-1" dirty="0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00" b="0" strike="noStrike" spc="-1" dirty="0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Autosómico recesiva/</a:t>
                      </a: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00" b="0" strike="noStrike" spc="-1" dirty="0">
                          <a:solidFill>
                            <a:srgbClr val="000000"/>
                          </a:solidFill>
                          <a:latin typeface="Aptos"/>
                        </a:rPr>
                        <a:t>Autosómico Dominante</a:t>
                      </a:r>
                      <a:endParaRPr lang="es-ES" sz="1200" b="0" strike="noStrike" spc="-1" dirty="0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s-ES" sz="1200" b="0" strike="noStrike" spc="-1" dirty="0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Vía de señalización de la saciedad 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ES" sz="1200" b="0" strike="noStrike" spc="-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MED12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 dirty="0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X:71121046</a:t>
                      </a:r>
                      <a:endParaRPr lang="es-ES" sz="1200" b="0" strike="noStrike" spc="-1" dirty="0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 dirty="0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ENST00000374080.8:c.629C&gt;T</a:t>
                      </a:r>
                      <a:endParaRPr lang="es-ES" sz="1200" b="0" strike="noStrike" spc="-1" dirty="0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SNP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hemicigoto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4.553x10-6 (mutación)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 dirty="0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ENST00000374080.8</a:t>
                      </a:r>
                      <a:endParaRPr lang="es-ES" sz="1200" b="0" strike="noStrike" spc="-1" dirty="0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 dirty="0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ENSP00000363193.3:p.Ala210Val</a:t>
                      </a:r>
                      <a:endParaRPr lang="es-ES" sz="1200" b="0" strike="noStrike" spc="-1" dirty="0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 dirty="0" err="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Missense</a:t>
                      </a:r>
                      <a:endParaRPr lang="es-ES" sz="1200" b="0" strike="noStrike" spc="-1" dirty="0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deleterious low confidence (0.02)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benign (0.19)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 dirty="0">
                          <a:solidFill>
                            <a:srgbClr val="000000"/>
                          </a:solidFill>
                          <a:latin typeface="Aptos"/>
                          <a:ea typeface="+mn-ea"/>
                        </a:rPr>
                        <a:t># 305450</a:t>
                      </a:r>
                      <a:endParaRPr lang="es-ES" sz="1200" b="0" strike="noStrike" spc="-1" dirty="0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 dirty="0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Ligada al X recesiva</a:t>
                      </a: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Vía de señalización de la hormona tiroidea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ES" sz="1200" b="0" strike="noStrike" spc="-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TP53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17:7676154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ENST00000269305.9:c.215C&gt;T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SNP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heterocigoto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6.19 x 10-7 (mutación)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ENST00000269305.9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ENSP00000269305.4:p.Pro72Leu</a:t>
                      </a:r>
                      <a:endParaRPr lang="es-ES" sz="1200" b="0" strike="noStrike" spc="-1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 dirty="0" err="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Missense</a:t>
                      </a:r>
                      <a:endParaRPr lang="es-ES" sz="1200" b="0" strike="noStrike" spc="-1" dirty="0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 dirty="0" err="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tolerated</a:t>
                      </a:r>
                      <a:r>
                        <a:rPr lang="es-ES" sz="1200" b="0" strike="noStrike" spc="-1" dirty="0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 (0.13)</a:t>
                      </a:r>
                      <a:endParaRPr lang="es-ES" sz="1200" b="0" strike="noStrike" spc="-1" dirty="0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 dirty="0" err="1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benign</a:t>
                      </a:r>
                      <a:r>
                        <a:rPr lang="es-ES" sz="1200" b="0" strike="noStrike" spc="-1" dirty="0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 (0.003)</a:t>
                      </a:r>
                      <a:endParaRPr lang="es-ES" sz="1200" b="0" strike="noStrike" spc="-1" dirty="0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 dirty="0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# 151623</a:t>
                      </a:r>
                      <a:endParaRPr lang="es-ES" sz="1200" b="0" strike="noStrike" spc="-1" dirty="0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 dirty="0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Autosómica dominante</a:t>
                      </a:r>
                      <a:endParaRPr lang="es-ES" sz="1200" b="0" strike="noStrike" spc="-1" dirty="0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00" b="0" strike="noStrike" spc="-1" dirty="0">
                          <a:solidFill>
                            <a:srgbClr val="000000"/>
                          </a:solidFill>
                          <a:latin typeface="Aptos"/>
                          <a:ea typeface="DejaVu Sans"/>
                        </a:rPr>
                        <a:t>Ruta de lípidos y aterosclerosis</a:t>
                      </a:r>
                      <a:endParaRPr lang="es-ES" sz="1200" b="0" strike="noStrike" spc="-1" dirty="0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2" name="Imagen 64"/>
          <p:cNvPicPr/>
          <p:nvPr/>
        </p:nvPicPr>
        <p:blipFill>
          <a:blip r:embed="rId15"/>
          <a:stretch/>
        </p:blipFill>
        <p:spPr>
          <a:xfrm>
            <a:off x="6952320" y="12456000"/>
            <a:ext cx="7415640" cy="1434240"/>
          </a:xfrm>
          <a:prstGeom prst="rect">
            <a:avLst/>
          </a:prstGeom>
          <a:ln>
            <a:noFill/>
          </a:ln>
        </p:spPr>
      </p:pic>
      <p:sp>
        <p:nvSpPr>
          <p:cNvPr id="63" name="CustomShape 23"/>
          <p:cNvSpPr/>
          <p:nvPr/>
        </p:nvSpPr>
        <p:spPr>
          <a:xfrm>
            <a:off x="11448000" y="12312000"/>
            <a:ext cx="143640" cy="287640"/>
          </a:xfrm>
          <a:custGeom>
            <a:avLst/>
            <a:gdLst/>
            <a:ahLst/>
            <a:cxnLst/>
            <a:rect l="l" t="t" r="r" b="b"/>
            <a:pathLst>
              <a:path w="402" h="802">
                <a:moveTo>
                  <a:pt x="193" y="0"/>
                </a:moveTo>
                <a:lnTo>
                  <a:pt x="193" y="0"/>
                </a:lnTo>
                <a:lnTo>
                  <a:pt x="0" y="0"/>
                </a:lnTo>
                <a:lnTo>
                  <a:pt x="200" y="801"/>
                </a:lnTo>
                <a:lnTo>
                  <a:pt x="401" y="0"/>
                </a:lnTo>
                <a:lnTo>
                  <a:pt x="207" y="0"/>
                </a:lnTo>
                <a:lnTo>
                  <a:pt x="207" y="0"/>
                </a:lnTo>
                <a:lnTo>
                  <a:pt x="193" y="0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ES"/>
          </a:p>
        </p:txBody>
      </p:sp>
      <p:pic>
        <p:nvPicPr>
          <p:cNvPr id="64" name="Imagen 66"/>
          <p:cNvPicPr/>
          <p:nvPr/>
        </p:nvPicPr>
        <p:blipFill>
          <a:blip r:embed="rId16"/>
          <a:srcRect t="54155"/>
          <a:stretch/>
        </p:blipFill>
        <p:spPr>
          <a:xfrm>
            <a:off x="8064000" y="15120000"/>
            <a:ext cx="5399640" cy="2015640"/>
          </a:xfrm>
          <a:prstGeom prst="rect">
            <a:avLst/>
          </a:prstGeom>
          <a:ln>
            <a:noFill/>
          </a:ln>
        </p:spPr>
      </p:pic>
      <p:sp>
        <p:nvSpPr>
          <p:cNvPr id="65" name="CustomShape 24"/>
          <p:cNvSpPr/>
          <p:nvPr/>
        </p:nvSpPr>
        <p:spPr>
          <a:xfrm>
            <a:off x="7056000" y="14256000"/>
            <a:ext cx="7291080" cy="63216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s-ES_tradnl" sz="1800" b="1" strike="noStrike" spc="-1">
                <a:solidFill>
                  <a:srgbClr val="4196C9"/>
                </a:solidFill>
                <a:latin typeface="Aptos"/>
                <a:ea typeface="DejaVu Sans"/>
              </a:rPr>
              <a:t>Figura 3. </a:t>
            </a:r>
            <a:r>
              <a:rPr lang="es-ES_tradnl" sz="1800" b="0" strike="noStrike" spc="-1">
                <a:solidFill>
                  <a:srgbClr val="000000"/>
                </a:solidFill>
                <a:latin typeface="Aptos"/>
                <a:ea typeface="DejaVu Sans"/>
              </a:rPr>
              <a:t>Rutas metabolicas implicadas en MC4R en KEGG.</a:t>
            </a:r>
            <a:endParaRPr lang="es-ES" sz="1800" b="0" strike="noStrike" spc="-1">
              <a:latin typeface="Arial"/>
            </a:endParaRPr>
          </a:p>
        </p:txBody>
      </p:sp>
      <p:sp>
        <p:nvSpPr>
          <p:cNvPr id="66" name="CustomShape 25"/>
          <p:cNvSpPr/>
          <p:nvPr/>
        </p:nvSpPr>
        <p:spPr>
          <a:xfrm>
            <a:off x="8064000" y="17138520"/>
            <a:ext cx="5759640" cy="431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s-ES" sz="1500" b="0" strike="noStrike" spc="-1">
                <a:solidFill>
                  <a:srgbClr val="000000"/>
                </a:solidFill>
                <a:latin typeface="Arial"/>
                <a:ea typeface="DejaVu Sans"/>
              </a:rPr>
              <a:t>MC4R. Via de la señalización hormonal del AMP cíclico </a:t>
            </a:r>
            <a:endParaRPr lang="es-ES" sz="1500" b="0" strike="noStrike" spc="-1">
              <a:latin typeface="Arial"/>
            </a:endParaRPr>
          </a:p>
        </p:txBody>
      </p:sp>
      <p:pic>
        <p:nvPicPr>
          <p:cNvPr id="67" name="Imagen 1"/>
          <p:cNvPicPr/>
          <p:nvPr/>
        </p:nvPicPr>
        <p:blipFill>
          <a:blip r:embed="rId17"/>
          <a:srcRect l="16030" t="12976" r="35241" b="5276"/>
          <a:stretch/>
        </p:blipFill>
        <p:spPr>
          <a:xfrm>
            <a:off x="437040" y="12239640"/>
            <a:ext cx="5526360" cy="52153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Imagen 2" descr="Código QR&#10;&#10;El contenido generado por IA puede ser incorrecto.">
            <a:extLst>
              <a:ext uri="{FF2B5EF4-FFF2-40B4-BE49-F238E27FC236}">
                <a16:creationId xmlns:a16="http://schemas.microsoft.com/office/drawing/2014/main" id="{77ED0077-7CDA-5232-C64C-3CA3DBB9B7DD}"/>
              </a:ext>
            </a:extLst>
          </p:cNvPr>
          <p:cNvPicPr>
            <a:picLocks noChangeAspect="1"/>
          </p:cNvPicPr>
          <p:nvPr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1520" y="20296785"/>
            <a:ext cx="914400" cy="10666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361ecad-3f61-4749-aa5c-87fde47ef9ad}" enabled="1" method="Privileged" siteId="{22c8b4a4-d926-43b2-bcc7-87b998590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374</TotalTime>
  <Words>691</Words>
  <Application>Microsoft Macintosh PowerPoint</Application>
  <PresentationFormat>Personalizado</PresentationFormat>
  <Paragraphs>92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Arial</vt:lpstr>
      <vt:lpstr>Symbol</vt:lpstr>
      <vt:lpstr>Wingdings</vt:lpstr>
      <vt:lpstr>Office Theme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Victor  de la O Pascual</dc:creator>
  <dc:description/>
  <cp:lastModifiedBy>Pedro García</cp:lastModifiedBy>
  <cp:revision>46</cp:revision>
  <dcterms:created xsi:type="dcterms:W3CDTF">2025-04-21T10:03:24Z</dcterms:created>
  <dcterms:modified xsi:type="dcterms:W3CDTF">2026-02-01T22:04:56Z</dcterms:modified>
  <dc:language>es-ES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ntentTypeId">
    <vt:lpwstr>0x010100DF3D7C797EA12745A270EF30E38719B9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MediaServiceImageTags">
    <vt:lpwstr/>
  </property>
  <property fmtid="{D5CDD505-2E9C-101B-9397-08002B2CF9AE}" pid="9" name="Notes">
    <vt:i4>0</vt:i4>
  </property>
  <property fmtid="{D5CDD505-2E9C-101B-9397-08002B2CF9AE}" pid="10" name="PresentationFormat">
    <vt:lpwstr>Personalizado</vt:lpwstr>
  </property>
  <property fmtid="{D5CDD505-2E9C-101B-9397-08002B2CF9AE}" pid="11" name="ScaleCrop">
    <vt:bool>false</vt:bool>
  </property>
  <property fmtid="{D5CDD505-2E9C-101B-9397-08002B2CF9AE}" pid="12" name="ShareDoc">
    <vt:bool>false</vt:bool>
  </property>
  <property fmtid="{D5CDD505-2E9C-101B-9397-08002B2CF9AE}" pid="13" name="Slides">
    <vt:i4>1</vt:i4>
  </property>
</Properties>
</file>