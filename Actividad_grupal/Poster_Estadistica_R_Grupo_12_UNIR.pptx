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7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11"/>
    <p:restoredTop sz="94703"/>
  </p:normalViewPr>
  <p:slideViewPr>
    <p:cSldViewPr snapToGrid="0">
      <p:cViewPr>
        <p:scale>
          <a:sx n="81" d="100"/>
          <a:sy n="81" d="100"/>
        </p:scale>
        <p:origin x="379" y="-26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24/01/2026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41A3D-E56A-6A90-DD91-76A3ADF8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5C953506-346C-A8BF-67B5-F34567C6BC6E}"/>
              </a:ext>
            </a:extLst>
          </p:cNvPr>
          <p:cNvGrpSpPr/>
          <p:nvPr/>
        </p:nvGrpSpPr>
        <p:grpSpPr>
          <a:xfrm>
            <a:off x="207596" y="7403672"/>
            <a:ext cx="14668990" cy="9665128"/>
            <a:chOff x="225180" y="8290675"/>
            <a:chExt cx="14668990" cy="9665128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C870726C-A1BB-2615-E2FF-5658152644CA}"/>
                </a:ext>
              </a:extLst>
            </p:cNvPr>
            <p:cNvSpPr/>
            <p:nvPr/>
          </p:nvSpPr>
          <p:spPr>
            <a:xfrm>
              <a:off x="225180" y="8607197"/>
              <a:ext cx="14668990" cy="9348606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43F36DFC-F638-779B-0878-B5E8AD53AD3E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5FCC48C4-680E-DC53-FF73-95EB091356FB}"/>
              </a:ext>
            </a:extLst>
          </p:cNvPr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FEB7D3ED-CF02-C938-2FA1-39EE97AC2AA9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sz="1700" dirty="0">
                  <a:solidFill>
                    <a:schemeClr val="tx1"/>
                  </a:solidFill>
                </a:rPr>
                <a:t>La obesidad es un importante problema de salud pública con un alto componente genético, pero puede verse influenciado por otros factores sociodemográficos o conductuales, y pueden identificarse mediante su análisis con el modelo de regresión logística.</a:t>
              </a:r>
              <a:endParaRPr lang="es-ES" sz="17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r>
                <a:rPr lang="es-ES" sz="1700" i="1" dirty="0">
                  <a:solidFill>
                    <a:schemeClr val="tx1"/>
                  </a:solidFill>
                </a:rPr>
                <a:t>El objetivo de este estudio es conocer que factores y con que probabilidad influyen en la condición de obesidad en diversos personajes de Los </a:t>
              </a:r>
              <a:r>
                <a:rPr lang="es-ES" sz="1700" i="1" dirty="0" err="1">
                  <a:solidFill>
                    <a:schemeClr val="tx1"/>
                  </a:solidFill>
                </a:rPr>
                <a:t>Simpsons</a:t>
              </a:r>
              <a:r>
                <a:rPr lang="es-ES" sz="1700" i="1" dirty="0">
                  <a:solidFill>
                    <a:schemeClr val="tx1"/>
                  </a:solidFill>
                </a:rPr>
                <a:t>.</a:t>
              </a:r>
              <a:endParaRPr lang="es-ES_tradnl" sz="17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3945C9BD-E878-C904-BB12-F0BA2D1763CA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7B23F5A3-8FA4-BB38-32D0-0ECAD0F925F2}"/>
              </a:ext>
            </a:extLst>
          </p:cNvPr>
          <p:cNvGrpSpPr/>
          <p:nvPr/>
        </p:nvGrpSpPr>
        <p:grpSpPr>
          <a:xfrm>
            <a:off x="207596" y="5235817"/>
            <a:ext cx="14668990" cy="1992925"/>
            <a:chOff x="207596" y="6110487"/>
            <a:chExt cx="14668990" cy="1992925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CB14F1FF-25D2-FA75-CD9F-A24420348853}"/>
                </a:ext>
              </a:extLst>
            </p:cNvPr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F33D0645-E9FA-A931-364E-3210E3E69D6A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20BD9571-E0A9-AB44-7B64-0F522BA4288F}"/>
              </a:ext>
            </a:extLst>
          </p:cNvPr>
          <p:cNvGrpSpPr/>
          <p:nvPr/>
        </p:nvGrpSpPr>
        <p:grpSpPr>
          <a:xfrm>
            <a:off x="225181" y="17303689"/>
            <a:ext cx="9095800" cy="3844742"/>
            <a:chOff x="225181" y="17303689"/>
            <a:chExt cx="9095800" cy="3844742"/>
          </a:xfrm>
        </p:grpSpPr>
        <p:sp>
          <p:nvSpPr>
            <p:cNvPr id="22" name="Rectángulo redondeado 21">
              <a:extLst>
                <a:ext uri="{FF2B5EF4-FFF2-40B4-BE49-F238E27FC236}">
                  <a16:creationId xmlns:a16="http://schemas.microsoft.com/office/drawing/2014/main" id="{381B9892-98E6-4609-C6F1-567DBF51A163}"/>
                </a:ext>
              </a:extLst>
            </p:cNvPr>
            <p:cNvSpPr/>
            <p:nvPr/>
          </p:nvSpPr>
          <p:spPr>
            <a:xfrm>
              <a:off x="225181" y="17620211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23" name="Rectángulo redondeado 22">
              <a:extLst>
                <a:ext uri="{FF2B5EF4-FFF2-40B4-BE49-F238E27FC236}">
                  <a16:creationId xmlns:a16="http://schemas.microsoft.com/office/drawing/2014/main" id="{A2D4C693-7BBD-E0C1-588A-41A91139D35B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23B4F90-B675-90D5-3A62-801C71241135}"/>
              </a:ext>
            </a:extLst>
          </p:cNvPr>
          <p:cNvGrpSpPr/>
          <p:nvPr/>
        </p:nvGrpSpPr>
        <p:grpSpPr>
          <a:xfrm>
            <a:off x="9527458" y="17303689"/>
            <a:ext cx="5366712" cy="3844742"/>
            <a:chOff x="7784856" y="17303689"/>
            <a:chExt cx="7109314" cy="3844742"/>
          </a:xfrm>
        </p:grpSpPr>
        <p:sp>
          <p:nvSpPr>
            <p:cNvPr id="24" name="Rectángulo redondeado 23">
              <a:extLst>
                <a:ext uri="{FF2B5EF4-FFF2-40B4-BE49-F238E27FC236}">
                  <a16:creationId xmlns:a16="http://schemas.microsoft.com/office/drawing/2014/main" id="{C0FDA565-7231-A04B-604B-CBBA360FA2A9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0097D6A2-C865-70C9-C895-A45D8FA392DF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70274CC9-2241-1244-4118-364EC63C3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8F6A5FD5-7463-A593-72C7-F0E4EB28502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E58BDFA-8AF2-7019-7FBC-D37E50AE4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AE74DE59-F695-8E93-09D0-A92C58D17992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A8921268-A726-C96C-B743-206883618C91}"/>
              </a:ext>
            </a:extLst>
          </p:cNvPr>
          <p:cNvSpPr/>
          <p:nvPr/>
        </p:nvSpPr>
        <p:spPr>
          <a:xfrm>
            <a:off x="677955" y="1320342"/>
            <a:ext cx="13763441" cy="1981203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_tradnl" sz="4000" b="1" dirty="0">
                <a:solidFill>
                  <a:schemeClr val="bg1"/>
                </a:solidFill>
              </a:rPr>
              <a:t>Análisis descriptivos de poblaciones fenotípicas </a:t>
            </a:r>
          </a:p>
          <a:p>
            <a:pPr algn="ctr">
              <a:lnSpc>
                <a:spcPct val="80000"/>
              </a:lnSpc>
            </a:pPr>
            <a:r>
              <a:rPr lang="es-ES_tradnl" sz="2800" b="1" i="1" dirty="0">
                <a:solidFill>
                  <a:schemeClr val="bg1"/>
                </a:solidFill>
              </a:rPr>
              <a:t>Estadística y R para Ciencias de la Salud</a:t>
            </a:r>
            <a:endParaRPr lang="es-ES_tradnl" sz="3600" b="1" i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000" b="1" i="1" dirty="0">
                <a:solidFill>
                  <a:schemeClr val="bg1"/>
                </a:solidFill>
              </a:rPr>
              <a:t>Víctor de la O, Edwin Fernández-Cruz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6E043BC-62DC-A50A-F677-84121C77150E}"/>
              </a:ext>
            </a:extLst>
          </p:cNvPr>
          <p:cNvSpPr txBox="1"/>
          <p:nvPr/>
        </p:nvSpPr>
        <p:spPr>
          <a:xfrm>
            <a:off x="3785136" y="244115"/>
            <a:ext cx="8168971" cy="76944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4400" b="1" dirty="0">
                <a:solidFill>
                  <a:schemeClr val="bg1"/>
                </a:solidFill>
              </a:rPr>
              <a:t>EJEMPLO DE PÓSTER</a:t>
            </a:r>
          </a:p>
        </p:txBody>
      </p:sp>
      <p:sp>
        <p:nvSpPr>
          <p:cNvPr id="1036" name="Rectángulo redondeado 1035">
            <a:extLst>
              <a:ext uri="{FF2B5EF4-FFF2-40B4-BE49-F238E27FC236}">
                <a16:creationId xmlns:a16="http://schemas.microsoft.com/office/drawing/2014/main" id="{AFAF9801-11D6-F874-E9A8-A3E0E4590764}"/>
              </a:ext>
            </a:extLst>
          </p:cNvPr>
          <p:cNvSpPr/>
          <p:nvPr/>
        </p:nvSpPr>
        <p:spPr>
          <a:xfrm>
            <a:off x="518258" y="8158328"/>
            <a:ext cx="6692011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1. </a:t>
            </a:r>
            <a:r>
              <a:rPr kumimoji="0" lang="es-ES_trad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Biplot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de contribución de los genes en la variabilidad total</a:t>
            </a:r>
          </a:p>
        </p:txBody>
      </p:sp>
      <p:sp>
        <p:nvSpPr>
          <p:cNvPr id="1037" name="Rectángulo redondeado 1036">
            <a:extLst>
              <a:ext uri="{FF2B5EF4-FFF2-40B4-BE49-F238E27FC236}">
                <a16:creationId xmlns:a16="http://schemas.microsoft.com/office/drawing/2014/main" id="{60842445-E351-8E63-2B2D-F06DA2DB4243}"/>
              </a:ext>
            </a:extLst>
          </p:cNvPr>
          <p:cNvSpPr/>
          <p:nvPr/>
        </p:nvSpPr>
        <p:spPr>
          <a:xfrm>
            <a:off x="518258" y="11923663"/>
            <a:ext cx="6692011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3. </a:t>
            </a:r>
            <a:r>
              <a:rPr lang="es-ES_tradnl" dirty="0">
                <a:solidFill>
                  <a:prstClr val="black"/>
                </a:solidFill>
                <a:latin typeface="Aptos" panose="02110004020202020204"/>
              </a:rPr>
              <a:t>H</a:t>
            </a:r>
            <a:r>
              <a:rPr kumimoji="0" lang="es-ES_trad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eatmap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expresión génica estandarizada.</a:t>
            </a:r>
          </a:p>
        </p:txBody>
      </p:sp>
      <p:sp>
        <p:nvSpPr>
          <p:cNvPr id="1038" name="Rectángulo redondeado 1037">
            <a:extLst>
              <a:ext uri="{FF2B5EF4-FFF2-40B4-BE49-F238E27FC236}">
                <a16:creationId xmlns:a16="http://schemas.microsoft.com/office/drawing/2014/main" id="{20F2FDA8-F2AE-8EC6-EFD0-E92D4FCAEDFB}"/>
              </a:ext>
            </a:extLst>
          </p:cNvPr>
          <p:cNvSpPr/>
          <p:nvPr/>
        </p:nvSpPr>
        <p:spPr>
          <a:xfrm>
            <a:off x="7697422" y="11923663"/>
            <a:ext cx="6692011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4. 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Tabla con resultados del modelo Regresión Logística para la obesidad con Ors, Intervalos de Confianza y p-</a:t>
            </a:r>
            <a:r>
              <a:rPr kumimoji="0" lang="es-ES_trad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value</a:t>
            </a:r>
            <a:r>
              <a:rPr lang="es-ES_tradnl" dirty="0">
                <a:solidFill>
                  <a:prstClr val="black"/>
                </a:solidFill>
                <a:latin typeface="Aptos" panose="02110004020202020204"/>
              </a:rPr>
              <a:t>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D6B0DE1-9E0D-CFEC-4CC9-B51B14596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54" y="8830797"/>
            <a:ext cx="4762264" cy="293899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EF891C3-A310-5B4E-2E56-6CE24AA7E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61" y="13101550"/>
            <a:ext cx="5104968" cy="315049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1E188D1B-ABD1-B0DC-5BA3-55A264A8A2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467" y="12556709"/>
            <a:ext cx="5502898" cy="4512091"/>
          </a:xfrm>
          <a:prstGeom prst="rect">
            <a:avLst/>
          </a:prstGeom>
        </p:spPr>
      </p:pic>
      <p:sp>
        <p:nvSpPr>
          <p:cNvPr id="29" name="Rectángulo redondeado 1035">
            <a:extLst>
              <a:ext uri="{FF2B5EF4-FFF2-40B4-BE49-F238E27FC236}">
                <a16:creationId xmlns:a16="http://schemas.microsoft.com/office/drawing/2014/main" id="{084848F6-BB5B-EB99-7FF1-B665F21541D9}"/>
              </a:ext>
            </a:extLst>
          </p:cNvPr>
          <p:cNvSpPr/>
          <p:nvPr/>
        </p:nvSpPr>
        <p:spPr>
          <a:xfrm>
            <a:off x="7697421" y="8158328"/>
            <a:ext cx="6692011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2. </a:t>
            </a:r>
            <a:r>
              <a:rPr kumimoji="0" lang="es-ES_trad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Clustering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jerárquico basado en los primeros 6 </a:t>
            </a:r>
            <a:r>
              <a:rPr kumimoji="0" lang="es-ES_trad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PCAs</a:t>
            </a:r>
            <a:r>
              <a:rPr kumimoji="0" lang="es-ES_trad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864139C9-7CC7-86E7-366B-44C35DEBE8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5972" y="8929900"/>
            <a:ext cx="4626542" cy="285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02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E4AC05-6E48-496A-9B4A-D9E0A45171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FF8D81-72FC-452A-A72A-98522D59D5C9}">
  <ds:schemaRefs>
    <ds:schemaRef ds:uri="http://schemas.microsoft.com/office/2006/metadata/properties"/>
    <ds:schemaRef ds:uri="http://schemas.microsoft.com/office/infopath/2007/PartnerControls"/>
    <ds:schemaRef ds:uri="27c1adeb-3674-457c-b08c-8a73f31b6e23"/>
    <ds:schemaRef ds:uri="0a70e875-3d35-4be2-921f-7117c31bab9b"/>
  </ds:schemaRefs>
</ds:datastoreItem>
</file>

<file path=customXml/itemProps3.xml><?xml version="1.0" encoding="utf-8"?>
<ds:datastoreItem xmlns:ds="http://schemas.openxmlformats.org/officeDocument/2006/customXml" ds:itemID="{8FA9EA36-75B9-47E0-B3F6-D548E75A2A5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149</Words>
  <Application>Microsoft Office PowerPoint</Application>
  <PresentationFormat>Personalizado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 de la O Pascual</dc:creator>
  <cp:lastModifiedBy>Pedro Manuel Rodriguez Santos</cp:lastModifiedBy>
  <cp:revision>21</cp:revision>
  <dcterms:created xsi:type="dcterms:W3CDTF">2025-04-21T10:03:24Z</dcterms:created>
  <dcterms:modified xsi:type="dcterms:W3CDTF">2026-01-24T16:37:36Z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