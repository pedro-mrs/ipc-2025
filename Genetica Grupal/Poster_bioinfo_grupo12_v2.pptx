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8" r:id="rId5"/>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3BFF41-FF3B-2142-A639-F2594708F882}" v="1" dt="2026-01-31T17:37:51.502"/>
    <p1510:client id="{B8D23FC1-9A01-4C43-810D-B206853D1915}" v="4" dt="2026-02-01T11:11:47.4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91"/>
    <p:restoredTop sz="94635"/>
  </p:normalViewPr>
  <p:slideViewPr>
    <p:cSldViewPr snapToGrid="0">
      <p:cViewPr>
        <p:scale>
          <a:sx n="90" d="100"/>
          <a:sy n="90" d="100"/>
        </p:scale>
        <p:origin x="1568" y="-4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 Norniella Jamart" userId="92dcd70e170e53a7" providerId="LiveId" clId="{963EB8FB-3F3D-597D-A817-5FBE33DBCB47}"/>
    <pc:docChg chg="undo redo custSel addSld delSld modSld">
      <pc:chgData name="Paula Norniella Jamart" userId="92dcd70e170e53a7" providerId="LiveId" clId="{963EB8FB-3F3D-597D-A817-5FBE33DBCB47}" dt="2026-02-01T11:11:50.592" v="2294"/>
      <pc:docMkLst>
        <pc:docMk/>
      </pc:docMkLst>
      <pc:sldChg chg="del">
        <pc:chgData name="Paula Norniella Jamart" userId="92dcd70e170e53a7" providerId="LiveId" clId="{963EB8FB-3F3D-597D-A817-5FBE33DBCB47}" dt="2026-01-31T19:38:55.616" v="710" actId="2696"/>
        <pc:sldMkLst>
          <pc:docMk/>
          <pc:sldMk cId="3205397241" sldId="256"/>
        </pc:sldMkLst>
      </pc:sldChg>
      <pc:sldChg chg="add del">
        <pc:chgData name="Paula Norniella Jamart" userId="92dcd70e170e53a7" providerId="LiveId" clId="{963EB8FB-3F3D-597D-A817-5FBE33DBCB47}" dt="2026-01-31T19:39:52.597" v="714" actId="2696"/>
        <pc:sldMkLst>
          <pc:docMk/>
          <pc:sldMk cId="220350250" sldId="257"/>
        </pc:sldMkLst>
      </pc:sldChg>
      <pc:sldChg chg="addSp delSp modSp mod">
        <pc:chgData name="Paula Norniella Jamart" userId="92dcd70e170e53a7" providerId="LiveId" clId="{963EB8FB-3F3D-597D-A817-5FBE33DBCB47}" dt="2026-02-01T11:11:50.592" v="2294"/>
        <pc:sldMkLst>
          <pc:docMk/>
          <pc:sldMk cId="4045999932" sldId="258"/>
        </pc:sldMkLst>
        <pc:spChg chg="mod">
          <ac:chgData name="Paula Norniella Jamart" userId="92dcd70e170e53a7" providerId="LiveId" clId="{963EB8FB-3F3D-597D-A817-5FBE33DBCB47}" dt="2026-01-31T17:37:51.502" v="86"/>
          <ac:spMkLst>
            <pc:docMk/>
            <pc:sldMk cId="4045999932" sldId="258"/>
            <ac:spMk id="3" creationId="{70138B42-E335-E05D-E193-37141538289E}"/>
          </ac:spMkLst>
        </pc:spChg>
        <pc:spChg chg="mod">
          <ac:chgData name="Paula Norniella Jamart" userId="92dcd70e170e53a7" providerId="LiveId" clId="{963EB8FB-3F3D-597D-A817-5FBE33DBCB47}" dt="2026-01-31T17:51:16.991" v="709" actId="20577"/>
          <ac:spMkLst>
            <pc:docMk/>
            <pc:sldMk cId="4045999932" sldId="258"/>
            <ac:spMk id="8" creationId="{C4D1F524-44A5-F16E-9FD3-EE5EA5819EAD}"/>
          </ac:spMkLst>
        </pc:spChg>
        <pc:spChg chg="add del mod">
          <ac:chgData name="Paula Norniella Jamart" userId="92dcd70e170e53a7" providerId="LiveId" clId="{963EB8FB-3F3D-597D-A817-5FBE33DBCB47}" dt="2026-02-01T11:11:50.592" v="2294"/>
          <ac:spMkLst>
            <pc:docMk/>
            <pc:sldMk cId="4045999932" sldId="258"/>
            <ac:spMk id="10" creationId="{A1CEC5B7-70CF-A942-8812-E3A057714E55}"/>
          </ac:spMkLst>
        </pc:spChg>
        <pc:spChg chg="mod">
          <ac:chgData name="Paula Norniella Jamart" userId="92dcd70e170e53a7" providerId="LiveId" clId="{963EB8FB-3F3D-597D-A817-5FBE33DBCB47}" dt="2026-02-01T11:05:30.775" v="1864" actId="20577"/>
          <ac:spMkLst>
            <pc:docMk/>
            <pc:sldMk cId="4045999932" sldId="258"/>
            <ac:spMk id="34" creationId="{1B34C5B1-3A9B-391B-803D-711026F44639}"/>
          </ac:spMkLst>
        </pc:spChg>
        <pc:spChg chg="mod">
          <ac:chgData name="Paula Norniella Jamart" userId="92dcd70e170e53a7" providerId="LiveId" clId="{963EB8FB-3F3D-597D-A817-5FBE33DBCB47}" dt="2026-02-01T11:10:24.734" v="2291" actId="20577"/>
          <ac:spMkLst>
            <pc:docMk/>
            <pc:sldMk cId="4045999932" sldId="258"/>
            <ac:spMk id="37" creationId="{367F38DE-6476-4ED5-51AD-7070BD6A603F}"/>
          </ac:spMkLst>
        </pc:spChg>
        <pc:grpChg chg="mod">
          <ac:chgData name="Paula Norniella Jamart" userId="92dcd70e170e53a7" providerId="LiveId" clId="{963EB8FB-3F3D-597D-A817-5FBE33DBCB47}" dt="2026-02-01T11:03:30.967" v="1514" actId="1076"/>
          <ac:grpSpMkLst>
            <pc:docMk/>
            <pc:sldMk cId="4045999932" sldId="258"/>
            <ac:grpSpMk id="36" creationId="{7CDA7380-1384-C476-FC20-7A4A09E7B7FE}"/>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1/2/26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1/2/26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1/2/26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1/2/26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1/2/26</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1/2/26</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1/2/26</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1/2/26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1/2/26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1/2/26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1/2/26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1/2/26</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Según la OMS, la obesidad se define como una acumulación excesiva de grasa corporal, relacionada con el aumento de problemas graves de salud y enfermedades crónicas. Debido al gran problema de salud pública que esto conlleva, se han recogido muestras de diferentes miembros de la familia Simpson para analizar la posible relación de esta patología con alteraciones a nivel genético y </a:t>
              </a:r>
              <a:r>
                <a:rPr lang="es-ES_tradnl" i="1">
                  <a:solidFill>
                    <a:schemeClr val="tx1"/>
                  </a:solidFill>
                </a:rPr>
                <a:t>sus consecuencias.</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169142"/>
            <a:ext cx="14668990" cy="1992925"/>
            <a:chOff x="207596" y="6110487"/>
            <a:chExt cx="14668990" cy="1992925"/>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7640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Descripción de la metodología aplicada 4-5 líneas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Visualización de gráficos correspondientes</a:t>
              </a: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Anotación e interpretación de variantes</a:t>
            </a:r>
          </a:p>
          <a:p>
            <a:pPr algn="ctr">
              <a:lnSpc>
                <a:spcPct val="80000"/>
              </a:lnSpc>
            </a:pPr>
            <a:r>
              <a:rPr lang="es-ES_tradnl" sz="2800" b="1" i="1" dirty="0">
                <a:solidFill>
                  <a:schemeClr val="bg1"/>
                </a:solidFill>
              </a:rPr>
              <a:t>Genética clínica y de poblaciones</a:t>
            </a:r>
            <a:endParaRPr lang="es-ES_tradnl" sz="3600" b="1" i="1" dirty="0">
              <a:solidFill>
                <a:schemeClr val="bg1"/>
              </a:solidFill>
            </a:endParaRPr>
          </a:p>
          <a:p>
            <a:pPr algn="ctr">
              <a:lnSpc>
                <a:spcPct val="80000"/>
              </a:lnSpc>
            </a:pPr>
            <a:r>
              <a:rPr lang="es-ES_tradnl" sz="2000" b="1" i="1" spc="-1" dirty="0">
                <a:solidFill>
                  <a:srgbClr val="FFFFFF"/>
                </a:solidFill>
                <a:ea typeface="DejaVu Sans"/>
              </a:rPr>
              <a:t>Paula Damián Moral - Paula Sofía Norniella Jamart - Pedro García Sáez - Pedro Manuel Rodríguez Santos - Pilar Navarro Sánchez - Rubén Martín Blázquez </a:t>
            </a:r>
            <a:endParaRPr lang="es-ES" sz="2000" spc="-1" dirty="0">
              <a:latin typeface="Arial"/>
            </a:endParaRP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303689"/>
            <a:ext cx="9095800" cy="3844742"/>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Maggie: en el gen receptor de leptina (LEPR) se identificó una deleción del cromosoma 1, derivando en un cambio en la pauta de lectura generando una proteína de menor tamaño. Debido a esta pérdida, desaparecen dominios necesarios para activar vías de señalización, evitando que se procesen adecuadamente las señales de la hormona leptina (encargada de disminuir la ingesta y aumentar el consumo de energía).</a:t>
              </a:r>
            </a:p>
            <a:p>
              <a:pPr algn="just">
                <a:lnSpc>
                  <a:spcPct val="80000"/>
                </a:lnSpc>
              </a:pPr>
              <a:r>
                <a:rPr lang="es-ES_tradnl" i="1" dirty="0">
                  <a:solidFill>
                    <a:schemeClr val="tx1"/>
                  </a:solidFill>
                </a:rPr>
                <a:t>Abraham: la mutación se encuentra en MC4R, por un cambio de sentido tipo SNP. Esta alteración es altamente patogénica, afectando a un aminoácido altamente conservado evolutivamente. Como consecuencia, se altera la homeostasis energética y el control del apetito a nivel hipotalámico, bloqueando una serie de marcadores que detienen las señales de saciedad y derivando en la característica hiperfagia típica de pacientes con obesidad monogénica.</a:t>
              </a:r>
            </a:p>
            <a:p>
              <a:pPr algn="just">
                <a:lnSpc>
                  <a:spcPct val="80000"/>
                </a:lnSpc>
              </a:pPr>
              <a:r>
                <a:rPr lang="es-ES_tradnl" i="1" dirty="0">
                  <a:solidFill>
                    <a:schemeClr val="tx1"/>
                  </a:solidFill>
                </a:rPr>
                <a:t>Ambos presentan mutaciones en los genes MED12 y TP53 y, aunque TP53 pueda tener implicación en rutas metabólicas de lípidos, no se consideran mutaciones patogénicas por presentarse en regiones poco conservadas. </a:t>
              </a: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7303689"/>
            <a:ext cx="5366712" cy="3844742"/>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Tras los análisis pertinentes en los pacientes seleccionados, se concluye que la obesidad que puedan presentar está estrechamente relacionada con mutaciones en los genes LEPR (Maggie) y MC4R (Abraham). </a:t>
              </a:r>
            </a:p>
            <a:p>
              <a:pPr algn="just">
                <a:lnSpc>
                  <a:spcPct val="80000"/>
                </a:lnSpc>
              </a:pPr>
              <a:r>
                <a:rPr lang="es-ES_tradnl" i="1" dirty="0">
                  <a:solidFill>
                    <a:schemeClr val="tx1"/>
                  </a:solidFill>
                </a:rPr>
                <a:t>Por otro lado, mutaciones que comparten ambos en los genes MED12 y TP53, no se consideran patogénicas ni se observa relación con el fenotipo observado.</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500673" y="8930920"/>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40" name="Rectángulo redondeado 39">
            <a:extLst>
              <a:ext uri="{FF2B5EF4-FFF2-40B4-BE49-F238E27FC236}">
                <a16:creationId xmlns:a16="http://schemas.microsoft.com/office/drawing/2014/main" id="{3F03464F-6AD8-145A-F4F0-58880920BB73}"/>
              </a:ext>
            </a:extLst>
          </p:cNvPr>
          <p:cNvSpPr/>
          <p:nvPr/>
        </p:nvSpPr>
        <p:spPr>
          <a:xfrm>
            <a:off x="518258" y="9799765"/>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518258" y="10660249"/>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Tree>
    <p:extLst>
      <p:ext uri="{BB962C8B-B14F-4D97-AF65-F5344CB8AC3E}">
        <p14:creationId xmlns:p14="http://schemas.microsoft.com/office/powerpoint/2010/main" val="404599993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5B638B7-22B7-4D35-BE84-714C8C34C119}">
  <ds:schemaRefs>
    <ds:schemaRef ds:uri="http://schemas.microsoft.com/sharepoint/v3/contenttype/forms"/>
  </ds:schemaRefs>
</ds:datastoreItem>
</file>

<file path=customXml/itemProps2.xml><?xml version="1.0" encoding="utf-8"?>
<ds:datastoreItem xmlns:ds="http://schemas.openxmlformats.org/officeDocument/2006/customXml" ds:itemID="{5CBD36D8-5209-415C-A4C4-4F318B167F44}">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customXml/itemProps3.xml><?xml version="1.0" encoding="utf-8"?>
<ds:datastoreItem xmlns:ds="http://schemas.openxmlformats.org/officeDocument/2006/customXml" ds:itemID="{56214829-4D9F-4687-8E37-8FF1875CAB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361ecad-3f61-4749-aa5c-87fde47ef9ad}" enabled="1" method="Privileged" siteId="{22c8b4a4-d926-43b2-bcc7-87b998590b47}" removed="0"/>
</clbl:labelList>
</file>

<file path=docProps/app.xml><?xml version="1.0" encoding="utf-8"?>
<Properties xmlns="http://schemas.openxmlformats.org/officeDocument/2006/extended-properties" xmlns:vt="http://schemas.openxmlformats.org/officeDocument/2006/docPropsVTypes">
  <Template>Office Theme</Template>
  <TotalTime>109</TotalTime>
  <Words>375</Words>
  <Application>Microsoft Macintosh PowerPoint</Application>
  <PresentationFormat>Personalizado</PresentationFormat>
  <Paragraphs>19</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Aptos</vt:lpstr>
      <vt:lpstr>Aptos Display</vt:lpstr>
      <vt:lpstr>Arial</vt:lpstr>
      <vt:lpstr>DejaVu Sans</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de la O Pascual</dc:creator>
  <cp:lastModifiedBy>Paula Norniella Jamart</cp:lastModifiedBy>
  <cp:revision>12</cp:revision>
  <dcterms:created xsi:type="dcterms:W3CDTF">2025-04-21T10:03:24Z</dcterms:created>
  <dcterms:modified xsi:type="dcterms:W3CDTF">2026-02-01T11:11:57Z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