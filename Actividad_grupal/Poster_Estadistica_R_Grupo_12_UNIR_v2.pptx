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57" r:id="rId5"/>
  </p:sldIdLst>
  <p:sldSz cx="15119350" cy="2138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96C9"/>
    <a:srgbClr val="59C2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11"/>
    <p:restoredTop sz="94703"/>
  </p:normalViewPr>
  <p:slideViewPr>
    <p:cSldViewPr snapToGrid="0">
      <p:cViewPr>
        <p:scale>
          <a:sx n="66" d="100"/>
          <a:sy n="66" d="100"/>
        </p:scale>
        <p:origin x="1094" y="-52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3499590"/>
            <a:ext cx="12851448" cy="7444669"/>
          </a:xfrm>
        </p:spPr>
        <p:txBody>
          <a:bodyPr anchor="b"/>
          <a:lstStyle>
            <a:lvl1pPr algn="ctr">
              <a:defRPr sz="992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</p:spPr>
        <p:txBody>
          <a:bodyPr/>
          <a:lstStyle>
            <a:lvl1pPr marL="0" indent="0" algn="ctr">
              <a:buNone/>
              <a:defRPr sz="3968"/>
            </a:lvl1pPr>
            <a:lvl2pPr marL="755980" indent="0" algn="ctr">
              <a:buNone/>
              <a:defRPr sz="3307"/>
            </a:lvl2pPr>
            <a:lvl3pPr marL="1511960" indent="0" algn="ctr">
              <a:buNone/>
              <a:defRPr sz="2976"/>
            </a:lvl3pPr>
            <a:lvl4pPr marL="2267941" indent="0" algn="ctr">
              <a:buNone/>
              <a:defRPr sz="2646"/>
            </a:lvl4pPr>
            <a:lvl5pPr marL="3023921" indent="0" algn="ctr">
              <a:buNone/>
              <a:defRPr sz="2646"/>
            </a:lvl5pPr>
            <a:lvl6pPr marL="3779901" indent="0" algn="ctr">
              <a:buNone/>
              <a:defRPr sz="2646"/>
            </a:lvl6pPr>
            <a:lvl7pPr marL="4535881" indent="0" algn="ctr">
              <a:buNone/>
              <a:defRPr sz="2646"/>
            </a:lvl7pPr>
            <a:lvl8pPr marL="5291861" indent="0" algn="ctr">
              <a:buNone/>
              <a:defRPr sz="2646"/>
            </a:lvl8pPr>
            <a:lvl9pPr marL="6047842" indent="0" algn="ctr">
              <a:buNone/>
              <a:defRPr sz="2646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24/01/2026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9784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24/01/2026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91489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5331063"/>
            <a:ext cx="13040439" cy="8894992"/>
          </a:xfrm>
        </p:spPr>
        <p:txBody>
          <a:bodyPr anchor="b"/>
          <a:lstStyle>
            <a:lvl1pPr>
              <a:defRPr sz="992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14310205"/>
            <a:ext cx="13040439" cy="4677666"/>
          </a:xfrm>
        </p:spPr>
        <p:txBody>
          <a:bodyPr/>
          <a:lstStyle>
            <a:lvl1pPr marL="0" indent="0">
              <a:buNone/>
              <a:defRPr sz="3968">
                <a:solidFill>
                  <a:schemeClr val="tx1">
                    <a:tint val="82000"/>
                  </a:schemeClr>
                </a:solidFill>
              </a:defRPr>
            </a:lvl1pPr>
            <a:lvl2pPr marL="755980" indent="0">
              <a:buNone/>
              <a:defRPr sz="3307">
                <a:solidFill>
                  <a:schemeClr val="tx1">
                    <a:tint val="82000"/>
                  </a:schemeClr>
                </a:solidFill>
              </a:defRPr>
            </a:lvl2pPr>
            <a:lvl3pPr marL="1511960" indent="0">
              <a:buNone/>
              <a:defRPr sz="2976">
                <a:solidFill>
                  <a:schemeClr val="tx1">
                    <a:tint val="82000"/>
                  </a:schemeClr>
                </a:solidFill>
              </a:defRPr>
            </a:lvl3pPr>
            <a:lvl4pPr marL="226794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4pPr>
            <a:lvl5pPr marL="302392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5pPr>
            <a:lvl6pPr marL="377990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6pPr>
            <a:lvl7pPr marL="453588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7pPr>
            <a:lvl8pPr marL="529186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8pPr>
            <a:lvl9pPr marL="6047842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24/01/2026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98851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5692400"/>
            <a:ext cx="6425724" cy="13567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5692400"/>
            <a:ext cx="6425724" cy="13567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24/01/2026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21705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138485"/>
            <a:ext cx="13040439" cy="413317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5241960"/>
            <a:ext cx="63961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7810963"/>
            <a:ext cx="6396193" cy="1148875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5241960"/>
            <a:ext cx="64276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7810963"/>
            <a:ext cx="6427693" cy="1148875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24/01/2026</a:t>
            </a:fld>
            <a:endParaRPr lang="es-ES_trad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32023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24/01/2026</a:t>
            </a:fld>
            <a:endParaRPr lang="es-ES_trad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92796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24/01/2026</a:t>
            </a:fld>
            <a:endParaRPr lang="es-ES_trad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42561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3078850"/>
            <a:ext cx="7654171" cy="15196234"/>
          </a:xfrm>
        </p:spPr>
        <p:txBody>
          <a:bodyPr/>
          <a:lstStyle>
            <a:lvl1pPr>
              <a:defRPr sz="5291"/>
            </a:lvl1pPr>
            <a:lvl2pPr>
              <a:defRPr sz="4630"/>
            </a:lvl2pPr>
            <a:lvl3pPr>
              <a:defRPr sz="3968"/>
            </a:lvl3pPr>
            <a:lvl4pPr>
              <a:defRPr sz="3307"/>
            </a:lvl4pPr>
            <a:lvl5pPr>
              <a:defRPr sz="3307"/>
            </a:lvl5pPr>
            <a:lvl6pPr>
              <a:defRPr sz="3307"/>
            </a:lvl6pPr>
            <a:lvl7pPr>
              <a:defRPr sz="3307"/>
            </a:lvl7pPr>
            <a:lvl8pPr>
              <a:defRPr sz="3307"/>
            </a:lvl8pPr>
            <a:lvl9pPr>
              <a:defRPr sz="330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24/01/2026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48480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3078850"/>
            <a:ext cx="7654171" cy="15196234"/>
          </a:xfrm>
        </p:spPr>
        <p:txBody>
          <a:bodyPr anchor="t"/>
          <a:lstStyle>
            <a:lvl1pPr marL="0" indent="0">
              <a:buNone/>
              <a:defRPr sz="5291"/>
            </a:lvl1pPr>
            <a:lvl2pPr marL="755980" indent="0">
              <a:buNone/>
              <a:defRPr sz="4630"/>
            </a:lvl2pPr>
            <a:lvl3pPr marL="1511960" indent="0">
              <a:buNone/>
              <a:defRPr sz="3968"/>
            </a:lvl3pPr>
            <a:lvl4pPr marL="2267941" indent="0">
              <a:buNone/>
              <a:defRPr sz="3307"/>
            </a:lvl4pPr>
            <a:lvl5pPr marL="3023921" indent="0">
              <a:buNone/>
              <a:defRPr sz="3307"/>
            </a:lvl5pPr>
            <a:lvl6pPr marL="3779901" indent="0">
              <a:buNone/>
              <a:defRPr sz="3307"/>
            </a:lvl6pPr>
            <a:lvl7pPr marL="4535881" indent="0">
              <a:buNone/>
              <a:defRPr sz="3307"/>
            </a:lvl7pPr>
            <a:lvl8pPr marL="5291861" indent="0">
              <a:buNone/>
              <a:defRPr sz="3307"/>
            </a:lvl8pPr>
            <a:lvl9pPr marL="6047842" indent="0">
              <a:buNone/>
              <a:defRPr sz="3307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24/01/2026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77565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24/01/2026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36129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1138480"/>
            <a:ext cx="3260110" cy="1812163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1138480"/>
            <a:ext cx="9591338" cy="1812163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24/01/2026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07249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DA1BBD-1589-104E-89D9-FD291A5EDB06}" type="datetimeFigureOut">
              <a:rPr lang="es-ES_tradnl" smtClean="0"/>
              <a:t>24/01/2026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32535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511960" rtl="0" eaLnBrk="1" latinLnBrk="0" hangingPunct="1">
        <a:lnSpc>
          <a:spcPct val="90000"/>
        </a:lnSpc>
        <a:spcBef>
          <a:spcPct val="0"/>
        </a:spcBef>
        <a:buNone/>
        <a:defRPr sz="72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990" indent="-377990" algn="l" defTabSz="1511960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4630" kern="1200">
          <a:solidFill>
            <a:schemeClr val="tx1"/>
          </a:solidFill>
          <a:latin typeface="+mn-lt"/>
          <a:ea typeface="+mn-ea"/>
          <a:cs typeface="+mn-cs"/>
        </a:defRPr>
      </a:lvl1pPr>
      <a:lvl2pPr marL="1133970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188995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3pPr>
      <a:lvl4pPr marL="264593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40191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415789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91387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66985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42583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5598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51196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3pPr>
      <a:lvl4pPr marL="226794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02392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377990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53588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29186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047842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4000">
              <a:schemeClr val="bg1"/>
            </a:gs>
            <a:gs pos="99000">
              <a:srgbClr val="59C2E3">
                <a:alpha val="2500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741A3D-E56A-6A90-DD91-76A3ADF8E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>
            <a:extLst>
              <a:ext uri="{FF2B5EF4-FFF2-40B4-BE49-F238E27FC236}">
                <a16:creationId xmlns:a16="http://schemas.microsoft.com/office/drawing/2014/main" id="{5C953506-346C-A8BF-67B5-F34567C6BC6E}"/>
              </a:ext>
            </a:extLst>
          </p:cNvPr>
          <p:cNvGrpSpPr/>
          <p:nvPr/>
        </p:nvGrpSpPr>
        <p:grpSpPr>
          <a:xfrm>
            <a:off x="207596" y="7403672"/>
            <a:ext cx="14668990" cy="9665128"/>
            <a:chOff x="225180" y="8290675"/>
            <a:chExt cx="14668990" cy="9665128"/>
          </a:xfrm>
        </p:grpSpPr>
        <p:sp>
          <p:nvSpPr>
            <p:cNvPr id="16" name="Rectángulo redondeado 15">
              <a:extLst>
                <a:ext uri="{FF2B5EF4-FFF2-40B4-BE49-F238E27FC236}">
                  <a16:creationId xmlns:a16="http://schemas.microsoft.com/office/drawing/2014/main" id="{C870726C-A1BB-2615-E2FF-5658152644CA}"/>
                </a:ext>
              </a:extLst>
            </p:cNvPr>
            <p:cNvSpPr/>
            <p:nvPr/>
          </p:nvSpPr>
          <p:spPr>
            <a:xfrm>
              <a:off x="225180" y="8607197"/>
              <a:ext cx="14668990" cy="9348606"/>
            </a:xfrm>
            <a:prstGeom prst="roundRect">
              <a:avLst>
                <a:gd name="adj" fmla="val 1988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43F36DFC-F638-779B-0878-B5E8AD53AD3E}"/>
                </a:ext>
              </a:extLst>
            </p:cNvPr>
            <p:cNvSpPr/>
            <p:nvPr/>
          </p:nvSpPr>
          <p:spPr>
            <a:xfrm>
              <a:off x="518258" y="8290675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RESULTADOS</a:t>
              </a:r>
            </a:p>
          </p:txBody>
        </p: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5FCC48C4-680E-DC53-FF73-95EB091356FB}"/>
              </a:ext>
            </a:extLst>
          </p:cNvPr>
          <p:cNvGrpSpPr/>
          <p:nvPr/>
        </p:nvGrpSpPr>
        <p:grpSpPr>
          <a:xfrm>
            <a:off x="225180" y="3484254"/>
            <a:ext cx="14668990" cy="1504934"/>
            <a:chOff x="225180" y="3930299"/>
            <a:chExt cx="14668990" cy="1504934"/>
          </a:xfrm>
        </p:grpSpPr>
        <p:sp>
          <p:nvSpPr>
            <p:cNvPr id="8" name="Rectángulo redondeado 7">
              <a:extLst>
                <a:ext uri="{FF2B5EF4-FFF2-40B4-BE49-F238E27FC236}">
                  <a16:creationId xmlns:a16="http://schemas.microsoft.com/office/drawing/2014/main" id="{FEB7D3ED-CF02-C938-2FA1-39EE97AC2AA9}"/>
                </a:ext>
              </a:extLst>
            </p:cNvPr>
            <p:cNvSpPr/>
            <p:nvPr/>
          </p:nvSpPr>
          <p:spPr>
            <a:xfrm>
              <a:off x="225180" y="4246822"/>
              <a:ext cx="14668990" cy="1188411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r>
                <a:rPr lang="es-ES" sz="1700" dirty="0">
                  <a:solidFill>
                    <a:schemeClr val="tx1"/>
                  </a:solidFill>
                </a:rPr>
                <a:t>La obesidad es un importante problema de salud pública con un alto componente genético, pero puede verse influenciado por otros factores sociodemográficos o </a:t>
              </a:r>
              <a:r>
                <a:rPr lang="es-ES" sz="1700" dirty="0" smtClean="0">
                  <a:solidFill>
                    <a:schemeClr val="tx1"/>
                  </a:solidFill>
                </a:rPr>
                <a:t>conductuales. El </a:t>
              </a:r>
              <a:r>
                <a:rPr lang="es-ES" sz="1700" dirty="0">
                  <a:solidFill>
                    <a:schemeClr val="tx1"/>
                  </a:solidFill>
                </a:rPr>
                <a:t>objetivo de este estudio es conocer </a:t>
              </a:r>
              <a:r>
                <a:rPr lang="es-ES" sz="1700" dirty="0" smtClean="0">
                  <a:solidFill>
                    <a:schemeClr val="tx1"/>
                  </a:solidFill>
                </a:rPr>
                <a:t>qué </a:t>
              </a:r>
              <a:r>
                <a:rPr lang="es-ES" sz="1700" dirty="0">
                  <a:solidFill>
                    <a:schemeClr val="tx1"/>
                  </a:solidFill>
                </a:rPr>
                <a:t>factores y con </a:t>
              </a:r>
              <a:r>
                <a:rPr lang="es-ES" sz="1700" dirty="0" smtClean="0">
                  <a:solidFill>
                    <a:schemeClr val="tx1"/>
                  </a:solidFill>
                </a:rPr>
                <a:t>qué </a:t>
              </a:r>
              <a:r>
                <a:rPr lang="es-ES" sz="1700" dirty="0">
                  <a:solidFill>
                    <a:schemeClr val="tx1"/>
                  </a:solidFill>
                </a:rPr>
                <a:t>probabilidad influyen en la condición de obesidad en diversos personajes de Los </a:t>
              </a:r>
              <a:r>
                <a:rPr lang="es-ES" sz="1700" dirty="0" err="1">
                  <a:solidFill>
                    <a:schemeClr val="tx1"/>
                  </a:solidFill>
                </a:rPr>
                <a:t>Simpsons</a:t>
              </a:r>
              <a:r>
                <a:rPr lang="es-ES" sz="1700" i="1" dirty="0">
                  <a:solidFill>
                    <a:schemeClr val="tx1"/>
                  </a:solidFill>
                </a:rPr>
                <a:t>.</a:t>
              </a:r>
              <a:endParaRPr lang="es-ES_tradnl" sz="1700" i="1" dirty="0">
                <a:solidFill>
                  <a:schemeClr val="tx1"/>
                </a:solidFill>
              </a:endParaRPr>
            </a:p>
          </p:txBody>
        </p:sp>
        <p:sp>
          <p:nvSpPr>
            <p:cNvPr id="7" name="Rectángulo redondeado 6">
              <a:extLst>
                <a:ext uri="{FF2B5EF4-FFF2-40B4-BE49-F238E27FC236}">
                  <a16:creationId xmlns:a16="http://schemas.microsoft.com/office/drawing/2014/main" id="{3945C9BD-E878-C904-BB12-F0BA2D1763CA}"/>
                </a:ext>
              </a:extLst>
            </p:cNvPr>
            <p:cNvSpPr/>
            <p:nvPr/>
          </p:nvSpPr>
          <p:spPr>
            <a:xfrm>
              <a:off x="518258" y="3930299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/>
                <a:t>INTRODUCCIÓN</a:t>
              </a:r>
              <a:endParaRPr lang="es-ES_tradnl" sz="2800" b="1" dirty="0"/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7B23F5A3-8FA4-BB38-32D0-0ECAD0F925F2}"/>
              </a:ext>
            </a:extLst>
          </p:cNvPr>
          <p:cNvGrpSpPr/>
          <p:nvPr/>
        </p:nvGrpSpPr>
        <p:grpSpPr>
          <a:xfrm>
            <a:off x="207596" y="5235817"/>
            <a:ext cx="14668990" cy="1992925"/>
            <a:chOff x="207596" y="6110487"/>
            <a:chExt cx="14668990" cy="1992925"/>
          </a:xfrm>
        </p:grpSpPr>
        <p:sp>
          <p:nvSpPr>
            <p:cNvPr id="14" name="Rectángulo redondeado 13">
              <a:extLst>
                <a:ext uri="{FF2B5EF4-FFF2-40B4-BE49-F238E27FC236}">
                  <a16:creationId xmlns:a16="http://schemas.microsoft.com/office/drawing/2014/main" id="{CB14F1FF-25D2-FA75-CD9F-A24420348853}"/>
                </a:ext>
              </a:extLst>
            </p:cNvPr>
            <p:cNvSpPr/>
            <p:nvPr/>
          </p:nvSpPr>
          <p:spPr>
            <a:xfrm>
              <a:off x="207596" y="6427010"/>
              <a:ext cx="14668990" cy="1676402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r>
                <a:rPr lang="es-ES_tradnl" sz="1700" dirty="0" smtClean="0">
                  <a:solidFill>
                    <a:schemeClr val="tx1"/>
                  </a:solidFill>
                </a:rPr>
                <a:t>Se realizó un análisis de componentes principales (PCA) con los datos de expresión genética de 37 genes en 59 individuos para reducir la </a:t>
              </a:r>
              <a:r>
                <a:rPr lang="es-ES_tradnl" sz="1700" dirty="0" err="1" smtClean="0">
                  <a:solidFill>
                    <a:schemeClr val="tx1"/>
                  </a:solidFill>
                </a:rPr>
                <a:t>dimensionalidad</a:t>
              </a:r>
              <a:r>
                <a:rPr lang="es-ES_tradnl" sz="1700" dirty="0" smtClean="0">
                  <a:solidFill>
                    <a:schemeClr val="tx1"/>
                  </a:solidFill>
                </a:rPr>
                <a:t> de los datos. Los individuos se clasificaron mediante análisis de clúster jerárquico de los valores de los seis componentes principales que más varianza génica explicaron. La expresión génica por individuo y gen se visualizó mediante un </a:t>
              </a:r>
              <a:r>
                <a:rPr lang="es-ES_tradnl" sz="1700" dirty="0" err="1" smtClean="0">
                  <a:solidFill>
                    <a:schemeClr val="tx1"/>
                  </a:solidFill>
                </a:rPr>
                <a:t>heatmap</a:t>
              </a:r>
              <a:r>
                <a:rPr lang="es-ES_tradnl" sz="1700" dirty="0" smtClean="0">
                  <a:solidFill>
                    <a:schemeClr val="tx1"/>
                  </a:solidFill>
                </a:rPr>
                <a:t>. Finalmente, se usaron los tres primeros componentes principales, la edad y el sexo de los individuos para comprobar cómo de eficientes son estas variables para predecir la obesidad en individuos mediante una regresión múltiple logística.</a:t>
              </a:r>
              <a:endParaRPr lang="es-ES_tradnl" sz="1700" dirty="0">
                <a:solidFill>
                  <a:schemeClr val="tx1"/>
                </a:solidFill>
              </a:endParaRPr>
            </a:p>
          </p:txBody>
        </p:sp>
        <p:sp>
          <p:nvSpPr>
            <p:cNvPr id="15" name="Rectángulo redondeado 14">
              <a:extLst>
                <a:ext uri="{FF2B5EF4-FFF2-40B4-BE49-F238E27FC236}">
                  <a16:creationId xmlns:a16="http://schemas.microsoft.com/office/drawing/2014/main" id="{F33D0645-E9FA-A931-364E-3210E3E69D6A}"/>
                </a:ext>
              </a:extLst>
            </p:cNvPr>
            <p:cNvSpPr/>
            <p:nvPr/>
          </p:nvSpPr>
          <p:spPr>
            <a:xfrm>
              <a:off x="500674" y="6110487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METODOLOGÍA</a:t>
              </a:r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20BD9571-E0A9-AB44-7B64-0F522BA4288F}"/>
              </a:ext>
            </a:extLst>
          </p:cNvPr>
          <p:cNvGrpSpPr/>
          <p:nvPr/>
        </p:nvGrpSpPr>
        <p:grpSpPr>
          <a:xfrm>
            <a:off x="225181" y="17303689"/>
            <a:ext cx="9095800" cy="3844742"/>
            <a:chOff x="225181" y="17303689"/>
            <a:chExt cx="9095800" cy="3844742"/>
          </a:xfrm>
        </p:grpSpPr>
        <p:sp>
          <p:nvSpPr>
            <p:cNvPr id="22" name="Rectángulo redondeado 21">
              <a:extLst>
                <a:ext uri="{FF2B5EF4-FFF2-40B4-BE49-F238E27FC236}">
                  <a16:creationId xmlns:a16="http://schemas.microsoft.com/office/drawing/2014/main" id="{381B9892-98E6-4609-C6F1-567DBF51A163}"/>
                </a:ext>
              </a:extLst>
            </p:cNvPr>
            <p:cNvSpPr/>
            <p:nvPr/>
          </p:nvSpPr>
          <p:spPr>
            <a:xfrm>
              <a:off x="225181" y="17620211"/>
              <a:ext cx="9095800" cy="3528220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r>
                <a:rPr lang="es-ES_tradnl" sz="1700" i="1" dirty="0" smtClean="0">
                  <a:solidFill>
                    <a:schemeClr val="tx1"/>
                  </a:solidFill>
                </a:rPr>
                <a:t>El PCA, análisis </a:t>
              </a:r>
              <a:r>
                <a:rPr lang="es-ES_tradnl" sz="1700" i="1" dirty="0" err="1" smtClean="0">
                  <a:solidFill>
                    <a:schemeClr val="tx1"/>
                  </a:solidFill>
                </a:rPr>
                <a:t>cluster</a:t>
              </a:r>
              <a:r>
                <a:rPr lang="es-ES_tradnl" sz="1700" i="1" dirty="0" smtClean="0">
                  <a:solidFill>
                    <a:schemeClr val="tx1"/>
                  </a:solidFill>
                </a:rPr>
                <a:t>, y </a:t>
              </a:r>
              <a:r>
                <a:rPr lang="es-ES_tradnl" sz="1700" i="1" dirty="0" err="1" smtClean="0">
                  <a:solidFill>
                    <a:schemeClr val="tx1"/>
                  </a:solidFill>
                </a:rPr>
                <a:t>heatmaps</a:t>
              </a:r>
              <a:r>
                <a:rPr lang="es-ES_tradnl" sz="1700" i="1" dirty="0" smtClean="0">
                  <a:solidFill>
                    <a:schemeClr val="tx1"/>
                  </a:solidFill>
                </a:rPr>
                <a:t>, muestran que los individuos </a:t>
              </a:r>
              <a:r>
                <a:rPr lang="es-ES_tradnl" sz="1700" i="1" dirty="0" err="1" smtClean="0">
                  <a:solidFill>
                    <a:schemeClr val="tx1"/>
                  </a:solidFill>
                </a:rPr>
                <a:t>Homer</a:t>
              </a:r>
              <a:r>
                <a:rPr lang="es-ES_tradnl" sz="1700" i="1" dirty="0" smtClean="0">
                  <a:solidFill>
                    <a:schemeClr val="tx1"/>
                  </a:solidFill>
                </a:rPr>
                <a:t> Simpson (1) y Barney </a:t>
              </a:r>
              <a:r>
                <a:rPr lang="es-ES_tradnl" sz="1700" i="1" dirty="0" err="1" smtClean="0">
                  <a:solidFill>
                    <a:schemeClr val="tx1"/>
                  </a:solidFill>
                </a:rPr>
                <a:t>Gumpbel</a:t>
              </a:r>
              <a:r>
                <a:rPr lang="es-ES_tradnl" sz="1700" i="1" dirty="0" smtClean="0">
                  <a:solidFill>
                    <a:schemeClr val="tx1"/>
                  </a:solidFill>
                </a:rPr>
                <a:t> (2) muestran expresión inusualmente elevada de los genes POMC, ANO4, LEPR, ADCY3, SH2B1, y PCSK1, todos ellos relacionados con la obesidad (CONFIRMAR). El PC1 (con 12.5% de varianza explicada) es el PC que mejor explica la separación de estos dos individuos y el resto, como confirma el análisis </a:t>
              </a:r>
              <a:r>
                <a:rPr lang="es-ES_tradnl" sz="1700" i="1" dirty="0" err="1" smtClean="0">
                  <a:solidFill>
                    <a:schemeClr val="tx1"/>
                  </a:solidFill>
                </a:rPr>
                <a:t>cluster</a:t>
              </a:r>
              <a:r>
                <a:rPr lang="es-ES_tradnl" sz="1700" i="1" dirty="0" smtClean="0">
                  <a:solidFill>
                    <a:schemeClr val="tx1"/>
                  </a:solidFill>
                </a:rPr>
                <a:t>. Además, la expresión de los seis genes mencionados se correlacionan fuertemente a este PC1. La </a:t>
              </a:r>
              <a:r>
                <a:rPr lang="es-ES_tradnl" sz="1700" i="1" dirty="0">
                  <a:solidFill>
                    <a:schemeClr val="tx1"/>
                  </a:solidFill>
                </a:rPr>
                <a:t>regresión múltiple </a:t>
              </a:r>
              <a:r>
                <a:rPr lang="es-ES_tradnl" sz="1700" i="1" dirty="0" smtClean="0">
                  <a:solidFill>
                    <a:schemeClr val="tx1"/>
                  </a:solidFill>
                </a:rPr>
                <a:t>logística no reveló que los tres </a:t>
              </a:r>
              <a:r>
                <a:rPr lang="es-ES_tradnl" sz="1700" i="1" dirty="0" err="1" smtClean="0">
                  <a:solidFill>
                    <a:schemeClr val="tx1"/>
                  </a:solidFill>
                </a:rPr>
                <a:t>PCs</a:t>
              </a:r>
              <a:r>
                <a:rPr lang="es-ES_tradnl" sz="1700" i="1" dirty="0" smtClean="0">
                  <a:solidFill>
                    <a:schemeClr val="tx1"/>
                  </a:solidFill>
                </a:rPr>
                <a:t> que más varianza explicaron en los datos de expresión fueran variables </a:t>
              </a:r>
              <a:r>
                <a:rPr lang="es-ES_tradnl" sz="1700" i="1" dirty="0" err="1" smtClean="0">
                  <a:solidFill>
                    <a:schemeClr val="tx1"/>
                  </a:solidFill>
                </a:rPr>
                <a:t>predictoras</a:t>
              </a:r>
              <a:r>
                <a:rPr lang="es-ES_tradnl" sz="1700" i="1" dirty="0" smtClean="0">
                  <a:solidFill>
                    <a:schemeClr val="tx1"/>
                  </a:solidFill>
                </a:rPr>
                <a:t> de la obesidad en la muestra.</a:t>
              </a:r>
              <a:endParaRPr lang="es-ES_tradnl" sz="1700" i="1" dirty="0">
                <a:solidFill>
                  <a:schemeClr val="tx1"/>
                </a:solidFill>
              </a:endParaRPr>
            </a:p>
          </p:txBody>
        </p:sp>
        <p:sp>
          <p:nvSpPr>
            <p:cNvPr id="23" name="Rectángulo redondeado 22">
              <a:extLst>
                <a:ext uri="{FF2B5EF4-FFF2-40B4-BE49-F238E27FC236}">
                  <a16:creationId xmlns:a16="http://schemas.microsoft.com/office/drawing/2014/main" id="{A2D4C693-7BBD-E0C1-588A-41A91139D35B}"/>
                </a:ext>
              </a:extLst>
            </p:cNvPr>
            <p:cNvSpPr/>
            <p:nvPr/>
          </p:nvSpPr>
          <p:spPr>
            <a:xfrm>
              <a:off x="518258" y="17303689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DISCUSIÓN</a:t>
              </a: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623B4F90-B675-90D5-3A62-801C71241135}"/>
              </a:ext>
            </a:extLst>
          </p:cNvPr>
          <p:cNvGrpSpPr/>
          <p:nvPr/>
        </p:nvGrpSpPr>
        <p:grpSpPr>
          <a:xfrm>
            <a:off x="9527458" y="17303689"/>
            <a:ext cx="5366712" cy="3844742"/>
            <a:chOff x="7784856" y="17303689"/>
            <a:chExt cx="7109314" cy="3844742"/>
          </a:xfrm>
        </p:grpSpPr>
        <p:sp>
          <p:nvSpPr>
            <p:cNvPr id="24" name="Rectángulo redondeado 23">
              <a:extLst>
                <a:ext uri="{FF2B5EF4-FFF2-40B4-BE49-F238E27FC236}">
                  <a16:creationId xmlns:a16="http://schemas.microsoft.com/office/drawing/2014/main" id="{C0FDA565-7231-A04B-604B-CBBA360FA2A9}"/>
                </a:ext>
              </a:extLst>
            </p:cNvPr>
            <p:cNvSpPr/>
            <p:nvPr/>
          </p:nvSpPr>
          <p:spPr>
            <a:xfrm>
              <a:off x="7784856" y="17620211"/>
              <a:ext cx="7109314" cy="3528220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r>
                <a:rPr lang="es-ES_tradnl" sz="1700" i="1" dirty="0" smtClean="0">
                  <a:solidFill>
                    <a:schemeClr val="tx1"/>
                  </a:solidFill>
                </a:rPr>
                <a:t>El perfil de expresión de genes de </a:t>
              </a:r>
              <a:r>
                <a:rPr lang="es-ES_tradnl" sz="1700" i="1" dirty="0" err="1" smtClean="0">
                  <a:solidFill>
                    <a:schemeClr val="tx1"/>
                  </a:solidFill>
                </a:rPr>
                <a:t>Homer</a:t>
              </a:r>
              <a:r>
                <a:rPr lang="es-ES_tradnl" sz="1700" i="1" dirty="0" smtClean="0">
                  <a:solidFill>
                    <a:schemeClr val="tx1"/>
                  </a:solidFill>
                </a:rPr>
                <a:t> Simpson y Barney </a:t>
              </a:r>
              <a:r>
                <a:rPr lang="es-ES_tradnl" sz="1700" i="1" dirty="0" err="1" smtClean="0">
                  <a:solidFill>
                    <a:schemeClr val="tx1"/>
                  </a:solidFill>
                </a:rPr>
                <a:t>Gumpbel</a:t>
              </a:r>
              <a:r>
                <a:rPr lang="es-ES_tradnl" sz="1700" i="1" dirty="0">
                  <a:solidFill>
                    <a:schemeClr val="tx1"/>
                  </a:solidFill>
                </a:rPr>
                <a:t> </a:t>
              </a:r>
              <a:r>
                <a:rPr lang="es-ES_tradnl" sz="1700" i="1" dirty="0" smtClean="0">
                  <a:solidFill>
                    <a:schemeClr val="tx1"/>
                  </a:solidFill>
                </a:rPr>
                <a:t>se diferencia claramente del resto de la población de Springfield. Esto puede indicar que su obesidad, puede tener una componente genética distinta al resto de población obesa de Springfield. Debido a esta diferencia, el poder predictor del PC1 queda mermado a la hora de modelizar la obesidad en esta muestra.</a:t>
              </a:r>
              <a:endParaRPr lang="es-ES_tradnl" sz="1700" i="1" dirty="0">
                <a:solidFill>
                  <a:schemeClr val="tx1"/>
                </a:solidFill>
              </a:endParaRPr>
            </a:p>
          </p:txBody>
        </p:sp>
        <p:sp>
          <p:nvSpPr>
            <p:cNvPr id="25" name="Rectángulo redondeado 24">
              <a:extLst>
                <a:ext uri="{FF2B5EF4-FFF2-40B4-BE49-F238E27FC236}">
                  <a16:creationId xmlns:a16="http://schemas.microsoft.com/office/drawing/2014/main" id="{0097D6A2-C865-70C9-C895-A45D8FA392DF}"/>
                </a:ext>
              </a:extLst>
            </p:cNvPr>
            <p:cNvSpPr/>
            <p:nvPr/>
          </p:nvSpPr>
          <p:spPr>
            <a:xfrm>
              <a:off x="8077933" y="17303689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CONCLUSIONES</a:t>
              </a:r>
            </a:p>
          </p:txBody>
        </p:sp>
      </p:grpSp>
      <p:pic>
        <p:nvPicPr>
          <p:cNvPr id="1028" name="Picture 4">
            <a:extLst>
              <a:ext uri="{FF2B5EF4-FFF2-40B4-BE49-F238E27FC236}">
                <a16:creationId xmlns:a16="http://schemas.microsoft.com/office/drawing/2014/main" id="{70274CC9-2241-1244-4118-364EC63C3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0767" y="-95516"/>
            <a:ext cx="2325820" cy="1400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upo 17">
            <a:extLst>
              <a:ext uri="{FF2B5EF4-FFF2-40B4-BE49-F238E27FC236}">
                <a16:creationId xmlns:a16="http://schemas.microsoft.com/office/drawing/2014/main" id="{8F6A5FD5-7463-A593-72C7-F0E4EB285025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-5895"/>
            <a:ext cx="3397496" cy="2303046"/>
            <a:chOff x="0" y="-5895"/>
            <a:chExt cx="4834200" cy="3276938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DE58BDFA-8AF2-7019-7FBC-D37E50AE44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-5895"/>
              <a:ext cx="4834200" cy="3276938"/>
            </a:xfrm>
            <a:prstGeom prst="rect">
              <a:avLst/>
            </a:prstGeom>
          </p:spPr>
        </p:pic>
        <p:sp>
          <p:nvSpPr>
            <p:cNvPr id="2" name="Rectángulo 1">
              <a:extLst>
                <a:ext uri="{FF2B5EF4-FFF2-40B4-BE49-F238E27FC236}">
                  <a16:creationId xmlns:a16="http://schemas.microsoft.com/office/drawing/2014/main" id="{AE74DE59-F695-8E93-09D0-A92C58D17992}"/>
                </a:ext>
              </a:extLst>
            </p:cNvPr>
            <p:cNvSpPr/>
            <p:nvPr/>
          </p:nvSpPr>
          <p:spPr>
            <a:xfrm>
              <a:off x="964642" y="1549130"/>
              <a:ext cx="2257529" cy="6715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A8921268-A726-C96C-B743-206883618C91}"/>
              </a:ext>
            </a:extLst>
          </p:cNvPr>
          <p:cNvSpPr/>
          <p:nvPr/>
        </p:nvSpPr>
        <p:spPr>
          <a:xfrm>
            <a:off x="677955" y="1320342"/>
            <a:ext cx="13763441" cy="1981203"/>
          </a:xfrm>
          <a:prstGeom prst="roundRect">
            <a:avLst>
              <a:gd name="adj" fmla="val 9702"/>
            </a:avLst>
          </a:prstGeom>
          <a:solidFill>
            <a:srgbClr val="4196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tlCol="0" anchor="ctr"/>
          <a:lstStyle/>
          <a:p>
            <a:pPr algn="ctr"/>
            <a:r>
              <a:rPr lang="es-ES_tradnl" sz="4000" b="1" dirty="0">
                <a:solidFill>
                  <a:schemeClr val="bg1"/>
                </a:solidFill>
              </a:rPr>
              <a:t>Análisis descriptivos de poblaciones fenotípicas </a:t>
            </a:r>
          </a:p>
          <a:p>
            <a:pPr algn="ctr">
              <a:lnSpc>
                <a:spcPct val="80000"/>
              </a:lnSpc>
            </a:pPr>
            <a:r>
              <a:rPr lang="es-ES_tradnl" sz="2800" b="1" i="1" dirty="0">
                <a:solidFill>
                  <a:schemeClr val="bg1"/>
                </a:solidFill>
              </a:rPr>
              <a:t>Estadística y R para Ciencias de la Salud</a:t>
            </a:r>
            <a:endParaRPr lang="es-ES_tradnl" sz="3600" b="1" i="1" dirty="0">
              <a:solidFill>
                <a:schemeClr val="bg1"/>
              </a:solidFill>
            </a:endParaRPr>
          </a:p>
          <a:p>
            <a:pPr algn="ctr">
              <a:lnSpc>
                <a:spcPct val="80000"/>
              </a:lnSpc>
            </a:pPr>
            <a:r>
              <a:rPr lang="es-ES_tradnl" sz="2000" b="1" i="1" dirty="0">
                <a:solidFill>
                  <a:schemeClr val="bg1"/>
                </a:solidFill>
              </a:rPr>
              <a:t>Víctor de la O, Edwin Fernández-Cruz 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6E043BC-62DC-A50A-F677-84121C77150E}"/>
              </a:ext>
            </a:extLst>
          </p:cNvPr>
          <p:cNvSpPr txBox="1"/>
          <p:nvPr/>
        </p:nvSpPr>
        <p:spPr>
          <a:xfrm>
            <a:off x="3785136" y="244115"/>
            <a:ext cx="8168971" cy="76944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_tradnl" sz="4400" b="1" dirty="0">
                <a:solidFill>
                  <a:schemeClr val="bg1"/>
                </a:solidFill>
              </a:rPr>
              <a:t>EJEMPLO DE PÓSTER</a:t>
            </a:r>
          </a:p>
        </p:txBody>
      </p:sp>
      <p:sp>
        <p:nvSpPr>
          <p:cNvPr id="1036" name="Rectángulo redondeado 1035">
            <a:extLst>
              <a:ext uri="{FF2B5EF4-FFF2-40B4-BE49-F238E27FC236}">
                <a16:creationId xmlns:a16="http://schemas.microsoft.com/office/drawing/2014/main" id="{AFAF9801-11D6-F874-E9A8-A3E0E4590764}"/>
              </a:ext>
            </a:extLst>
          </p:cNvPr>
          <p:cNvSpPr/>
          <p:nvPr/>
        </p:nvSpPr>
        <p:spPr>
          <a:xfrm>
            <a:off x="518258" y="8158328"/>
            <a:ext cx="6692011" cy="63304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800" b="1" i="0" u="none" strike="noStrike" kern="1200" cap="none" spc="0" normalizeH="0" baseline="0" noProof="0" dirty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Figura 1. </a:t>
            </a:r>
            <a:r>
              <a:rPr kumimoji="0" lang="es-ES_tradn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Biplot</a:t>
            </a:r>
            <a:r>
              <a: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de contribución de los genes en la variabilidad total</a:t>
            </a:r>
          </a:p>
        </p:txBody>
      </p:sp>
      <p:sp>
        <p:nvSpPr>
          <p:cNvPr id="1037" name="Rectángulo redondeado 1036">
            <a:extLst>
              <a:ext uri="{FF2B5EF4-FFF2-40B4-BE49-F238E27FC236}">
                <a16:creationId xmlns:a16="http://schemas.microsoft.com/office/drawing/2014/main" id="{60842445-E351-8E63-2B2D-F06DA2DB4243}"/>
              </a:ext>
            </a:extLst>
          </p:cNvPr>
          <p:cNvSpPr/>
          <p:nvPr/>
        </p:nvSpPr>
        <p:spPr>
          <a:xfrm>
            <a:off x="518258" y="11923663"/>
            <a:ext cx="6692011" cy="63304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800" b="1" i="0" u="none" strike="noStrike" kern="1200" cap="none" spc="0" normalizeH="0" baseline="0" noProof="0" dirty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Figura 3. </a:t>
            </a:r>
            <a:r>
              <a:rPr lang="es-ES_tradnl" dirty="0">
                <a:solidFill>
                  <a:prstClr val="black"/>
                </a:solidFill>
                <a:latin typeface="Aptos" panose="02110004020202020204"/>
              </a:rPr>
              <a:t>H</a:t>
            </a:r>
            <a:r>
              <a:rPr kumimoji="0" lang="es-ES_tradn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eatmap</a:t>
            </a:r>
            <a:r>
              <a: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de expresión génica estandarizada.</a:t>
            </a:r>
          </a:p>
        </p:txBody>
      </p:sp>
      <p:sp>
        <p:nvSpPr>
          <p:cNvPr id="1038" name="Rectángulo redondeado 1037">
            <a:extLst>
              <a:ext uri="{FF2B5EF4-FFF2-40B4-BE49-F238E27FC236}">
                <a16:creationId xmlns:a16="http://schemas.microsoft.com/office/drawing/2014/main" id="{20F2FDA8-F2AE-8EC6-EFD0-E92D4FCAEDFB}"/>
              </a:ext>
            </a:extLst>
          </p:cNvPr>
          <p:cNvSpPr/>
          <p:nvPr/>
        </p:nvSpPr>
        <p:spPr>
          <a:xfrm>
            <a:off x="7697422" y="11923663"/>
            <a:ext cx="6692011" cy="63304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800" b="1" i="0" u="none" strike="noStrike" kern="1200" cap="none" spc="0" normalizeH="0" baseline="0" noProof="0" dirty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Figura 4. </a:t>
            </a:r>
            <a:r>
              <a: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Tabla con resultados del modelo Regresión Logística para la obesidad con Ors, Intervalos de Confianza y p-</a:t>
            </a:r>
            <a:r>
              <a:rPr kumimoji="0" lang="es-ES_tradn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value</a:t>
            </a:r>
            <a:r>
              <a:rPr lang="es-ES_tradnl" dirty="0">
                <a:solidFill>
                  <a:prstClr val="black"/>
                </a:solidFill>
                <a:latin typeface="Aptos" panose="02110004020202020204"/>
              </a:rPr>
              <a:t>.</a:t>
            </a: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D6B0DE1-9E0D-CFEC-4CC9-B51B14596D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954" y="8830797"/>
            <a:ext cx="4762264" cy="2938997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0EF891C3-A310-5B4E-2E56-6CE24AA7E3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561" y="13101550"/>
            <a:ext cx="5104968" cy="3150495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1E188D1B-ABD1-B0DC-5BA3-55A264A8A2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7467" y="12556709"/>
            <a:ext cx="5502898" cy="4512091"/>
          </a:xfrm>
          <a:prstGeom prst="rect">
            <a:avLst/>
          </a:prstGeom>
        </p:spPr>
      </p:pic>
      <p:sp>
        <p:nvSpPr>
          <p:cNvPr id="29" name="Rectángulo redondeado 1035">
            <a:extLst>
              <a:ext uri="{FF2B5EF4-FFF2-40B4-BE49-F238E27FC236}">
                <a16:creationId xmlns:a16="http://schemas.microsoft.com/office/drawing/2014/main" id="{084848F6-BB5B-EB99-7FF1-B665F21541D9}"/>
              </a:ext>
            </a:extLst>
          </p:cNvPr>
          <p:cNvSpPr/>
          <p:nvPr/>
        </p:nvSpPr>
        <p:spPr>
          <a:xfrm>
            <a:off x="7697421" y="8158328"/>
            <a:ext cx="6692011" cy="63304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800" b="1" i="0" u="none" strike="noStrike" kern="1200" cap="none" spc="0" normalizeH="0" baseline="0" noProof="0" dirty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Figura 2. </a:t>
            </a:r>
            <a:r>
              <a:rPr kumimoji="0" lang="es-ES_tradn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Clustering</a:t>
            </a:r>
            <a:r>
              <a: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jerárquico basado en los primeros 6 </a:t>
            </a:r>
            <a:r>
              <a:rPr kumimoji="0" lang="es-ES_tradn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PCAs</a:t>
            </a:r>
            <a:r>
              <a: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</a:t>
            </a:r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7804" y="8791374"/>
            <a:ext cx="4323166" cy="308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502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27c1adeb-3674-457c-b08c-8a73f31b6e23" xsi:nil="true"/>
    <lcf76f155ced4ddcb4097134ff3c332f xmlns="27c1adeb-3674-457c-b08c-8a73f31b6e23">
      <Terms xmlns="http://schemas.microsoft.com/office/infopath/2007/PartnerControls"/>
    </lcf76f155ced4ddcb4097134ff3c332f>
    <TaxCatchAll xmlns="0a70e875-3d35-4be2-921f-7117c31bab9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F3D7C797EA12745A270EF30E38719B9" ma:contentTypeVersion="20" ma:contentTypeDescription="Crear nuevo documento." ma:contentTypeScope="" ma:versionID="98b23ce13f8ef13134c980882a27b8cc">
  <xsd:schema xmlns:xsd="http://www.w3.org/2001/XMLSchema" xmlns:xs="http://www.w3.org/2001/XMLSchema" xmlns:p="http://schemas.microsoft.com/office/2006/metadata/properties" xmlns:ns2="0a70e875-3d35-4be2-921f-7117c31bab9b" xmlns:ns3="27c1adeb-3674-457c-b08c-8a73f31b6e23" targetNamespace="http://schemas.microsoft.com/office/2006/metadata/properties" ma:root="true" ma:fieldsID="83d50475b18a8f95f7f8edf1c6caa3f2" ns2:_="" ns3:_="">
    <xsd:import namespace="0a70e875-3d35-4be2-921f-7117c31bab9b"/>
    <xsd:import namespace="27c1adeb-3674-457c-b08c-8a73f31b6e2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_Flow_SignoffStatus" minOccurs="0"/>
                <xsd:element ref="ns3:MediaServiceObjectDetectorVersion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70e875-3d35-4be2-921f-7117c31bab9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7f67346-78c9-4c4d-b954-8d350fdf60db}" ma:internalName="TaxCatchAll" ma:showField="CatchAllData" ma:web="0a70e875-3d35-4be2-921f-7117c31bab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c1adeb-3674-457c-b08c-8a73f31b6e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17631b59-e624-4eb7-963c-219f14f887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25" nillable="true" ma:displayName="Estado de aprobación" ma:internalName="Estado_x0020_de_x0020_aprobaci_x00f3_n">
      <xsd:simpleType>
        <xsd:restriction base="dms:Text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CFF8D81-72FC-452A-A72A-98522D59D5C9}">
  <ds:schemaRefs>
    <ds:schemaRef ds:uri="http://schemas.microsoft.com/office/2006/metadata/properties"/>
    <ds:schemaRef ds:uri="http://schemas.microsoft.com/office/infopath/2007/PartnerControls"/>
    <ds:schemaRef ds:uri="27c1adeb-3674-457c-b08c-8a73f31b6e23"/>
    <ds:schemaRef ds:uri="0a70e875-3d35-4be2-921f-7117c31bab9b"/>
  </ds:schemaRefs>
</ds:datastoreItem>
</file>

<file path=customXml/itemProps2.xml><?xml version="1.0" encoding="utf-8"?>
<ds:datastoreItem xmlns:ds="http://schemas.openxmlformats.org/officeDocument/2006/customXml" ds:itemID="{F0E4AC05-6E48-496A-9B4A-D9E0A45171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70e875-3d35-4be2-921f-7117c31bab9b"/>
    <ds:schemaRef ds:uri="27c1adeb-3674-457c-b08c-8a73f31b6e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FA9EA36-75B9-47E0-B3F6-D548E75A2A5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361ecad-3f61-4749-aa5c-87fde47ef9ad}" enabled="1" method="Privileged" siteId="{22c8b4a4-d926-43b2-bcc7-87b998590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150</TotalTime>
  <Words>437</Words>
  <Application>Microsoft Office PowerPoint</Application>
  <PresentationFormat>Personalizado</PresentationFormat>
  <Paragraphs>17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Victor  de la O Pascual</dc:creator>
  <cp:lastModifiedBy>Ruben</cp:lastModifiedBy>
  <cp:revision>24</cp:revision>
  <dcterms:created xsi:type="dcterms:W3CDTF">2025-04-21T10:03:24Z</dcterms:created>
  <dcterms:modified xsi:type="dcterms:W3CDTF">2026-01-24T17:34:52Z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0x010100DF3D7C797EA12745A270EF30E38719B9</vt:lpwstr>
  </property>
  <property fmtid="{D5CDD505-2E9C-101B-9397-08002B2CF9AE}" pid="3" name="MediaServiceImageTags">
    <vt:lpwstr/>
  </property>
</Properties>
</file>