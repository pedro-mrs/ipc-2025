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8" r:id="rId5"/>
  </p:sldIdLst>
  <p:sldSz cx="15119350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96C9"/>
    <a:srgbClr val="59C2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3BFF41-FF3B-2142-A639-F2594708F882}" v="1" dt="2026-01-31T17:37:51.502"/>
    <p1510:client id="{B8D23FC1-9A01-4C43-810D-B206853D1915}" v="3" dt="2026-01-31T19:42:19.3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91"/>
    <p:restoredTop sz="94635"/>
  </p:normalViewPr>
  <p:slideViewPr>
    <p:cSldViewPr snapToGrid="0">
      <p:cViewPr varScale="1">
        <p:scale>
          <a:sx n="26" d="100"/>
          <a:sy n="26" d="100"/>
        </p:scale>
        <p:origin x="289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a Norniella Jamart" userId="92dcd70e170e53a7" providerId="LiveId" clId="{963EB8FB-3F3D-597D-A817-5FBE33DBCB47}"/>
    <pc:docChg chg="undo redo custSel addSld delSld modSld">
      <pc:chgData name="Paula Norniella Jamart" userId="92dcd70e170e53a7" providerId="LiveId" clId="{963EB8FB-3F3D-597D-A817-5FBE33DBCB47}" dt="2026-01-31T19:47:40.562" v="840"/>
      <pc:docMkLst>
        <pc:docMk/>
      </pc:docMkLst>
      <pc:sldChg chg="del">
        <pc:chgData name="Paula Norniella Jamart" userId="92dcd70e170e53a7" providerId="LiveId" clId="{963EB8FB-3F3D-597D-A817-5FBE33DBCB47}" dt="2026-01-31T19:38:55.616" v="710" actId="2696"/>
        <pc:sldMkLst>
          <pc:docMk/>
          <pc:sldMk cId="3205397241" sldId="256"/>
        </pc:sldMkLst>
      </pc:sldChg>
      <pc:sldChg chg="add del">
        <pc:chgData name="Paula Norniella Jamart" userId="92dcd70e170e53a7" providerId="LiveId" clId="{963EB8FB-3F3D-597D-A817-5FBE33DBCB47}" dt="2026-01-31T19:39:52.597" v="714" actId="2696"/>
        <pc:sldMkLst>
          <pc:docMk/>
          <pc:sldMk cId="220350250" sldId="257"/>
        </pc:sldMkLst>
      </pc:sldChg>
      <pc:sldChg chg="modSp mod">
        <pc:chgData name="Paula Norniella Jamart" userId="92dcd70e170e53a7" providerId="LiveId" clId="{963EB8FB-3F3D-597D-A817-5FBE33DBCB47}" dt="2026-01-31T19:47:40.562" v="840"/>
        <pc:sldMkLst>
          <pc:docMk/>
          <pc:sldMk cId="4045999932" sldId="258"/>
        </pc:sldMkLst>
        <pc:spChg chg="mod">
          <ac:chgData name="Paula Norniella Jamart" userId="92dcd70e170e53a7" providerId="LiveId" clId="{963EB8FB-3F3D-597D-A817-5FBE33DBCB47}" dt="2026-01-31T17:37:51.502" v="86"/>
          <ac:spMkLst>
            <pc:docMk/>
            <pc:sldMk cId="4045999932" sldId="258"/>
            <ac:spMk id="3" creationId="{70138B42-E335-E05D-E193-37141538289E}"/>
          </ac:spMkLst>
        </pc:spChg>
        <pc:spChg chg="mod">
          <ac:chgData name="Paula Norniella Jamart" userId="92dcd70e170e53a7" providerId="LiveId" clId="{963EB8FB-3F3D-597D-A817-5FBE33DBCB47}" dt="2026-01-31T17:51:16.991" v="709" actId="20577"/>
          <ac:spMkLst>
            <pc:docMk/>
            <pc:sldMk cId="4045999932" sldId="258"/>
            <ac:spMk id="8" creationId="{C4D1F524-44A5-F16E-9FD3-EE5EA5819EAD}"/>
          </ac:spMkLst>
        </pc:spChg>
        <pc:spChg chg="mod">
          <ac:chgData name="Paula Norniella Jamart" userId="92dcd70e170e53a7" providerId="LiveId" clId="{963EB8FB-3F3D-597D-A817-5FBE33DBCB47}" dt="2026-01-31T19:47:40.562" v="840"/>
          <ac:spMkLst>
            <pc:docMk/>
            <pc:sldMk cId="4045999932" sldId="258"/>
            <ac:spMk id="34" creationId="{1B34C5B1-3A9B-391B-803D-711026F4463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01/02/2026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9784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01/02/2026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91489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01/02/2026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98851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01/02/2026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2170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01/02/2026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32023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01/02/2026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92796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01/02/2026</a:t>
            </a:fld>
            <a:endParaRPr lang="es-ES_trad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42561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01/02/2026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48480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01/02/2026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77565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01/02/2026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3612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01/02/2026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07249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DA1BBD-1589-104E-89D9-FD291A5EDB06}" type="datetimeFigureOut">
              <a:rPr lang="es-ES_tradnl" smtClean="0"/>
              <a:t>01/02/2026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32535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mutalyzer.nl/" TargetMode="External"/><Relationship Id="rId13" Type="http://schemas.openxmlformats.org/officeDocument/2006/relationships/image" Target="../media/image2.png"/><Relationship Id="rId3" Type="http://schemas.openxmlformats.org/officeDocument/2006/relationships/hyperlink" Target="https://gnomad.broadinstitute.org/" TargetMode="External"/><Relationship Id="rId7" Type="http://schemas.openxmlformats.org/officeDocument/2006/relationships/hyperlink" Target="https://www.ebi.ac.uk/jdispatcher/msa/clustalo" TargetMode="External"/><Relationship Id="rId12" Type="http://schemas.openxmlformats.org/officeDocument/2006/relationships/image" Target="../media/image1.png"/><Relationship Id="rId2" Type="http://schemas.openxmlformats.org/officeDocument/2006/relationships/hyperlink" Target="https://www.ensembl.org/Tools/VEP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omim.org/" TargetMode="External"/><Relationship Id="rId11" Type="http://schemas.openxmlformats.org/officeDocument/2006/relationships/hyperlink" Target="https://www.kegg.jp/kegg/kegg2.html" TargetMode="External"/><Relationship Id="rId5" Type="http://schemas.openxmlformats.org/officeDocument/2006/relationships/hyperlink" Target="http://genetics.bwh.harvard.edu/pph2/" TargetMode="External"/><Relationship Id="rId10" Type="http://schemas.openxmlformats.org/officeDocument/2006/relationships/hyperlink" Target="https://www.ebi.ac.uk/interpro/" TargetMode="External"/><Relationship Id="rId4" Type="http://schemas.openxmlformats.org/officeDocument/2006/relationships/hyperlink" Target="https://sift.bii.a-star.edu.sg/" TargetMode="External"/><Relationship Id="rId9" Type="http://schemas.openxmlformats.org/officeDocument/2006/relationships/hyperlink" Target="https://www.uniprot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4000">
              <a:schemeClr val="bg1"/>
            </a:gs>
            <a:gs pos="99000">
              <a:srgbClr val="59C2E3">
                <a:alpha val="25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A72C3-DD61-5B61-E46F-EDD19D1F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E1AA44F9-4D9B-B58B-32B6-5CC8410E7CBE}"/>
              </a:ext>
            </a:extLst>
          </p:cNvPr>
          <p:cNvGrpSpPr/>
          <p:nvPr/>
        </p:nvGrpSpPr>
        <p:grpSpPr>
          <a:xfrm>
            <a:off x="225180" y="3484254"/>
            <a:ext cx="14668990" cy="1504934"/>
            <a:chOff x="225180" y="3930299"/>
            <a:chExt cx="14668990" cy="1504934"/>
          </a:xfrm>
        </p:grpSpPr>
        <p:sp>
          <p:nvSpPr>
            <p:cNvPr id="8" name="Rectángulo redondeado 7">
              <a:extLst>
                <a:ext uri="{FF2B5EF4-FFF2-40B4-BE49-F238E27FC236}">
                  <a16:creationId xmlns:a16="http://schemas.microsoft.com/office/drawing/2014/main" id="{C4D1F524-44A5-F16E-9FD3-EE5EA5819EAD}"/>
                </a:ext>
              </a:extLst>
            </p:cNvPr>
            <p:cNvSpPr/>
            <p:nvPr/>
          </p:nvSpPr>
          <p:spPr>
            <a:xfrm>
              <a:off x="225180" y="4246822"/>
              <a:ext cx="14668990" cy="1188411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i="1" dirty="0">
                  <a:solidFill>
                    <a:schemeClr val="tx1"/>
                  </a:solidFill>
                </a:rPr>
                <a:t>La </a:t>
              </a:r>
              <a:r>
                <a:rPr lang="es-ES_tradnl" i="1" dirty="0" smtClean="0">
                  <a:solidFill>
                    <a:schemeClr val="tx1"/>
                  </a:solidFill>
                </a:rPr>
                <a:t>obesidad, o </a:t>
              </a:r>
              <a:r>
                <a:rPr lang="es-ES_tradnl" i="1" dirty="0">
                  <a:solidFill>
                    <a:schemeClr val="tx1"/>
                  </a:solidFill>
                </a:rPr>
                <a:t>acumulación excesiva de grasa </a:t>
              </a:r>
              <a:r>
                <a:rPr lang="es-ES_tradnl" i="1" dirty="0" smtClean="0">
                  <a:solidFill>
                    <a:schemeClr val="tx1"/>
                  </a:solidFill>
                </a:rPr>
                <a:t>corporal, causa graves problemas de </a:t>
              </a:r>
              <a:r>
                <a:rPr lang="es-ES_tradnl" i="1" dirty="0">
                  <a:solidFill>
                    <a:schemeClr val="tx1"/>
                  </a:solidFill>
                </a:rPr>
                <a:t>salud y enfermedades crónicas. </a:t>
              </a:r>
              <a:r>
                <a:rPr lang="es-ES_tradnl" i="1" dirty="0" smtClean="0">
                  <a:solidFill>
                    <a:schemeClr val="tx1"/>
                  </a:solidFill>
                </a:rPr>
                <a:t>Como caso de estudio, </a:t>
              </a:r>
              <a:r>
                <a:rPr lang="es-ES_tradnl" i="1" dirty="0">
                  <a:solidFill>
                    <a:schemeClr val="tx1"/>
                  </a:solidFill>
                </a:rPr>
                <a:t>se han </a:t>
              </a:r>
              <a:r>
                <a:rPr lang="es-ES_tradnl" i="1" dirty="0" smtClean="0">
                  <a:solidFill>
                    <a:schemeClr val="tx1"/>
                  </a:solidFill>
                </a:rPr>
                <a:t>estudiado las variantes genéticas en </a:t>
              </a:r>
              <a:r>
                <a:rPr lang="es-ES_tradnl" i="1" dirty="0">
                  <a:solidFill>
                    <a:schemeClr val="tx1"/>
                  </a:solidFill>
                </a:rPr>
                <a:t>diferentes miembros de la familia Simpson para </a:t>
              </a:r>
              <a:r>
                <a:rPr lang="es-ES_tradnl" i="1" dirty="0" smtClean="0">
                  <a:solidFill>
                    <a:schemeClr val="tx1"/>
                  </a:solidFill>
                </a:rPr>
                <a:t>establecer </a:t>
              </a:r>
              <a:r>
                <a:rPr lang="es-ES_tradnl" i="1" dirty="0">
                  <a:solidFill>
                    <a:schemeClr val="tx1"/>
                  </a:solidFill>
                </a:rPr>
                <a:t>la posible relación de esta patología con alteraciones a nivel </a:t>
              </a:r>
              <a:r>
                <a:rPr lang="es-ES_tradnl" i="1" dirty="0" smtClean="0">
                  <a:solidFill>
                    <a:schemeClr val="tx1"/>
                  </a:solidFill>
                </a:rPr>
                <a:t>genético.</a:t>
              </a: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7" name="Rectángulo redondeado 6">
              <a:extLst>
                <a:ext uri="{FF2B5EF4-FFF2-40B4-BE49-F238E27FC236}">
                  <a16:creationId xmlns:a16="http://schemas.microsoft.com/office/drawing/2014/main" id="{15811AE5-F929-12ED-D44E-9D1519220278}"/>
                </a:ext>
              </a:extLst>
            </p:cNvPr>
            <p:cNvSpPr/>
            <p:nvPr/>
          </p:nvSpPr>
          <p:spPr>
            <a:xfrm>
              <a:off x="518258" y="393029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/>
                <a:t>INTRODUCCIÓN</a:t>
              </a:r>
              <a:endParaRPr lang="es-ES_tradnl" sz="2800" b="1" dirty="0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88FB225B-2F62-B172-D75B-E02EF3836A0E}"/>
              </a:ext>
            </a:extLst>
          </p:cNvPr>
          <p:cNvGrpSpPr/>
          <p:nvPr/>
        </p:nvGrpSpPr>
        <p:grpSpPr>
          <a:xfrm>
            <a:off x="207596" y="5169142"/>
            <a:ext cx="14668990" cy="1921805"/>
            <a:chOff x="207596" y="6110487"/>
            <a:chExt cx="14668990" cy="1921805"/>
          </a:xfrm>
        </p:grpSpPr>
        <p:sp>
          <p:nvSpPr>
            <p:cNvPr id="14" name="Rectángulo redondeado 13">
              <a:extLst>
                <a:ext uri="{FF2B5EF4-FFF2-40B4-BE49-F238E27FC236}">
                  <a16:creationId xmlns:a16="http://schemas.microsoft.com/office/drawing/2014/main" id="{FC179AD0-ED02-975F-E151-1E1C61EAD8F2}"/>
                </a:ext>
              </a:extLst>
            </p:cNvPr>
            <p:cNvSpPr/>
            <p:nvPr/>
          </p:nvSpPr>
          <p:spPr>
            <a:xfrm>
              <a:off x="207596" y="6355890"/>
              <a:ext cx="14668990" cy="1676402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sz="1700" i="1" dirty="0" smtClean="0">
                  <a:solidFill>
                    <a:schemeClr val="tx1"/>
                  </a:solidFill>
                </a:rPr>
                <a:t>Se </a:t>
              </a:r>
              <a:r>
                <a:rPr lang="es-ES_tradnl" sz="1700" i="1" dirty="0">
                  <a:solidFill>
                    <a:schemeClr val="tx1"/>
                  </a:solidFill>
                </a:rPr>
                <a:t>analizaron 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tres </a:t>
              </a:r>
              <a:r>
                <a:rPr lang="es-ES_tradnl" sz="1700" i="1" dirty="0">
                  <a:solidFill>
                    <a:schemeClr val="tx1"/>
                  </a:solidFill>
                </a:rPr>
                <a:t>variantes 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de Abraham </a:t>
              </a:r>
              <a:r>
                <a:rPr lang="es-ES_tradnl" sz="1700" i="1" dirty="0">
                  <a:solidFill>
                    <a:schemeClr val="tx1"/>
                  </a:solidFill>
                </a:rPr>
                <a:t>y 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Maggie</a:t>
              </a:r>
              <a:r>
                <a:rPr lang="es-ES_tradnl" sz="1700" i="1" dirty="0">
                  <a:solidFill>
                    <a:schemeClr val="tx1"/>
                  </a:solidFill>
                </a:rPr>
                <a:t> 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Simpson </a:t>
              </a:r>
              <a:r>
                <a:rPr lang="es-ES_tradnl" sz="1700" i="1" dirty="0">
                  <a:solidFill>
                    <a:schemeClr val="tx1"/>
                  </a:solidFill>
                </a:rPr>
                <a:t>con </a:t>
              </a:r>
              <a:r>
                <a:rPr lang="es-ES_tradnl" sz="1700" i="1" dirty="0" smtClean="0">
                  <a:solidFill>
                    <a:schemeClr val="tx1"/>
                  </a:solidFill>
                  <a:hlinkClick r:id="rId2"/>
                </a:rPr>
                <a:t>VEP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. Se exploraron la prevalencia en la población con </a:t>
              </a:r>
              <a:r>
                <a:rPr lang="es-ES_tradnl" sz="1700" i="1" dirty="0" smtClean="0">
                  <a:solidFill>
                    <a:schemeClr val="tx1"/>
                  </a:solidFill>
                  <a:hlinkClick r:id="rId3"/>
                </a:rPr>
                <a:t>gnomAD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; y su patogenicidad con </a:t>
              </a:r>
              <a:r>
                <a:rPr lang="es-ES_tradnl" sz="1700" i="1" dirty="0" smtClean="0">
                  <a:solidFill>
                    <a:schemeClr val="tx1"/>
                  </a:solidFill>
                  <a:hlinkClick r:id="rId4"/>
                </a:rPr>
                <a:t>SIFT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, </a:t>
              </a:r>
              <a:r>
                <a:rPr lang="es-ES_tradnl" sz="1700" i="1" dirty="0" smtClean="0">
                  <a:solidFill>
                    <a:schemeClr val="tx1"/>
                  </a:solidFill>
                  <a:hlinkClick r:id="rId5"/>
                </a:rPr>
                <a:t>PolyPhen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, y </a:t>
              </a:r>
              <a:r>
                <a:rPr lang="es-ES_tradnl" sz="1700" i="1" dirty="0" smtClean="0">
                  <a:solidFill>
                    <a:schemeClr val="tx1"/>
                  </a:solidFill>
                  <a:hlinkClick r:id="rId6"/>
                </a:rPr>
                <a:t>OMIM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. Las variantes “</a:t>
              </a:r>
              <a:r>
                <a:rPr lang="es-ES_tradnl" sz="1700" i="1" dirty="0" err="1" smtClean="0">
                  <a:solidFill>
                    <a:schemeClr val="tx1"/>
                  </a:solidFill>
                </a:rPr>
                <a:t>missense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” se analizaron con </a:t>
              </a:r>
              <a:r>
                <a:rPr lang="es-ES_tradnl" sz="1700" i="1" dirty="0" smtClean="0">
                  <a:solidFill>
                    <a:schemeClr val="tx1"/>
                  </a:solidFill>
                  <a:hlinkClick r:id="rId7"/>
                </a:rPr>
                <a:t>CLUSTAL </a:t>
              </a:r>
              <a:r>
                <a:rPr lang="es-ES_tradnl" sz="1700" i="1" dirty="0">
                  <a:solidFill>
                    <a:schemeClr val="tx1"/>
                  </a:solidFill>
                  <a:hlinkClick r:id="rId7"/>
                </a:rPr>
                <a:t>omega</a:t>
              </a:r>
              <a:r>
                <a:rPr lang="es-ES_tradnl" sz="1700" i="1" dirty="0">
                  <a:solidFill>
                    <a:schemeClr val="tx1"/>
                  </a:solidFill>
                </a:rPr>
                <a:t> 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para detectar si la región afectada estaba conservada. Las variantes “</a:t>
              </a:r>
              <a:r>
                <a:rPr lang="es-ES_tradnl" sz="1700" i="1" dirty="0" err="1" smtClean="0">
                  <a:solidFill>
                    <a:schemeClr val="tx1"/>
                  </a:solidFill>
                </a:rPr>
                <a:t>frameshift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” se analizaron con </a:t>
              </a:r>
              <a:r>
                <a:rPr lang="es-ES_tradnl" sz="1700" i="1" dirty="0" smtClean="0">
                  <a:solidFill>
                    <a:schemeClr val="tx1"/>
                  </a:solidFill>
                  <a:hlinkClick r:id="rId8"/>
                </a:rPr>
                <a:t>Mutalyzer</a:t>
              </a:r>
              <a:r>
                <a:rPr lang="es-ES_tradnl" sz="1700" i="1" dirty="0">
                  <a:solidFill>
                    <a:schemeClr val="tx1"/>
                  </a:solidFill>
                </a:rPr>
                <a:t> 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para comprobar la estructura del la proteína mutada. Consultamos </a:t>
              </a:r>
              <a:r>
                <a:rPr lang="es-ES_tradnl" sz="1700" i="1" dirty="0" smtClean="0">
                  <a:solidFill>
                    <a:schemeClr val="tx1"/>
                  </a:solidFill>
                  <a:hlinkClick r:id="rId9"/>
                </a:rPr>
                <a:t>UniProt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 e </a:t>
              </a:r>
              <a:r>
                <a:rPr lang="es-ES_tradnl" sz="1700" i="1" dirty="0" smtClean="0">
                  <a:solidFill>
                    <a:schemeClr val="tx1"/>
                  </a:solidFill>
                  <a:hlinkClick r:id="rId10"/>
                </a:rPr>
                <a:t>InterPro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 para comprobar los dominios proteicos afectados en las variantes, y las entradas en </a:t>
              </a:r>
              <a:r>
                <a:rPr lang="es-ES_tradnl" sz="1700" i="1" dirty="0">
                  <a:solidFill>
                    <a:schemeClr val="tx1"/>
                  </a:solidFill>
                  <a:hlinkClick r:id="rId11"/>
                </a:rPr>
                <a:t>KEGG</a:t>
              </a:r>
              <a:r>
                <a:rPr lang="es-ES_tradnl" sz="1700" i="1" dirty="0">
                  <a:solidFill>
                    <a:schemeClr val="tx1"/>
                  </a:solidFill>
                </a:rPr>
                <a:t> de los genes afectados para 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comprobar en qué rutas metabólicas está implicados.</a:t>
              </a:r>
              <a:endParaRPr lang="es-ES_tradnl" sz="1700" i="1" dirty="0">
                <a:solidFill>
                  <a:schemeClr val="tx1"/>
                </a:solidFill>
              </a:endParaRPr>
            </a:p>
          </p:txBody>
        </p:sp>
        <p:sp>
          <p:nvSpPr>
            <p:cNvPr id="15" name="Rectángulo redondeado 14">
              <a:extLst>
                <a:ext uri="{FF2B5EF4-FFF2-40B4-BE49-F238E27FC236}">
                  <a16:creationId xmlns:a16="http://schemas.microsoft.com/office/drawing/2014/main" id="{51C45BDA-AC75-EE13-A211-698BB3CF2EDC}"/>
                </a:ext>
              </a:extLst>
            </p:cNvPr>
            <p:cNvSpPr/>
            <p:nvPr/>
          </p:nvSpPr>
          <p:spPr>
            <a:xfrm>
              <a:off x="500674" y="6110487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METODOLOGÍA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0449220D-F047-A208-80A5-ECB282B1A62A}"/>
              </a:ext>
            </a:extLst>
          </p:cNvPr>
          <p:cNvGrpSpPr/>
          <p:nvPr/>
        </p:nvGrpSpPr>
        <p:grpSpPr>
          <a:xfrm>
            <a:off x="207596" y="7336997"/>
            <a:ext cx="14668990" cy="9782603"/>
            <a:chOff x="225180" y="8290675"/>
            <a:chExt cx="14668990" cy="9782603"/>
          </a:xfrm>
        </p:grpSpPr>
        <p:sp>
          <p:nvSpPr>
            <p:cNvPr id="16" name="Rectángulo redondeado 15">
              <a:extLst>
                <a:ext uri="{FF2B5EF4-FFF2-40B4-BE49-F238E27FC236}">
                  <a16:creationId xmlns:a16="http://schemas.microsoft.com/office/drawing/2014/main" id="{F757B5F2-E57A-7217-E1AA-4D7E21F42FA0}"/>
                </a:ext>
              </a:extLst>
            </p:cNvPr>
            <p:cNvSpPr/>
            <p:nvPr/>
          </p:nvSpPr>
          <p:spPr>
            <a:xfrm>
              <a:off x="225180" y="8607196"/>
              <a:ext cx="14668990" cy="9466082"/>
            </a:xfrm>
            <a:prstGeom prst="roundRect">
              <a:avLst>
                <a:gd name="adj" fmla="val 1988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D2CE81C2-DE7D-86C0-BE63-0B1C502B9BDA}"/>
                </a:ext>
              </a:extLst>
            </p:cNvPr>
            <p:cNvSpPr/>
            <p:nvPr/>
          </p:nvSpPr>
          <p:spPr>
            <a:xfrm>
              <a:off x="518258" y="8290675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RESULTADOS</a:t>
              </a:r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D59CAA55-5763-DE38-517F-B4583DC84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0767" y="-95516"/>
            <a:ext cx="2325820" cy="140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upo 17">
            <a:extLst>
              <a:ext uri="{FF2B5EF4-FFF2-40B4-BE49-F238E27FC236}">
                <a16:creationId xmlns:a16="http://schemas.microsoft.com/office/drawing/2014/main" id="{7943CC5D-1654-184E-A7EC-A76F98FA9E8B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-5895"/>
            <a:ext cx="3397496" cy="2303046"/>
            <a:chOff x="0" y="-5895"/>
            <a:chExt cx="4834200" cy="3276938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7E5760BA-D4D0-7C9E-76ED-065ED11398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0" y="-5895"/>
              <a:ext cx="4834200" cy="3276938"/>
            </a:xfrm>
            <a:prstGeom prst="rect">
              <a:avLst/>
            </a:prstGeom>
          </p:spPr>
        </p:pic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4D86C97A-A2AB-20A7-3EB2-1F46C5416136}"/>
                </a:ext>
              </a:extLst>
            </p:cNvPr>
            <p:cNvSpPr/>
            <p:nvPr/>
          </p:nvSpPr>
          <p:spPr>
            <a:xfrm>
              <a:off x="964642" y="1549130"/>
              <a:ext cx="2257529" cy="671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70138B42-E335-E05D-E193-37141538289E}"/>
              </a:ext>
            </a:extLst>
          </p:cNvPr>
          <p:cNvSpPr/>
          <p:nvPr/>
        </p:nvSpPr>
        <p:spPr>
          <a:xfrm>
            <a:off x="677955" y="1320342"/>
            <a:ext cx="13763441" cy="1981203"/>
          </a:xfrm>
          <a:prstGeom prst="roundRect">
            <a:avLst>
              <a:gd name="adj" fmla="val 9702"/>
            </a:avLst>
          </a:prstGeom>
          <a:solidFill>
            <a:srgbClr val="4196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tlCol="0" anchor="ctr"/>
          <a:lstStyle/>
          <a:p>
            <a:pPr algn="ctr"/>
            <a:r>
              <a:rPr lang="es-ES_tradnl" sz="4000" b="1" dirty="0">
                <a:solidFill>
                  <a:schemeClr val="bg1"/>
                </a:solidFill>
              </a:rPr>
              <a:t>Anotación e interpretación de variantes</a:t>
            </a:r>
          </a:p>
          <a:p>
            <a:pPr algn="ctr">
              <a:lnSpc>
                <a:spcPct val="80000"/>
              </a:lnSpc>
            </a:pPr>
            <a:r>
              <a:rPr lang="es-ES_tradnl" sz="2800" b="1" i="1" dirty="0">
                <a:solidFill>
                  <a:schemeClr val="bg1"/>
                </a:solidFill>
              </a:rPr>
              <a:t>Genética clínica y de poblaciones</a:t>
            </a:r>
            <a:endParaRPr lang="es-ES_tradnl" sz="3600" b="1" i="1" dirty="0">
              <a:solidFill>
                <a:schemeClr val="bg1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s-ES_tradnl" sz="2000" b="1" i="1" spc="-1" dirty="0">
                <a:solidFill>
                  <a:srgbClr val="FFFFFF"/>
                </a:solidFill>
                <a:ea typeface="DejaVu Sans"/>
              </a:rPr>
              <a:t>Paula Damián Moral - Paula Sofía Norniella Jamart - Pedro García Sáez - Pedro Manuel Rodríguez Santos - Pilar Navarro Sánchez - Rubén Martín Blázquez </a:t>
            </a:r>
            <a:endParaRPr lang="es-ES" sz="2000" spc="-1" dirty="0">
              <a:latin typeface="Arial"/>
            </a:endParaRP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2C6C9477-586D-D4FB-ADEE-063D77B3A812}"/>
              </a:ext>
            </a:extLst>
          </p:cNvPr>
          <p:cNvGrpSpPr/>
          <p:nvPr/>
        </p:nvGrpSpPr>
        <p:grpSpPr>
          <a:xfrm>
            <a:off x="207596" y="17303689"/>
            <a:ext cx="9095800" cy="3844742"/>
            <a:chOff x="225181" y="17303689"/>
            <a:chExt cx="9095800" cy="3844742"/>
          </a:xfrm>
        </p:grpSpPr>
        <p:sp>
          <p:nvSpPr>
            <p:cNvPr id="34" name="Rectángulo redondeado 33">
              <a:extLst>
                <a:ext uri="{FF2B5EF4-FFF2-40B4-BE49-F238E27FC236}">
                  <a16:creationId xmlns:a16="http://schemas.microsoft.com/office/drawing/2014/main" id="{1B34C5B1-3A9B-391B-803D-711026F44639}"/>
                </a:ext>
              </a:extLst>
            </p:cNvPr>
            <p:cNvSpPr/>
            <p:nvPr/>
          </p:nvSpPr>
          <p:spPr>
            <a:xfrm>
              <a:off x="225181" y="17620211"/>
              <a:ext cx="9095800" cy="3528220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i="1" dirty="0">
                  <a:solidFill>
                    <a:schemeClr val="tx1"/>
                  </a:solidFill>
                </a:rPr>
                <a:t>Maggie: </a:t>
              </a:r>
              <a:r>
                <a:rPr lang="es-ES_tradnl" i="1" dirty="0" smtClean="0">
                  <a:solidFill>
                    <a:schemeClr val="tx1"/>
                  </a:solidFill>
                </a:rPr>
                <a:t>presenta una </a:t>
              </a:r>
              <a:r>
                <a:rPr lang="es-ES_tradnl" i="1" dirty="0" err="1" smtClean="0">
                  <a:solidFill>
                    <a:schemeClr val="tx1"/>
                  </a:solidFill>
                </a:rPr>
                <a:t>deleción</a:t>
              </a:r>
              <a:r>
                <a:rPr lang="es-ES_tradnl" i="1" dirty="0" smtClean="0">
                  <a:solidFill>
                    <a:schemeClr val="tx1"/>
                  </a:solidFill>
                </a:rPr>
                <a:t> en </a:t>
              </a:r>
              <a:r>
                <a:rPr lang="es-ES_tradnl" i="1" dirty="0">
                  <a:solidFill>
                    <a:schemeClr val="tx1"/>
                  </a:solidFill>
                </a:rPr>
                <a:t>el gen receptor de </a:t>
              </a:r>
              <a:r>
                <a:rPr lang="es-ES_tradnl" i="1" dirty="0" err="1">
                  <a:solidFill>
                    <a:schemeClr val="tx1"/>
                  </a:solidFill>
                </a:rPr>
                <a:t>leptina</a:t>
              </a:r>
              <a:r>
                <a:rPr lang="es-ES_tradnl" i="1" dirty="0">
                  <a:solidFill>
                    <a:schemeClr val="tx1"/>
                  </a:solidFill>
                </a:rPr>
                <a:t> (LEPR</a:t>
              </a:r>
              <a:r>
                <a:rPr lang="es-ES_tradnl" i="1" dirty="0" smtClean="0">
                  <a:solidFill>
                    <a:schemeClr val="tx1"/>
                  </a:solidFill>
                </a:rPr>
                <a:t>), produciendo una mutación “</a:t>
              </a:r>
              <a:r>
                <a:rPr lang="es-ES_tradnl" i="1" dirty="0" err="1" smtClean="0">
                  <a:solidFill>
                    <a:schemeClr val="tx1"/>
                  </a:solidFill>
                </a:rPr>
                <a:t>frameshift</a:t>
              </a:r>
              <a:r>
                <a:rPr lang="es-ES_tradnl" i="1" dirty="0" smtClean="0">
                  <a:solidFill>
                    <a:schemeClr val="tx1"/>
                  </a:solidFill>
                </a:rPr>
                <a:t>”. Esta </a:t>
              </a:r>
              <a:r>
                <a:rPr lang="es-ES_tradnl" i="1" dirty="0" err="1" smtClean="0">
                  <a:solidFill>
                    <a:schemeClr val="tx1"/>
                  </a:solidFill>
                </a:rPr>
                <a:t>deleción</a:t>
              </a:r>
              <a:r>
                <a:rPr lang="es-ES_tradnl" i="1" dirty="0" smtClean="0">
                  <a:solidFill>
                    <a:schemeClr val="tx1"/>
                  </a:solidFill>
                </a:rPr>
                <a:t> provoca la pérdida de </a:t>
              </a:r>
              <a:r>
                <a:rPr lang="es-ES_tradnl" i="1" dirty="0">
                  <a:solidFill>
                    <a:schemeClr val="tx1"/>
                  </a:solidFill>
                </a:rPr>
                <a:t>dominios necesarios para activar vías de </a:t>
              </a:r>
              <a:r>
                <a:rPr lang="es-ES_tradnl" i="1" dirty="0" smtClean="0">
                  <a:solidFill>
                    <a:schemeClr val="tx1"/>
                  </a:solidFill>
                </a:rPr>
                <a:t>señalización de </a:t>
              </a:r>
              <a:r>
                <a:rPr lang="es-ES_tradnl" i="1" dirty="0">
                  <a:solidFill>
                    <a:schemeClr val="tx1"/>
                  </a:solidFill>
                </a:rPr>
                <a:t>la hormona </a:t>
              </a:r>
              <a:r>
                <a:rPr lang="es-ES_tradnl" i="1" dirty="0" err="1">
                  <a:solidFill>
                    <a:schemeClr val="tx1"/>
                  </a:solidFill>
                </a:rPr>
                <a:t>leptina</a:t>
              </a:r>
              <a:r>
                <a:rPr lang="es-ES_tradnl" i="1" dirty="0">
                  <a:solidFill>
                    <a:schemeClr val="tx1"/>
                  </a:solidFill>
                </a:rPr>
                <a:t> (encargada de disminuir la ingesta y aumentar el consumo de energía).</a:t>
              </a:r>
            </a:p>
            <a:p>
              <a:pPr algn="just">
                <a:lnSpc>
                  <a:spcPct val="80000"/>
                </a:lnSpc>
              </a:pPr>
              <a:r>
                <a:rPr lang="es-ES_tradnl" i="1" dirty="0" smtClean="0">
                  <a:solidFill>
                    <a:schemeClr val="tx1"/>
                  </a:solidFill>
                </a:rPr>
                <a:t>Abraham y Maggie: presentan una sustitución en el gen MC4R que provoca una mutación “</a:t>
              </a:r>
              <a:r>
                <a:rPr lang="es-ES_tradnl" i="1" dirty="0" err="1" smtClean="0">
                  <a:solidFill>
                    <a:schemeClr val="tx1"/>
                  </a:solidFill>
                </a:rPr>
                <a:t>missense</a:t>
              </a:r>
              <a:r>
                <a:rPr lang="es-ES_tradnl" i="1" dirty="0" smtClean="0">
                  <a:solidFill>
                    <a:schemeClr val="tx1"/>
                  </a:solidFill>
                </a:rPr>
                <a:t>”. </a:t>
              </a:r>
              <a:r>
                <a:rPr lang="es-ES_tradnl" i="1" dirty="0">
                  <a:solidFill>
                    <a:schemeClr val="tx1"/>
                  </a:solidFill>
                </a:rPr>
                <a:t>Esta alteración es altamente patogénica, afectando a </a:t>
              </a:r>
              <a:r>
                <a:rPr lang="es-ES_tradnl" i="1" dirty="0" smtClean="0">
                  <a:solidFill>
                    <a:schemeClr val="tx1"/>
                  </a:solidFill>
                </a:rPr>
                <a:t>una región </a:t>
              </a:r>
              <a:r>
                <a:rPr lang="es-ES_tradnl" i="1" dirty="0">
                  <a:solidFill>
                    <a:schemeClr val="tx1"/>
                  </a:solidFill>
                </a:rPr>
                <a:t>altamente </a:t>
              </a:r>
              <a:r>
                <a:rPr lang="es-ES_tradnl" i="1" dirty="0" smtClean="0">
                  <a:solidFill>
                    <a:schemeClr val="tx1"/>
                  </a:solidFill>
                </a:rPr>
                <a:t>conservada </a:t>
              </a:r>
              <a:r>
                <a:rPr lang="es-ES_tradnl" i="1" dirty="0">
                  <a:solidFill>
                    <a:schemeClr val="tx1"/>
                  </a:solidFill>
                </a:rPr>
                <a:t>evolutivamente. Como consecuencia, se altera </a:t>
              </a:r>
              <a:r>
                <a:rPr lang="es-ES_tradnl" i="1" dirty="0" smtClean="0">
                  <a:solidFill>
                    <a:schemeClr val="tx1"/>
                  </a:solidFill>
                </a:rPr>
                <a:t>el </a:t>
              </a:r>
              <a:r>
                <a:rPr lang="es-ES_tradnl" i="1" dirty="0">
                  <a:solidFill>
                    <a:schemeClr val="tx1"/>
                  </a:solidFill>
                </a:rPr>
                <a:t>control del apetito a nivel hipotalámico, </a:t>
              </a:r>
              <a:r>
                <a:rPr lang="es-ES_tradnl" i="1" dirty="0" smtClean="0">
                  <a:solidFill>
                    <a:schemeClr val="tx1"/>
                  </a:solidFill>
                </a:rPr>
                <a:t>derivando </a:t>
              </a:r>
              <a:r>
                <a:rPr lang="es-ES_tradnl" i="1" dirty="0">
                  <a:solidFill>
                    <a:schemeClr val="tx1"/>
                  </a:solidFill>
                </a:rPr>
                <a:t>en la característica </a:t>
              </a:r>
              <a:r>
                <a:rPr lang="es-ES_tradnl" i="1" dirty="0" err="1">
                  <a:solidFill>
                    <a:schemeClr val="tx1"/>
                  </a:solidFill>
                </a:rPr>
                <a:t>hiperfagia</a:t>
              </a:r>
              <a:r>
                <a:rPr lang="es-ES_tradnl" i="1" dirty="0">
                  <a:solidFill>
                    <a:schemeClr val="tx1"/>
                  </a:solidFill>
                </a:rPr>
                <a:t> típica de pacientes con obesidad </a:t>
              </a:r>
              <a:r>
                <a:rPr lang="es-ES_tradnl" i="1" dirty="0" err="1">
                  <a:solidFill>
                    <a:schemeClr val="tx1"/>
                  </a:solidFill>
                </a:rPr>
                <a:t>monogénica</a:t>
              </a:r>
              <a:r>
                <a:rPr lang="es-ES_tradnl" i="1" dirty="0">
                  <a:solidFill>
                    <a:schemeClr val="tx1"/>
                  </a:solidFill>
                </a:rPr>
                <a:t>.</a:t>
              </a:r>
            </a:p>
            <a:p>
              <a:pPr algn="just">
                <a:lnSpc>
                  <a:spcPct val="80000"/>
                </a:lnSpc>
              </a:pPr>
              <a:r>
                <a:rPr lang="es-ES_tradnl" i="1" dirty="0">
                  <a:solidFill>
                    <a:schemeClr val="tx1"/>
                  </a:solidFill>
                </a:rPr>
                <a:t>Ambos presentan mutaciones en </a:t>
              </a:r>
              <a:r>
                <a:rPr lang="es-ES_tradnl" i="1" dirty="0" smtClean="0">
                  <a:solidFill>
                    <a:schemeClr val="tx1"/>
                  </a:solidFill>
                </a:rPr>
                <a:t>TP53, y Abraham es </a:t>
              </a:r>
              <a:r>
                <a:rPr lang="es-ES_tradnl" i="1" dirty="0" err="1" smtClean="0">
                  <a:solidFill>
                    <a:schemeClr val="tx1"/>
                  </a:solidFill>
                </a:rPr>
                <a:t>hemicigoto</a:t>
              </a:r>
              <a:r>
                <a:rPr lang="es-ES_tradnl" i="1" dirty="0" smtClean="0">
                  <a:solidFill>
                    <a:schemeClr val="tx1"/>
                  </a:solidFill>
                </a:rPr>
                <a:t> para la variante detectada en MED12, pero ambas tienen un nivel de patogenicidad bajo o ambiguo.</a:t>
              </a:r>
              <a:endParaRPr lang="es-ES_tradnl" i="1" dirty="0">
                <a:solidFill>
                  <a:schemeClr val="tx1"/>
                </a:solidFill>
              </a:endParaRPr>
            </a:p>
          </p:txBody>
        </p:sp>
        <p:sp>
          <p:nvSpPr>
            <p:cNvPr id="35" name="Rectángulo redondeado 34">
              <a:extLst>
                <a:ext uri="{FF2B5EF4-FFF2-40B4-BE49-F238E27FC236}">
                  <a16:creationId xmlns:a16="http://schemas.microsoft.com/office/drawing/2014/main" id="{3BC039B6-C9D2-02F3-8F27-C85043A7CC84}"/>
                </a:ext>
              </a:extLst>
            </p:cNvPr>
            <p:cNvSpPr/>
            <p:nvPr/>
          </p:nvSpPr>
          <p:spPr>
            <a:xfrm>
              <a:off x="518258" y="1730368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DISCUSIÓN</a:t>
              </a: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7CDA7380-1384-C476-FC20-7A4A09E7B7FE}"/>
              </a:ext>
            </a:extLst>
          </p:cNvPr>
          <p:cNvGrpSpPr/>
          <p:nvPr/>
        </p:nvGrpSpPr>
        <p:grpSpPr>
          <a:xfrm>
            <a:off x="9509873" y="17303689"/>
            <a:ext cx="5366712" cy="3844742"/>
            <a:chOff x="7784856" y="17303689"/>
            <a:chExt cx="7109314" cy="3844742"/>
          </a:xfrm>
        </p:grpSpPr>
        <p:sp>
          <p:nvSpPr>
            <p:cNvPr id="37" name="Rectángulo redondeado 36">
              <a:extLst>
                <a:ext uri="{FF2B5EF4-FFF2-40B4-BE49-F238E27FC236}">
                  <a16:creationId xmlns:a16="http://schemas.microsoft.com/office/drawing/2014/main" id="{367F38DE-6476-4ED5-51AD-7070BD6A603F}"/>
                </a:ext>
              </a:extLst>
            </p:cNvPr>
            <p:cNvSpPr/>
            <p:nvPr/>
          </p:nvSpPr>
          <p:spPr>
            <a:xfrm>
              <a:off x="7784856" y="17620211"/>
              <a:ext cx="7109314" cy="3528220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i="1" dirty="0" smtClean="0">
                  <a:solidFill>
                    <a:schemeClr val="tx1"/>
                  </a:solidFill>
                </a:rPr>
                <a:t>Las variantes de </a:t>
              </a:r>
              <a:r>
                <a:rPr lang="es-ES_tradnl" i="1" dirty="0">
                  <a:solidFill>
                    <a:schemeClr val="tx1"/>
                  </a:solidFill>
                </a:rPr>
                <a:t>los genes LEPR </a:t>
              </a:r>
              <a:r>
                <a:rPr lang="es-ES_tradnl" i="1" dirty="0" smtClean="0">
                  <a:solidFill>
                    <a:schemeClr val="tx1"/>
                  </a:solidFill>
                </a:rPr>
                <a:t>(portada por Maggie</a:t>
              </a:r>
              <a:r>
                <a:rPr lang="es-ES_tradnl" i="1" dirty="0">
                  <a:solidFill>
                    <a:schemeClr val="tx1"/>
                  </a:solidFill>
                </a:rPr>
                <a:t>) y MC4R </a:t>
              </a:r>
              <a:r>
                <a:rPr lang="es-ES_tradnl" i="1" dirty="0" smtClean="0">
                  <a:solidFill>
                    <a:schemeClr val="tx1"/>
                  </a:solidFill>
                </a:rPr>
                <a:t>(portada por Abraham y Maggie) pueden indicar que los Simpson sean propensos a desarrollar obesidad. Por </a:t>
              </a:r>
              <a:r>
                <a:rPr lang="es-ES_tradnl" i="1" dirty="0">
                  <a:solidFill>
                    <a:schemeClr val="tx1"/>
                  </a:solidFill>
                </a:rPr>
                <a:t>otro lado, mutaciones que comparten ambos en los genes MED12 y TP53, no se consideran patogénicas ni se observa relación con el fenotipo </a:t>
              </a:r>
              <a:r>
                <a:rPr lang="es-ES_tradnl" i="1" dirty="0" smtClean="0">
                  <a:solidFill>
                    <a:schemeClr val="tx1"/>
                  </a:solidFill>
                </a:rPr>
                <a:t>observado. Por lo tanto, la familia Simpson debe tener una dieta controlada y hábitos de vida saludable si no desean desarrollar obesidad.</a:t>
              </a:r>
              <a:endParaRPr lang="es-ES_tradnl" i="1" dirty="0">
                <a:solidFill>
                  <a:schemeClr val="tx1"/>
                </a:solidFill>
              </a:endParaRPr>
            </a:p>
          </p:txBody>
        </p:sp>
        <p:sp>
          <p:nvSpPr>
            <p:cNvPr id="38" name="Rectángulo redondeado 37">
              <a:extLst>
                <a:ext uri="{FF2B5EF4-FFF2-40B4-BE49-F238E27FC236}">
                  <a16:creationId xmlns:a16="http://schemas.microsoft.com/office/drawing/2014/main" id="{0757AA33-190F-8E74-0CAC-D7C442BACE75}"/>
                </a:ext>
              </a:extLst>
            </p:cNvPr>
            <p:cNvSpPr/>
            <p:nvPr/>
          </p:nvSpPr>
          <p:spPr>
            <a:xfrm>
              <a:off x="8077933" y="1730368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CONCLUSIONES</a:t>
              </a:r>
            </a:p>
          </p:txBody>
        </p:sp>
      </p:grpSp>
      <p:sp>
        <p:nvSpPr>
          <p:cNvPr id="39" name="Rectángulo redondeado 38">
            <a:extLst>
              <a:ext uri="{FF2B5EF4-FFF2-40B4-BE49-F238E27FC236}">
                <a16:creationId xmlns:a16="http://schemas.microsoft.com/office/drawing/2014/main" id="{05ACB882-C17A-7163-5754-50C1DB29AA22}"/>
              </a:ext>
            </a:extLst>
          </p:cNvPr>
          <p:cNvSpPr/>
          <p:nvPr/>
        </p:nvSpPr>
        <p:spPr>
          <a:xfrm>
            <a:off x="500673" y="8047000"/>
            <a:ext cx="13959752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Tabla</a:t>
            </a:r>
            <a:r>
              <a:rPr kumimoji="0" lang="es-ES_tradnl" sz="1800" b="1" i="0" u="none" strike="noStrike" kern="1200" cap="none" spc="0" normalizeH="0" noProof="0" dirty="0" smtClean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1.</a:t>
            </a:r>
            <a:r>
              <a:rPr kumimoji="0" lang="es-ES_tradnl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s-ES_tradnl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Información</a:t>
            </a:r>
            <a:r>
              <a:rPr kumimoji="0" lang="es-ES_tradnl" sz="18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 las variantes analizadas con VEP</a:t>
            </a:r>
            <a:r>
              <a:rPr kumimoji="0" lang="es-ES_tradnl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0" name="Rectángulo redondeado 39">
            <a:extLst>
              <a:ext uri="{FF2B5EF4-FFF2-40B4-BE49-F238E27FC236}">
                <a16:creationId xmlns:a16="http://schemas.microsoft.com/office/drawing/2014/main" id="{3F03464F-6AD8-145A-F4F0-58880920BB73}"/>
              </a:ext>
            </a:extLst>
          </p:cNvPr>
          <p:cNvSpPr/>
          <p:nvPr/>
        </p:nvSpPr>
        <p:spPr>
          <a:xfrm>
            <a:off x="518258" y="12276258"/>
            <a:ext cx="6177182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</a:t>
            </a:r>
            <a:r>
              <a:rPr kumimoji="0" lang="es-ES_tradnl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1. </a:t>
            </a:r>
            <a:r>
              <a:rPr kumimoji="0" lang="es-ES_tradnl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Estructura de</a:t>
            </a:r>
            <a:r>
              <a:rPr kumimoji="0" lang="es-ES_tradnl" sz="18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LEPR </a:t>
            </a:r>
            <a:r>
              <a:rPr kumimoji="0" lang="es-ES_tradnl" sz="1800" b="0" i="0" u="none" strike="noStrike" kern="1200" cap="none" spc="0" normalizeH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wt</a:t>
            </a:r>
            <a:r>
              <a:rPr kumimoji="0" lang="es-ES_tradnl" sz="18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y variante</a:t>
            </a:r>
            <a:r>
              <a:rPr kumimoji="0" lang="es-ES_tradnl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Rectángulo redondeado 40">
            <a:extLst>
              <a:ext uri="{FF2B5EF4-FFF2-40B4-BE49-F238E27FC236}">
                <a16:creationId xmlns:a16="http://schemas.microsoft.com/office/drawing/2014/main" id="{A5674FB9-8324-DF2F-A950-34B0495EFB78}"/>
              </a:ext>
            </a:extLst>
          </p:cNvPr>
          <p:cNvSpPr/>
          <p:nvPr/>
        </p:nvSpPr>
        <p:spPr>
          <a:xfrm>
            <a:off x="7518400" y="12275689"/>
            <a:ext cx="6959610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</a:t>
            </a:r>
            <a:r>
              <a:rPr kumimoji="0" lang="es-ES_tradnl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2. </a:t>
            </a:r>
            <a:r>
              <a:rPr kumimoji="0" lang="es-ES_tradnl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Alineamiento múltiple de MCR4.</a:t>
            </a: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10" name="Tab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947045"/>
              </p:ext>
            </p:extLst>
          </p:nvPr>
        </p:nvGraphicFramePr>
        <p:xfrm>
          <a:off x="325120" y="8750935"/>
          <a:ext cx="14437359" cy="3451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2550">
                  <a:extLst>
                    <a:ext uri="{9D8B030D-6E8A-4147-A177-3AD203B41FA5}">
                      <a16:colId xmlns:a16="http://schemas.microsoft.com/office/drawing/2014/main" val="3244092888"/>
                    </a:ext>
                  </a:extLst>
                </a:gridCol>
                <a:gridCol w="1372448">
                  <a:extLst>
                    <a:ext uri="{9D8B030D-6E8A-4147-A177-3AD203B41FA5}">
                      <a16:colId xmlns:a16="http://schemas.microsoft.com/office/drawing/2014/main" val="1115659417"/>
                    </a:ext>
                  </a:extLst>
                </a:gridCol>
                <a:gridCol w="2098090">
                  <a:extLst>
                    <a:ext uri="{9D8B030D-6E8A-4147-A177-3AD203B41FA5}">
                      <a16:colId xmlns:a16="http://schemas.microsoft.com/office/drawing/2014/main" val="135107357"/>
                    </a:ext>
                  </a:extLst>
                </a:gridCol>
                <a:gridCol w="540103">
                  <a:extLst>
                    <a:ext uri="{9D8B030D-6E8A-4147-A177-3AD203B41FA5}">
                      <a16:colId xmlns:a16="http://schemas.microsoft.com/office/drawing/2014/main" val="4068732041"/>
                    </a:ext>
                  </a:extLst>
                </a:gridCol>
                <a:gridCol w="1214836">
                  <a:extLst>
                    <a:ext uri="{9D8B030D-6E8A-4147-A177-3AD203B41FA5}">
                      <a16:colId xmlns:a16="http://schemas.microsoft.com/office/drawing/2014/main" val="1657421999"/>
                    </a:ext>
                  </a:extLst>
                </a:gridCol>
                <a:gridCol w="1285299">
                  <a:extLst>
                    <a:ext uri="{9D8B030D-6E8A-4147-A177-3AD203B41FA5}">
                      <a16:colId xmlns:a16="http://schemas.microsoft.com/office/drawing/2014/main" val="811257732"/>
                    </a:ext>
                  </a:extLst>
                </a:gridCol>
                <a:gridCol w="1176719">
                  <a:extLst>
                    <a:ext uri="{9D8B030D-6E8A-4147-A177-3AD203B41FA5}">
                      <a16:colId xmlns:a16="http://schemas.microsoft.com/office/drawing/2014/main" val="1311573008"/>
                    </a:ext>
                  </a:extLst>
                </a:gridCol>
                <a:gridCol w="2014999">
                  <a:extLst>
                    <a:ext uri="{9D8B030D-6E8A-4147-A177-3AD203B41FA5}">
                      <a16:colId xmlns:a16="http://schemas.microsoft.com/office/drawing/2014/main" val="2646108213"/>
                    </a:ext>
                  </a:extLst>
                </a:gridCol>
                <a:gridCol w="1287937">
                  <a:extLst>
                    <a:ext uri="{9D8B030D-6E8A-4147-A177-3AD203B41FA5}">
                      <a16:colId xmlns:a16="http://schemas.microsoft.com/office/drawing/2014/main" val="1123595204"/>
                    </a:ext>
                  </a:extLst>
                </a:gridCol>
                <a:gridCol w="1516441">
                  <a:extLst>
                    <a:ext uri="{9D8B030D-6E8A-4147-A177-3AD203B41FA5}">
                      <a16:colId xmlns:a16="http://schemas.microsoft.com/office/drawing/2014/main" val="40807659"/>
                    </a:ext>
                  </a:extLst>
                </a:gridCol>
                <a:gridCol w="1287937">
                  <a:extLst>
                    <a:ext uri="{9D8B030D-6E8A-4147-A177-3AD203B41FA5}">
                      <a16:colId xmlns:a16="http://schemas.microsoft.com/office/drawing/2014/main" val="224457234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>
                          <a:effectLst/>
                        </a:rPr>
                        <a:t>Gen</a:t>
                      </a:r>
                      <a:endParaRPr lang="es-E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Coordenada</a:t>
                      </a:r>
                      <a:endParaRPr lang="es-E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Nomenclatura.c</a:t>
                      </a:r>
                      <a:endParaRPr lang="es-E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Tipo</a:t>
                      </a:r>
                      <a:endParaRPr lang="es-E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Genotipo</a:t>
                      </a:r>
                      <a:endParaRPr lang="es-E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Frecuencia</a:t>
                      </a:r>
                      <a:endParaRPr lang="es-E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Proteína</a:t>
                      </a:r>
                      <a:endParaRPr lang="es-E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Nomenclatura.p</a:t>
                      </a:r>
                      <a:endParaRPr lang="es-E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Efecto</a:t>
                      </a:r>
                      <a:endParaRPr lang="es-E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SIFT</a:t>
                      </a:r>
                      <a:endParaRPr lang="es-E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PolyPhen</a:t>
                      </a:r>
                      <a:endParaRPr lang="es-E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1018498695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 fontAlgn="t"/>
                      <a:r>
                        <a:rPr lang="es-ES" sz="1600" u="none" strike="noStrike" dirty="0">
                          <a:effectLst/>
                        </a:rPr>
                        <a:t>LEPR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1:65609983-65609984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ENST00000349533.11:c.1790del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indel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heterocigoto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6.19 x 10-7 (mutación)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ENST00000349533.11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ENSP00000330393.7:p.Ser597IlefsTer20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Frameshift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???</a:t>
                      </a:r>
                      <a:endParaRPr lang="es-E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???</a:t>
                      </a:r>
                      <a:endParaRPr lang="es-E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109380854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t"/>
                      <a:r>
                        <a:rPr lang="es-ES" sz="1600" u="none" strike="noStrike">
                          <a:effectLst/>
                        </a:rPr>
                        <a:t>MC4R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18:60371535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ENST00000299766.5:c.815C&gt;A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SNP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heterocigoto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???</a:t>
                      </a:r>
                      <a:endParaRPr lang="es-E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ENST00000299766.5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ENSP00000299766.3:p.Pro272His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Missense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deleterious (0)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probably damaging (1)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405185864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fontAlgn="t"/>
                      <a:r>
                        <a:rPr lang="es-ES" sz="1600" u="none" strike="noStrike">
                          <a:effectLst/>
                        </a:rPr>
                        <a:t>MED12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X:71121046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ENST00000374080.8:c.629C&gt;T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SNP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hemicigoto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4.553x10-6 (mutación)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ENST00000374080.8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ENSP00000363193.3:p.Ala210Val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Missense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deleterious low confidence (0.02)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benign (0.19)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1853571327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 fontAlgn="t"/>
                      <a:r>
                        <a:rPr lang="es-ES" sz="1600" u="none" strike="noStrike">
                          <a:effectLst/>
                        </a:rPr>
                        <a:t>TP53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17:7676154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ENST00000269305.9:c.215C&gt;T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SNP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heterocigoto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6.19 x 10-7 (mutación)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ENST00000269305.9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ENSP00000269305.4:p.Pro72Leu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Missense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>
                          <a:effectLst/>
                        </a:rPr>
                        <a:t>tolerated (0.13)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600" u="none" strike="noStrike" dirty="0" err="1">
                          <a:effectLst/>
                        </a:rPr>
                        <a:t>benign</a:t>
                      </a:r>
                      <a:r>
                        <a:rPr lang="es-ES" sz="1600" u="none" strike="noStrike" dirty="0">
                          <a:effectLst/>
                        </a:rPr>
                        <a:t> (0.003)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435352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59999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27c1adeb-3674-457c-b08c-8a73f31b6e23" xsi:nil="true"/>
    <lcf76f155ced4ddcb4097134ff3c332f xmlns="27c1adeb-3674-457c-b08c-8a73f31b6e23">
      <Terms xmlns="http://schemas.microsoft.com/office/infopath/2007/PartnerControls"/>
    </lcf76f155ced4ddcb4097134ff3c332f>
    <TaxCatchAll xmlns="0a70e875-3d35-4be2-921f-7117c31bab9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3D7C797EA12745A270EF30E38719B9" ma:contentTypeVersion="20" ma:contentTypeDescription="Crear nuevo documento." ma:contentTypeScope="" ma:versionID="98b23ce13f8ef13134c980882a27b8cc">
  <xsd:schema xmlns:xsd="http://www.w3.org/2001/XMLSchema" xmlns:xs="http://www.w3.org/2001/XMLSchema" xmlns:p="http://schemas.microsoft.com/office/2006/metadata/properties" xmlns:ns2="0a70e875-3d35-4be2-921f-7117c31bab9b" xmlns:ns3="27c1adeb-3674-457c-b08c-8a73f31b6e23" targetNamespace="http://schemas.microsoft.com/office/2006/metadata/properties" ma:root="true" ma:fieldsID="83d50475b18a8f95f7f8edf1c6caa3f2" ns2:_="" ns3:_="">
    <xsd:import namespace="0a70e875-3d35-4be2-921f-7117c31bab9b"/>
    <xsd:import namespace="27c1adeb-3674-457c-b08c-8a73f31b6e2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_Flow_SignoffStatus" minOccurs="0"/>
                <xsd:element ref="ns3:MediaServiceObjectDetectorVersion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70e875-3d35-4be2-921f-7117c31bab9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7f67346-78c9-4c4d-b954-8d350fdf60db}" ma:internalName="TaxCatchAll" ma:showField="CatchAllData" ma:web="0a70e875-3d35-4be2-921f-7117c31bab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c1adeb-3674-457c-b08c-8a73f31b6e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17631b59-e624-4eb7-963c-219f14f88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5" nillable="true" ma:displayName="Estado de aprobación" ma:internalName="Estado_x0020_de_x0020_aprobaci_x00f3_n">
      <xsd:simpleType>
        <xsd:restriction base="dms:Text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5B638B7-22B7-4D35-BE84-714C8C34C11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BD36D8-5209-415C-A4C4-4F318B167F44}">
  <ds:schemaRefs>
    <ds:schemaRef ds:uri="http://schemas.openxmlformats.org/package/2006/metadata/core-properties"/>
    <ds:schemaRef ds:uri="http://schemas.microsoft.com/office/2006/documentManagement/types"/>
    <ds:schemaRef ds:uri="0a70e875-3d35-4be2-921f-7117c31bab9b"/>
    <ds:schemaRef ds:uri="http://www.w3.org/XML/1998/namespace"/>
    <ds:schemaRef ds:uri="27c1adeb-3674-457c-b08c-8a73f31b6e23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6214829-4D9F-4687-8E37-8FF1875CAB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70e875-3d35-4be2-921f-7117c31bab9b"/>
    <ds:schemaRef ds:uri="27c1adeb-3674-457c-b08c-8a73f31b6e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0361ecad-3f61-4749-aa5c-87fde47ef9ad}" enabled="1" method="Privileged" siteId="{22c8b4a4-d926-43b2-bcc7-87b998590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197</TotalTime>
  <Words>528</Words>
  <Application>Microsoft Office PowerPoint</Application>
  <PresentationFormat>Personalizado</PresentationFormat>
  <Paragraphs>72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DejaVu Sans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Victor  de la O Pascual</dc:creator>
  <cp:lastModifiedBy>Ruben</cp:lastModifiedBy>
  <cp:revision>30</cp:revision>
  <dcterms:created xsi:type="dcterms:W3CDTF">2025-04-21T10:03:24Z</dcterms:created>
  <dcterms:modified xsi:type="dcterms:W3CDTF">2026-02-01T12:26:03Z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0x010100DF3D7C797EA12745A270EF30E38719B9</vt:lpwstr>
  </property>
  <property fmtid="{D5CDD505-2E9C-101B-9397-08002B2CF9AE}" pid="3" name="MediaServiceImageTags">
    <vt:lpwstr/>
  </property>
</Properties>
</file>