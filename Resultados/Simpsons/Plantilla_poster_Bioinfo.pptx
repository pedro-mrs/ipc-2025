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8" r:id="rId5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96C9"/>
    <a:srgbClr val="59C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11"/>
    <p:restoredTop sz="94703"/>
  </p:normalViewPr>
  <p:slideViewPr>
    <p:cSldViewPr snapToGrid="0">
      <p:cViewPr varScale="1">
        <p:scale>
          <a:sx n="26" d="100"/>
          <a:sy n="26" d="100"/>
        </p:scale>
        <p:origin x="299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9784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148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>
                    <a:tint val="82000"/>
                  </a:schemeClr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8851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170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20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279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25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848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7756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612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07249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A1BBD-1589-104E-89D9-FD291A5EDB06}" type="datetimeFigureOut">
              <a:rPr lang="es-ES_tradnl" smtClean="0"/>
              <a:t>18/12/2025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F3024-9AEF-C645-BE7A-258C41DDD14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253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bg1"/>
            </a:gs>
            <a:gs pos="99000">
              <a:srgbClr val="59C2E3">
                <a:alpha val="25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A72C3-DD61-5B61-E46F-EDD19D1F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E1AA44F9-4D9B-B58B-32B6-5CC8410E7CBE}"/>
              </a:ext>
            </a:extLst>
          </p:cNvPr>
          <p:cNvGrpSpPr/>
          <p:nvPr/>
        </p:nvGrpSpPr>
        <p:grpSpPr>
          <a:xfrm>
            <a:off x="225180" y="3549043"/>
            <a:ext cx="14668990" cy="1504934"/>
            <a:chOff x="225180" y="3930299"/>
            <a:chExt cx="14668990" cy="150493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C4D1F524-44A5-F16E-9FD3-EE5EA5819EAD}"/>
                </a:ext>
              </a:extLst>
            </p:cNvPr>
            <p:cNvSpPr/>
            <p:nvPr/>
          </p:nvSpPr>
          <p:spPr>
            <a:xfrm>
              <a:off x="225180" y="4246822"/>
              <a:ext cx="14668990" cy="1188411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Introducción de 2-3 líneas explicando el contexto del análisis, hipótesis y objetivo.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15811AE5-F929-12ED-D44E-9D1519220278}"/>
                </a:ext>
              </a:extLst>
            </p:cNvPr>
            <p:cNvSpPr/>
            <p:nvPr/>
          </p:nvSpPr>
          <p:spPr>
            <a:xfrm>
              <a:off x="518258" y="393029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INTRODUCCIÓN</a:t>
              </a:r>
              <a:endParaRPr lang="es-ES_tradnl" sz="2800" b="1" dirty="0"/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88FB225B-2F62-B172-D75B-E02EF3836A0E}"/>
              </a:ext>
            </a:extLst>
          </p:cNvPr>
          <p:cNvGrpSpPr/>
          <p:nvPr/>
        </p:nvGrpSpPr>
        <p:grpSpPr>
          <a:xfrm>
            <a:off x="207596" y="5169142"/>
            <a:ext cx="14668990" cy="2093807"/>
            <a:chOff x="207596" y="6110487"/>
            <a:chExt cx="14668990" cy="1992925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C179AD0-ED02-975F-E151-1E1C61EAD8F2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" dirty="0">
                  <a:solidFill>
                    <a:schemeClr val="tx1"/>
                  </a:solidFill>
                </a:rPr>
                <a:t>La metodología consistió en el análisis de expresión diferencial de genes relacionados con la obesidad de datos de RNA-</a:t>
              </a:r>
              <a:r>
                <a:rPr lang="es-ES" dirty="0" err="1">
                  <a:solidFill>
                    <a:schemeClr val="tx1"/>
                  </a:solidFill>
                </a:rPr>
                <a:t>seq</a:t>
              </a:r>
              <a:r>
                <a:rPr lang="es-ES" dirty="0">
                  <a:solidFill>
                    <a:schemeClr val="tx1"/>
                  </a:solidFill>
                </a:rPr>
                <a:t> simulados, incluyendo un control de calidad inicial de las lecturas con </a:t>
              </a:r>
              <a:r>
                <a:rPr lang="es-ES" dirty="0" err="1">
                  <a:solidFill>
                    <a:schemeClr val="tx1"/>
                  </a:solidFill>
                </a:rPr>
                <a:t>FastQC</a:t>
              </a:r>
              <a:r>
                <a:rPr lang="es-ES" dirty="0">
                  <a:solidFill>
                    <a:schemeClr val="tx1"/>
                  </a:solidFill>
                </a:rPr>
                <a:t> y </a:t>
              </a:r>
              <a:r>
                <a:rPr lang="es-ES" dirty="0" err="1">
                  <a:solidFill>
                    <a:schemeClr val="tx1"/>
                  </a:solidFill>
                </a:rPr>
                <a:t>MultiQC</a:t>
              </a:r>
              <a:r>
                <a:rPr lang="es-ES" dirty="0">
                  <a:solidFill>
                    <a:schemeClr val="tx1"/>
                  </a:solidFill>
                </a:rPr>
                <a:t>. La cuantificación y normalización de la expresión génica se realizó mediante Salmon, generando una matriz de conteos por gen. La expresión diferencial, que se realizo entre los grupos Obeso 1 y </a:t>
              </a:r>
              <a:r>
                <a:rPr lang="es-ES" dirty="0" err="1">
                  <a:solidFill>
                    <a:schemeClr val="tx1"/>
                  </a:solidFill>
                </a:rPr>
                <a:t>Normopeso</a:t>
              </a:r>
              <a:r>
                <a:rPr lang="es-ES" dirty="0">
                  <a:solidFill>
                    <a:schemeClr val="tx1"/>
                  </a:solidFill>
                </a:rPr>
                <a:t>, se evaluó utilizando DESeq2. Los resultados se visualizaron mediante gráficos de tipo </a:t>
              </a:r>
              <a:r>
                <a:rPr lang="es-ES" dirty="0" err="1">
                  <a:solidFill>
                    <a:schemeClr val="tx1"/>
                  </a:solidFill>
                </a:rPr>
                <a:t>volcano</a:t>
              </a:r>
              <a:r>
                <a:rPr lang="es-ES" dirty="0">
                  <a:solidFill>
                    <a:schemeClr val="tx1"/>
                  </a:solidFill>
                </a:rPr>
                <a:t> y mapas de calor (generados con ggplot2, </a:t>
              </a:r>
              <a:r>
                <a:rPr lang="es-ES" dirty="0" err="1">
                  <a:solidFill>
                    <a:schemeClr val="tx1"/>
                  </a:solidFill>
                </a:rPr>
                <a:t>EnhancedVolcano</a:t>
              </a:r>
              <a:r>
                <a:rPr lang="es-ES" dirty="0">
                  <a:solidFill>
                    <a:schemeClr val="tx1"/>
                  </a:solidFill>
                </a:rPr>
                <a:t> y </a:t>
              </a:r>
              <a:r>
                <a:rPr lang="es-ES" dirty="0" err="1">
                  <a:solidFill>
                    <a:schemeClr val="tx1"/>
                  </a:solidFill>
                </a:rPr>
                <a:t>pheatmap</a:t>
              </a:r>
              <a:r>
                <a:rPr lang="es-ES" dirty="0">
                  <a:solidFill>
                    <a:schemeClr val="tx1"/>
                  </a:solidFill>
                </a:rPr>
                <a:t>) empleando los entornos R y Linux. Los resultados se interpretaron mediante bases de datos de función génica como </a:t>
              </a:r>
              <a:r>
                <a:rPr lang="es-ES" dirty="0" err="1">
                  <a:solidFill>
                    <a:schemeClr val="tx1"/>
                  </a:solidFill>
                </a:rPr>
                <a:t>GeneCards</a:t>
              </a:r>
              <a:r>
                <a:rPr lang="es-ES" dirty="0">
                  <a:solidFill>
                    <a:schemeClr val="tx1"/>
                  </a:solidFill>
                </a:rPr>
                <a:t> y PubMed y se empleo un </a:t>
              </a:r>
              <a:r>
                <a:rPr lang="es-ES" dirty="0" err="1">
                  <a:solidFill>
                    <a:schemeClr val="tx1"/>
                  </a:solidFill>
                </a:rPr>
                <a:t>analisis</a:t>
              </a:r>
              <a:r>
                <a:rPr lang="es-ES" dirty="0">
                  <a:solidFill>
                    <a:schemeClr val="tx1"/>
                  </a:solidFill>
                </a:rPr>
                <a:t> de enriquecimiento funcional (opcional).</a:t>
              </a:r>
              <a:endParaRPr lang="es-ES_tradnl" sz="24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51C45BDA-AC75-EE13-A211-698BB3CF2EDC}"/>
                </a:ext>
              </a:extLst>
            </p:cNvPr>
            <p:cNvSpPr/>
            <p:nvPr/>
          </p:nvSpPr>
          <p:spPr>
            <a:xfrm>
              <a:off x="500674" y="6110487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METODOLOGÍA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449220D-F047-A208-80A5-ECB282B1A62A}"/>
              </a:ext>
            </a:extLst>
          </p:cNvPr>
          <p:cNvGrpSpPr/>
          <p:nvPr/>
        </p:nvGrpSpPr>
        <p:grpSpPr>
          <a:xfrm>
            <a:off x="207596" y="7474425"/>
            <a:ext cx="14668990" cy="8794038"/>
            <a:chOff x="225180" y="8290675"/>
            <a:chExt cx="14668990" cy="9032720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F757B5F2-E57A-7217-E1AA-4D7E21F42FA0}"/>
                </a:ext>
              </a:extLst>
            </p:cNvPr>
            <p:cNvSpPr/>
            <p:nvPr/>
          </p:nvSpPr>
          <p:spPr>
            <a:xfrm>
              <a:off x="225180" y="8779455"/>
              <a:ext cx="14668990" cy="8543940"/>
            </a:xfrm>
            <a:prstGeom prst="roundRect">
              <a:avLst>
                <a:gd name="adj" fmla="val 1988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  <a:p>
              <a:pPr algn="just">
                <a:lnSpc>
                  <a:spcPct val="80000"/>
                </a:lnSpc>
              </a:pPr>
              <a:r>
                <a:rPr lang="nn-NO" i="1" dirty="0">
                  <a:solidFill>
                    <a:schemeClr val="tx1"/>
                  </a:solidFill>
                </a:rPr>
                <a:t>En el Volcano Plot se obtiene, para las categorias de Obeso1 y Normopeso, una sobreexpresion en los genes PCSK1 (NM_001177875.2 - NM_000439.5), KSR2 (NM_173598.6) y LEP (NM_000230.3).</a:t>
              </a:r>
            </a:p>
            <a:p>
              <a:pPr algn="just">
                <a:lnSpc>
                  <a:spcPct val="80000"/>
                </a:lnSpc>
              </a:pPr>
              <a:r>
                <a:rPr lang="nn-NO" i="1" dirty="0">
                  <a:solidFill>
                    <a:schemeClr val="tx1"/>
                  </a:solidFill>
                </a:rPr>
                <a:t>Más detalladamente, en el mapa de calor, se observan los genes diferencialmente expresados en cada personaje de los Sipmons que se encuentra en una de las categorías de estudio: Obeso1 y Normopeso.</a:t>
              </a:r>
              <a:endParaRPr lang="es-ES_tradnl" i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D2CE81C2-DE7D-86C0-BE63-0B1C502B9BDA}"/>
                </a:ext>
              </a:extLst>
            </p:cNvPr>
            <p:cNvSpPr/>
            <p:nvPr/>
          </p:nvSpPr>
          <p:spPr>
            <a:xfrm>
              <a:off x="518258" y="8290675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RESULTADOS</a:t>
              </a: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9CAA55-5763-DE38-517F-B4583DC84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0767" y="-95516"/>
            <a:ext cx="2325820" cy="140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upo 17">
            <a:extLst>
              <a:ext uri="{FF2B5EF4-FFF2-40B4-BE49-F238E27FC236}">
                <a16:creationId xmlns:a16="http://schemas.microsoft.com/office/drawing/2014/main" id="{7943CC5D-1654-184E-A7EC-A76F98FA9E8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-5895"/>
            <a:ext cx="3397496" cy="2303046"/>
            <a:chOff x="0" y="-5895"/>
            <a:chExt cx="4834200" cy="32769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E5760BA-D4D0-7C9E-76ED-065ED1139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5895"/>
              <a:ext cx="4834200" cy="3276938"/>
            </a:xfrm>
            <a:prstGeom prst="rect">
              <a:avLst/>
            </a:prstGeom>
          </p:spPr>
        </p:pic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4D86C97A-A2AB-20A7-3EB2-1F46C5416136}"/>
                </a:ext>
              </a:extLst>
            </p:cNvPr>
            <p:cNvSpPr/>
            <p:nvPr/>
          </p:nvSpPr>
          <p:spPr>
            <a:xfrm>
              <a:off x="964642" y="1549130"/>
              <a:ext cx="2257529" cy="671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70138B42-E335-E05D-E193-37141538289E}"/>
              </a:ext>
            </a:extLst>
          </p:cNvPr>
          <p:cNvSpPr/>
          <p:nvPr/>
        </p:nvSpPr>
        <p:spPr>
          <a:xfrm>
            <a:off x="677955" y="1233877"/>
            <a:ext cx="13763441" cy="2126548"/>
          </a:xfrm>
          <a:prstGeom prst="roundRect">
            <a:avLst>
              <a:gd name="adj" fmla="val 9702"/>
            </a:avLst>
          </a:prstGeom>
          <a:solidFill>
            <a:srgbClr val="4196C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tlCol="0" anchor="ctr"/>
          <a:lstStyle/>
          <a:p>
            <a:pPr algn="ctr"/>
            <a:r>
              <a:rPr lang="es-ES" sz="4000" b="1" dirty="0">
                <a:solidFill>
                  <a:schemeClr val="bg1"/>
                </a:solidFill>
              </a:rPr>
              <a:t>Análisis de expresión diferencial de genes relacionados con la obesidad mediante RNA-</a:t>
            </a:r>
            <a:r>
              <a:rPr lang="es-ES" sz="4000" b="1" dirty="0" err="1">
                <a:solidFill>
                  <a:schemeClr val="bg1"/>
                </a:solidFill>
              </a:rPr>
              <a:t>seq</a:t>
            </a:r>
            <a:endParaRPr lang="es-ES_tradnl" sz="4000" b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endParaRPr lang="es-ES_tradnl" sz="3600" b="1" i="1" dirty="0">
              <a:solidFill>
                <a:schemeClr val="bg1"/>
              </a:solidFill>
            </a:endParaRPr>
          </a:p>
          <a:p>
            <a:pPr algn="ctr">
              <a:lnSpc>
                <a:spcPct val="80000"/>
              </a:lnSpc>
            </a:pPr>
            <a:r>
              <a:rPr lang="es-ES_tradnl" sz="2000" b="1" i="1" dirty="0">
                <a:solidFill>
                  <a:schemeClr val="bg1"/>
                </a:solidFill>
              </a:rPr>
              <a:t>Paula Damián Moral - Paula Sofía </a:t>
            </a:r>
            <a:r>
              <a:rPr lang="es-ES_tradnl" sz="2000" b="1" i="1" dirty="0" err="1">
                <a:solidFill>
                  <a:schemeClr val="bg1"/>
                </a:solidFill>
              </a:rPr>
              <a:t>Norniella</a:t>
            </a:r>
            <a:r>
              <a:rPr lang="es-ES_tradnl" sz="2000" b="1" i="1" dirty="0">
                <a:solidFill>
                  <a:schemeClr val="bg1"/>
                </a:solidFill>
              </a:rPr>
              <a:t> </a:t>
            </a:r>
            <a:r>
              <a:rPr lang="es-ES_tradnl" sz="2000" b="1" i="1" dirty="0" err="1">
                <a:solidFill>
                  <a:schemeClr val="bg1"/>
                </a:solidFill>
              </a:rPr>
              <a:t>Jamart</a:t>
            </a:r>
            <a:r>
              <a:rPr lang="es-ES_tradnl" sz="2000" b="1" i="1" dirty="0">
                <a:solidFill>
                  <a:schemeClr val="bg1"/>
                </a:solidFill>
              </a:rPr>
              <a:t> - Pedro García Sáez - Pedro Manuel Rodríguez Santos - Pilar Navarro Sánchez - Rubén Martín Blázquez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C6C9477-586D-D4FB-ADEE-063D77B3A812}"/>
              </a:ext>
            </a:extLst>
          </p:cNvPr>
          <p:cNvGrpSpPr/>
          <p:nvPr/>
        </p:nvGrpSpPr>
        <p:grpSpPr>
          <a:xfrm>
            <a:off x="200156" y="16455234"/>
            <a:ext cx="9095800" cy="3334555"/>
            <a:chOff x="225181" y="17303689"/>
            <a:chExt cx="9095800" cy="3844742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1B34C5B1-3A9B-391B-803D-711026F44639}"/>
                </a:ext>
              </a:extLst>
            </p:cNvPr>
            <p:cNvSpPr/>
            <p:nvPr/>
          </p:nvSpPr>
          <p:spPr>
            <a:xfrm>
              <a:off x="225181" y="17620211"/>
              <a:ext cx="9095800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Interpretación de resultados, posibles relaciones si aplica, etc.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3BC039B6-C9D2-02F3-8F27-C85043A7CC84}"/>
                </a:ext>
              </a:extLst>
            </p:cNvPr>
            <p:cNvSpPr/>
            <p:nvPr/>
          </p:nvSpPr>
          <p:spPr>
            <a:xfrm>
              <a:off x="518258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DISCUSIÓN</a:t>
              </a: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CDA7380-1384-C476-FC20-7A4A09E7B7FE}"/>
              </a:ext>
            </a:extLst>
          </p:cNvPr>
          <p:cNvGrpSpPr/>
          <p:nvPr/>
        </p:nvGrpSpPr>
        <p:grpSpPr>
          <a:xfrm>
            <a:off x="9509874" y="16455234"/>
            <a:ext cx="5366712" cy="3334555"/>
            <a:chOff x="7784856" y="17303689"/>
            <a:chExt cx="7109314" cy="3844742"/>
          </a:xfrm>
        </p:grpSpPr>
        <p:sp>
          <p:nvSpPr>
            <p:cNvPr id="37" name="Rectángulo redondeado 36">
              <a:extLst>
                <a:ext uri="{FF2B5EF4-FFF2-40B4-BE49-F238E27FC236}">
                  <a16:creationId xmlns:a16="http://schemas.microsoft.com/office/drawing/2014/main" id="{367F38DE-6476-4ED5-51AD-7070BD6A603F}"/>
                </a:ext>
              </a:extLst>
            </p:cNvPr>
            <p:cNvSpPr/>
            <p:nvPr/>
          </p:nvSpPr>
          <p:spPr>
            <a:xfrm>
              <a:off x="7784856" y="17620211"/>
              <a:ext cx="7109314" cy="3528220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r>
                <a:rPr lang="es-ES_tradnl" i="1" dirty="0">
                  <a:solidFill>
                    <a:schemeClr val="tx1"/>
                  </a:solidFill>
                </a:rPr>
                <a:t>Resumen principal de hallazgos y limitaciones del análisis si aplica</a:t>
              </a: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38" name="Rectángulo redondeado 37">
              <a:extLst>
                <a:ext uri="{FF2B5EF4-FFF2-40B4-BE49-F238E27FC236}">
                  <a16:creationId xmlns:a16="http://schemas.microsoft.com/office/drawing/2014/main" id="{0757AA33-190F-8E74-0CAC-D7C442BACE75}"/>
                </a:ext>
              </a:extLst>
            </p:cNvPr>
            <p:cNvSpPr/>
            <p:nvPr/>
          </p:nvSpPr>
          <p:spPr>
            <a:xfrm>
              <a:off x="8077933" y="17303689"/>
              <a:ext cx="5838092" cy="633046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 dirty="0"/>
                <a:t>CONCLUSIONES</a:t>
              </a:r>
            </a:p>
          </p:txBody>
        </p:sp>
      </p:grpSp>
      <p:sp>
        <p:nvSpPr>
          <p:cNvPr id="39" name="Rectángulo redondeado 38">
            <a:extLst>
              <a:ext uri="{FF2B5EF4-FFF2-40B4-BE49-F238E27FC236}">
                <a16:creationId xmlns:a16="http://schemas.microsoft.com/office/drawing/2014/main" id="{05ACB882-C17A-7163-5754-50C1DB29AA22}"/>
              </a:ext>
            </a:extLst>
          </p:cNvPr>
          <p:cNvSpPr/>
          <p:nvPr/>
        </p:nvSpPr>
        <p:spPr>
          <a:xfrm>
            <a:off x="500673" y="8552274"/>
            <a:ext cx="6218922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1.</a:t>
            </a:r>
            <a:r>
              <a:rPr lang="es-ES_tradnl" b="1" dirty="0">
                <a:solidFill>
                  <a:srgbClr val="4196C9"/>
                </a:solidFill>
                <a:latin typeface="Aptos" panose="02110004020202020204"/>
              </a:rPr>
              <a:t>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Volcano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Plot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 de la expresión diferencial genética entre las categorías Obeso1 y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Normopeso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3F03464F-6AD8-145A-F4F0-58880920BB73}"/>
              </a:ext>
            </a:extLst>
          </p:cNvPr>
          <p:cNvSpPr/>
          <p:nvPr/>
        </p:nvSpPr>
        <p:spPr>
          <a:xfrm>
            <a:off x="7846424" y="8647753"/>
            <a:ext cx="6705696" cy="63304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1" i="0" u="none" strike="noStrike" kern="1200" cap="none" spc="0" normalizeH="0" baseline="0" noProof="0" dirty="0">
                <a:ln>
                  <a:noFill/>
                </a:ln>
                <a:solidFill>
                  <a:srgbClr val="4196C9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Figura 2. 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Mapa de calor solo de los genes diferencialmente expresados entre Obeso1 y </a:t>
            </a:r>
            <a:r>
              <a:rPr lang="es-ES_tradnl" b="1" dirty="0" err="1">
                <a:solidFill>
                  <a:prstClr val="black"/>
                </a:solidFill>
                <a:latin typeface="Aptos" panose="02110004020202020204"/>
              </a:rPr>
              <a:t>Normopeso</a:t>
            </a:r>
            <a:r>
              <a:rPr lang="es-ES_tradnl" b="1" dirty="0">
                <a:solidFill>
                  <a:prstClr val="black"/>
                </a:solidFill>
                <a:latin typeface="Aptos" panose="02110004020202020204"/>
              </a:rPr>
              <a:t>.</a:t>
            </a:r>
            <a:endParaRPr kumimoji="0" lang="es-ES_tradn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867C960-C58D-E85E-D3DF-0A1280F75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73" y="9685931"/>
            <a:ext cx="6362950" cy="516700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D2B0285-181D-94ED-19C7-B8B6646014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169" y="9685931"/>
            <a:ext cx="6362951" cy="5167006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3C0430B1-DA84-A5E7-56D9-DB622393E1A9}"/>
              </a:ext>
            </a:extLst>
          </p:cNvPr>
          <p:cNvGrpSpPr/>
          <p:nvPr/>
        </p:nvGrpSpPr>
        <p:grpSpPr>
          <a:xfrm>
            <a:off x="207596" y="19986171"/>
            <a:ext cx="14668990" cy="1332412"/>
            <a:chOff x="207596" y="5986333"/>
            <a:chExt cx="14668990" cy="2117079"/>
          </a:xfrm>
        </p:grpSpPr>
        <p:sp>
          <p:nvSpPr>
            <p:cNvPr id="23" name="Rectángulo redondeado 13">
              <a:extLst>
                <a:ext uri="{FF2B5EF4-FFF2-40B4-BE49-F238E27FC236}">
                  <a16:creationId xmlns:a16="http://schemas.microsoft.com/office/drawing/2014/main" id="{389A8E42-9C9B-7815-0785-B232A9801221}"/>
                </a:ext>
              </a:extLst>
            </p:cNvPr>
            <p:cNvSpPr/>
            <p:nvPr/>
          </p:nvSpPr>
          <p:spPr>
            <a:xfrm>
              <a:off x="207596" y="6427010"/>
              <a:ext cx="14668990" cy="1676402"/>
            </a:xfrm>
            <a:prstGeom prst="roundRect">
              <a:avLst>
                <a:gd name="adj" fmla="val 9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0" rtlCol="0" anchor="t"/>
            <a:lstStyle/>
            <a:p>
              <a:pPr algn="just">
                <a:lnSpc>
                  <a:spcPct val="80000"/>
                </a:lnSpc>
              </a:pPr>
              <a:endParaRPr lang="es-ES_tradnl" sz="2400" i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ángulo redondeado 14">
              <a:extLst>
                <a:ext uri="{FF2B5EF4-FFF2-40B4-BE49-F238E27FC236}">
                  <a16:creationId xmlns:a16="http://schemas.microsoft.com/office/drawing/2014/main" id="{EAEAA6AB-78C4-75DC-9D64-9A08D61943C5}"/>
                </a:ext>
              </a:extLst>
            </p:cNvPr>
            <p:cNvSpPr/>
            <p:nvPr/>
          </p:nvSpPr>
          <p:spPr>
            <a:xfrm>
              <a:off x="500674" y="5986333"/>
              <a:ext cx="5838092" cy="757200"/>
            </a:xfrm>
            <a:prstGeom prst="roundRect">
              <a:avLst/>
            </a:prstGeom>
            <a:gradFill>
              <a:gsLst>
                <a:gs pos="100000">
                  <a:srgbClr val="4196C9"/>
                </a:gs>
                <a:gs pos="0">
                  <a:srgbClr val="59C2E3"/>
                </a:gs>
              </a:gsLst>
              <a:lin ang="2700000" scaled="1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b="1"/>
                <a:t>BIBLIOGRAFÍA</a:t>
              </a:r>
              <a:endParaRPr lang="es-ES_tradnl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45999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20" ma:contentTypeDescription="Crear nuevo documento." ma:contentTypeScope="" ma:versionID="98b23ce13f8ef13134c980882a27b8cc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83d50475b18a8f95f7f8edf1c6caa3f2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_Flow_SignoffStatu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7f67346-78c9-4c4d-b954-8d350fdf60db}" ma:internalName="TaxCatchAll" ma:showField="CatchAllData" ma:web="0a70e875-3d35-4be2-921f-7117c31bab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17631b59-e624-4eb7-963c-219f14f88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5" nillable="true" ma:displayName="Estado de aprobación" ma:internalName="Estado_x0020_de_x0020_aprobaci_x00f3_n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27c1adeb-3674-457c-b08c-8a73f31b6e23" xsi:nil="true"/>
    <lcf76f155ced4ddcb4097134ff3c332f xmlns="27c1adeb-3674-457c-b08c-8a73f31b6e23">
      <Terms xmlns="http://schemas.microsoft.com/office/infopath/2007/PartnerControls"/>
    </lcf76f155ced4ddcb4097134ff3c332f>
    <TaxCatchAll xmlns="0a70e875-3d35-4be2-921f-7117c31bab9b" xsi:nil="true"/>
  </documentManagement>
</p:properties>
</file>

<file path=customXml/itemProps1.xml><?xml version="1.0" encoding="utf-8"?>
<ds:datastoreItem xmlns:ds="http://schemas.openxmlformats.org/officeDocument/2006/customXml" ds:itemID="{53E95016-93A9-4903-BA02-7A05B5939C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933766-0056-42DC-9416-E7C06BCFC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8B5577-5CCE-4E9D-BDFA-952900719EE2}">
  <ds:schemaRefs>
    <ds:schemaRef ds:uri="http://schemas.microsoft.com/office/2006/metadata/properties"/>
    <ds:schemaRef ds:uri="http://schemas.microsoft.com/office/infopath/2007/PartnerControls"/>
    <ds:schemaRef ds:uri="27c1adeb-3674-457c-b08c-8a73f31b6e23"/>
    <ds:schemaRef ds:uri="0a70e875-3d35-4be2-921f-7117c31bab9b"/>
  </ds:schemaRefs>
</ds:datastoreItem>
</file>

<file path=docMetadata/LabelInfo.xml><?xml version="1.0" encoding="utf-8"?>
<clbl:labelList xmlns:clbl="http://schemas.microsoft.com/office/2020/mipLabelMetadata">
  <clbl:label id="{0361ecad-3f61-4749-aa5c-87fde47ef9ad}" enabled="1" method="Privileged" siteId="{22c8b4a4-d926-43b2-bcc7-87b998590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322</Words>
  <Application>Microsoft Office PowerPoint</Application>
  <PresentationFormat>Personalizado</PresentationFormat>
  <Paragraphs>40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 de la O Pascual</dc:creator>
  <cp:lastModifiedBy>Pedro Manuel Rodriguez Santos</cp:lastModifiedBy>
  <cp:revision>27</cp:revision>
  <dcterms:created xsi:type="dcterms:W3CDTF">2025-04-21T10:03:24Z</dcterms:created>
  <dcterms:modified xsi:type="dcterms:W3CDTF">2025-12-18T16:23:54Z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0x010100DF3D7C797EA12745A270EF30E38719B9</vt:lpwstr>
  </property>
  <property fmtid="{D5CDD505-2E9C-101B-9397-08002B2CF9AE}" pid="3" name="MediaServiceImageTags">
    <vt:lpwstr/>
  </property>
</Properties>
</file>