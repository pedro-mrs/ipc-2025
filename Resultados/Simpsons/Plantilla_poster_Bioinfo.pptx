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8" r:id="rId5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96C9"/>
    <a:srgbClr val="59C2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11"/>
    <p:restoredTop sz="94703"/>
  </p:normalViewPr>
  <p:slideViewPr>
    <p:cSldViewPr snapToGrid="0">
      <p:cViewPr>
        <p:scale>
          <a:sx n="61" d="100"/>
          <a:sy n="61" d="100"/>
        </p:scale>
        <p:origin x="1330" y="-34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9784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91489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885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2170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32023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279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42561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48480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775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36129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7249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DA1BBD-1589-104E-89D9-FD291A5EDB06}" type="datetimeFigureOut">
              <a:rPr lang="es-ES_tradnl" smtClean="0"/>
              <a:t>19/12/2025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253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4000">
              <a:schemeClr val="bg1"/>
            </a:gs>
            <a:gs pos="99000">
              <a:srgbClr val="59C2E3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A72C3-DD61-5B61-E46F-EDD19D1F5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E1AA44F9-4D9B-B58B-32B6-5CC8410E7CBE}"/>
              </a:ext>
            </a:extLst>
          </p:cNvPr>
          <p:cNvGrpSpPr/>
          <p:nvPr/>
        </p:nvGrpSpPr>
        <p:grpSpPr>
          <a:xfrm>
            <a:off x="225180" y="3549043"/>
            <a:ext cx="14668990" cy="1504934"/>
            <a:chOff x="225180" y="3930299"/>
            <a:chExt cx="14668990" cy="1504934"/>
          </a:xfrm>
        </p:grpSpPr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4D1F524-44A5-F16E-9FD3-EE5EA5819EAD}"/>
                </a:ext>
              </a:extLst>
            </p:cNvPr>
            <p:cNvSpPr/>
            <p:nvPr/>
          </p:nvSpPr>
          <p:spPr>
            <a:xfrm>
              <a:off x="225180" y="4246822"/>
              <a:ext cx="14668990" cy="1188411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dirty="0">
                  <a:solidFill>
                    <a:schemeClr val="tx1"/>
                  </a:solidFill>
                </a:rPr>
                <a:t>La obesidad es un importante problema de salud pública con un marcado componente genético y familiar. El análisis de la expresión génica mediante </a:t>
              </a:r>
              <a:r>
                <a:rPr lang="es-ES" dirty="0" err="1">
                  <a:solidFill>
                    <a:schemeClr val="tx1"/>
                  </a:solidFill>
                </a:rPr>
                <a:t>RNAseq</a:t>
              </a:r>
              <a:r>
                <a:rPr lang="es-ES" dirty="0">
                  <a:solidFill>
                    <a:schemeClr val="tx1"/>
                  </a:solidFill>
                </a:rPr>
                <a:t> permite identificar genes diferencialmente expresados asociados a esta condición. En este estudio se analizan las diferencias de expresión génica entre individuos con obesidad y </a:t>
              </a:r>
              <a:r>
                <a:rPr lang="es-ES" dirty="0" err="1">
                  <a:solidFill>
                    <a:schemeClr val="tx1"/>
                  </a:solidFill>
                </a:rPr>
                <a:t>normopeso</a:t>
              </a:r>
              <a:r>
                <a:rPr lang="es-ES" dirty="0">
                  <a:solidFill>
                    <a:schemeClr val="tx1"/>
                  </a:solidFill>
                </a:rPr>
                <a:t> de la familia Simpson.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15811AE5-F929-12ED-D44E-9D1519220278}"/>
                </a:ext>
              </a:extLst>
            </p:cNvPr>
            <p:cNvSpPr/>
            <p:nvPr/>
          </p:nvSpPr>
          <p:spPr>
            <a:xfrm>
              <a:off x="518258" y="393029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INTRODUCCIÓN</a:t>
              </a:r>
              <a:endParaRPr lang="es-ES_tradnl" sz="2800" b="1" dirty="0"/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88FB225B-2F62-B172-D75B-E02EF3836A0E}"/>
              </a:ext>
            </a:extLst>
          </p:cNvPr>
          <p:cNvGrpSpPr/>
          <p:nvPr/>
        </p:nvGrpSpPr>
        <p:grpSpPr>
          <a:xfrm>
            <a:off x="207596" y="5169142"/>
            <a:ext cx="14668990" cy="2093807"/>
            <a:chOff x="207596" y="6110487"/>
            <a:chExt cx="14668990" cy="1992925"/>
          </a:xfrm>
        </p:grpSpPr>
        <p:sp>
          <p:nvSpPr>
            <p:cNvPr id="14" name="Rectángulo redondeado 13">
              <a:extLst>
                <a:ext uri="{FF2B5EF4-FFF2-40B4-BE49-F238E27FC236}">
                  <a16:creationId xmlns:a16="http://schemas.microsoft.com/office/drawing/2014/main" id="{FC179AD0-ED02-975F-E151-1E1C61EAD8F2}"/>
                </a:ext>
              </a:extLst>
            </p:cNvPr>
            <p:cNvSpPr/>
            <p:nvPr/>
          </p:nvSpPr>
          <p:spPr>
            <a:xfrm>
              <a:off x="207596" y="6427010"/>
              <a:ext cx="14668990" cy="1676402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dirty="0">
                  <a:solidFill>
                    <a:schemeClr val="tx1"/>
                  </a:solidFill>
                </a:rPr>
                <a:t>La metodología se basó en el análisis de expresión génica diferencial a partir de datos simulados de RNA-</a:t>
              </a:r>
              <a:r>
                <a:rPr lang="es-ES" dirty="0" err="1">
                  <a:solidFill>
                    <a:schemeClr val="tx1"/>
                  </a:solidFill>
                </a:rPr>
                <a:t>seq</a:t>
              </a:r>
              <a:r>
                <a:rPr lang="es-ES" dirty="0">
                  <a:solidFill>
                    <a:schemeClr val="tx1"/>
                  </a:solidFill>
                </a:rPr>
                <a:t> relacionados con la obesidad. Se realizó un control de calidad inicial de las lecturas mediante </a:t>
              </a:r>
              <a:r>
                <a:rPr lang="es-ES" dirty="0" err="1">
                  <a:solidFill>
                    <a:schemeClr val="tx1"/>
                  </a:solidFill>
                </a:rPr>
                <a:t>FastQC</a:t>
              </a:r>
              <a:r>
                <a:rPr lang="es-ES" dirty="0">
                  <a:solidFill>
                    <a:schemeClr val="tx1"/>
                  </a:solidFill>
                </a:rPr>
                <a:t> y </a:t>
              </a:r>
              <a:r>
                <a:rPr lang="es-ES" dirty="0" err="1">
                  <a:solidFill>
                    <a:schemeClr val="tx1"/>
                  </a:solidFill>
                </a:rPr>
                <a:t>MultiQC</a:t>
              </a:r>
              <a:r>
                <a:rPr lang="es-ES" dirty="0">
                  <a:solidFill>
                    <a:schemeClr val="tx1"/>
                  </a:solidFill>
                </a:rPr>
                <a:t>, seguido de la cuantificación y normalización de la expresión génica con Salmon. El análisis de expresión diferencial entre los grupos Obeso 1 y </a:t>
              </a:r>
              <a:r>
                <a:rPr lang="es-ES" dirty="0" err="1">
                  <a:solidFill>
                    <a:schemeClr val="tx1"/>
                  </a:solidFill>
                </a:rPr>
                <a:t>Normopeso</a:t>
              </a:r>
              <a:r>
                <a:rPr lang="es-ES" dirty="0">
                  <a:solidFill>
                    <a:schemeClr val="tx1"/>
                  </a:solidFill>
                </a:rPr>
                <a:t> se llevó a cabo utilizando DESeq2. Los resultados se visualizaron mediante gráficos </a:t>
              </a:r>
              <a:r>
                <a:rPr lang="es-ES" dirty="0" err="1">
                  <a:solidFill>
                    <a:schemeClr val="tx1"/>
                  </a:solidFill>
                </a:rPr>
                <a:t>volcano</a:t>
              </a:r>
              <a:r>
                <a:rPr lang="es-ES" dirty="0">
                  <a:solidFill>
                    <a:schemeClr val="tx1"/>
                  </a:solidFill>
                </a:rPr>
                <a:t> y mapas de calor empleando ggplot2, </a:t>
              </a:r>
              <a:r>
                <a:rPr lang="es-ES" dirty="0" err="1">
                  <a:solidFill>
                    <a:schemeClr val="tx1"/>
                  </a:solidFill>
                </a:rPr>
                <a:t>EnhancedVolcano</a:t>
              </a:r>
              <a:r>
                <a:rPr lang="es-ES" dirty="0">
                  <a:solidFill>
                    <a:schemeClr val="tx1"/>
                  </a:solidFill>
                </a:rPr>
                <a:t> y </a:t>
              </a:r>
              <a:r>
                <a:rPr lang="es-ES" dirty="0" err="1">
                  <a:solidFill>
                    <a:schemeClr val="tx1"/>
                  </a:solidFill>
                </a:rPr>
                <a:t>pheatmap</a:t>
              </a:r>
              <a:r>
                <a:rPr lang="es-ES" dirty="0">
                  <a:solidFill>
                    <a:schemeClr val="tx1"/>
                  </a:solidFill>
                </a:rPr>
                <a:t> en entornos R y Linux. Finalmente, la interpretación biológica se realizó mediante bases de datos como </a:t>
              </a:r>
              <a:r>
                <a:rPr lang="es-ES" dirty="0" err="1">
                  <a:solidFill>
                    <a:schemeClr val="tx1"/>
                  </a:solidFill>
                </a:rPr>
                <a:t>GeneCards</a:t>
              </a:r>
              <a:r>
                <a:rPr lang="es-ES" dirty="0">
                  <a:solidFill>
                    <a:schemeClr val="tx1"/>
                  </a:solidFill>
                </a:rPr>
                <a:t> y PubMed, incluyendo de forma opcional un análisis de enriquecimiento funcional.</a:t>
              </a:r>
              <a:endParaRPr lang="es-ES_tradnl" sz="2400" dirty="0">
                <a:solidFill>
                  <a:schemeClr val="tx1"/>
                </a:solidFill>
              </a:endParaRPr>
            </a:p>
          </p:txBody>
        </p:sp>
        <p:sp>
          <p:nvSpPr>
            <p:cNvPr id="15" name="Rectángulo redondeado 14">
              <a:extLst>
                <a:ext uri="{FF2B5EF4-FFF2-40B4-BE49-F238E27FC236}">
                  <a16:creationId xmlns:a16="http://schemas.microsoft.com/office/drawing/2014/main" id="{51C45BDA-AC75-EE13-A211-698BB3CF2EDC}"/>
                </a:ext>
              </a:extLst>
            </p:cNvPr>
            <p:cNvSpPr/>
            <p:nvPr/>
          </p:nvSpPr>
          <p:spPr>
            <a:xfrm>
              <a:off x="500674" y="6110487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METODOLOGÍA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0449220D-F047-A208-80A5-ECB282B1A62A}"/>
              </a:ext>
            </a:extLst>
          </p:cNvPr>
          <p:cNvGrpSpPr/>
          <p:nvPr/>
        </p:nvGrpSpPr>
        <p:grpSpPr>
          <a:xfrm>
            <a:off x="207596" y="7474425"/>
            <a:ext cx="14668990" cy="8794038"/>
            <a:chOff x="225180" y="8290675"/>
            <a:chExt cx="14668990" cy="9032720"/>
          </a:xfrm>
        </p:grpSpPr>
        <p:sp>
          <p:nvSpPr>
            <p:cNvPr id="16" name="Rectángulo redondeado 15">
              <a:extLst>
                <a:ext uri="{FF2B5EF4-FFF2-40B4-BE49-F238E27FC236}">
                  <a16:creationId xmlns:a16="http://schemas.microsoft.com/office/drawing/2014/main" id="{F757B5F2-E57A-7217-E1AA-4D7E21F42FA0}"/>
                </a:ext>
              </a:extLst>
            </p:cNvPr>
            <p:cNvSpPr/>
            <p:nvPr/>
          </p:nvSpPr>
          <p:spPr>
            <a:xfrm>
              <a:off x="225180" y="8779455"/>
              <a:ext cx="14668990" cy="8543940"/>
            </a:xfrm>
            <a:prstGeom prst="roundRect">
              <a:avLst>
                <a:gd name="adj" fmla="val 1988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  <a:p>
              <a:pPr algn="just">
                <a:lnSpc>
                  <a:spcPct val="80000"/>
                </a:lnSpc>
              </a:pPr>
              <a:r>
                <a:rPr lang="nn-NO" i="1" dirty="0">
                  <a:solidFill>
                    <a:schemeClr val="tx1"/>
                  </a:solidFill>
                </a:rPr>
                <a:t>En el Volcano Plot se obtiene, para las categorias de Obeso1 y Normopeso, una sobreexpresion en los genes NTRK2, LEP, MC4R, CADM2, SH2B1, PSCK1, LEPR.</a:t>
              </a:r>
            </a:p>
            <a:p>
              <a:pPr algn="just">
                <a:lnSpc>
                  <a:spcPct val="80000"/>
                </a:lnSpc>
              </a:pPr>
              <a:r>
                <a:rPr lang="nn-NO" i="1" dirty="0">
                  <a:solidFill>
                    <a:schemeClr val="tx1"/>
                  </a:solidFill>
                </a:rPr>
                <a:t>Más detalladamente, en el mapa de calor, se observan los genes diferencialmente expresados en cada personaje de los Sipmons que se encuentra en una de las categorías de estudio: Obeso1 y Normopeso.</a:t>
              </a:r>
              <a:endParaRPr lang="es-ES_tradnl" i="1" dirty="0">
                <a:solidFill>
                  <a:schemeClr val="tx1"/>
                </a:solidFill>
              </a:endParaRPr>
            </a:p>
          </p:txBody>
        </p:sp>
        <p:sp>
          <p:nvSpPr>
            <p:cNvPr id="17" name="Rectángulo redondeado 16">
              <a:extLst>
                <a:ext uri="{FF2B5EF4-FFF2-40B4-BE49-F238E27FC236}">
                  <a16:creationId xmlns:a16="http://schemas.microsoft.com/office/drawing/2014/main" id="{D2CE81C2-DE7D-86C0-BE63-0B1C502B9BDA}"/>
                </a:ext>
              </a:extLst>
            </p:cNvPr>
            <p:cNvSpPr/>
            <p:nvPr/>
          </p:nvSpPr>
          <p:spPr>
            <a:xfrm>
              <a:off x="518258" y="8290675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RESULTADOS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D59CAA55-5763-DE38-517F-B4583DC84A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0767" y="-95516"/>
            <a:ext cx="2325820" cy="140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>
            <a:extLst>
              <a:ext uri="{FF2B5EF4-FFF2-40B4-BE49-F238E27FC236}">
                <a16:creationId xmlns:a16="http://schemas.microsoft.com/office/drawing/2014/main" id="{7943CC5D-1654-184E-A7EC-A76F98FA9E8B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-5895"/>
            <a:ext cx="3397496" cy="2303046"/>
            <a:chOff x="0" y="-5895"/>
            <a:chExt cx="4834200" cy="327693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E5760BA-D4D0-7C9E-76ED-065ED1139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-5895"/>
              <a:ext cx="4834200" cy="3276938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4D86C97A-A2AB-20A7-3EB2-1F46C5416136}"/>
                </a:ext>
              </a:extLst>
            </p:cNvPr>
            <p:cNvSpPr/>
            <p:nvPr/>
          </p:nvSpPr>
          <p:spPr>
            <a:xfrm>
              <a:off x="964642" y="1549130"/>
              <a:ext cx="2257529" cy="671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sp>
        <p:nvSpPr>
          <p:cNvPr id="3" name="Rectángulo redondeado 2">
            <a:extLst>
              <a:ext uri="{FF2B5EF4-FFF2-40B4-BE49-F238E27FC236}">
                <a16:creationId xmlns:a16="http://schemas.microsoft.com/office/drawing/2014/main" id="{70138B42-E335-E05D-E193-37141538289E}"/>
              </a:ext>
            </a:extLst>
          </p:cNvPr>
          <p:cNvSpPr/>
          <p:nvPr/>
        </p:nvSpPr>
        <p:spPr>
          <a:xfrm>
            <a:off x="677955" y="1086983"/>
            <a:ext cx="13763441" cy="2392388"/>
          </a:xfrm>
          <a:prstGeom prst="roundRect">
            <a:avLst>
              <a:gd name="adj" fmla="val 9702"/>
            </a:avLst>
          </a:prstGeom>
          <a:solidFill>
            <a:srgbClr val="419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tlCol="0" anchor="ctr"/>
          <a:lstStyle/>
          <a:p>
            <a:pPr algn="ctr"/>
            <a:r>
              <a:rPr lang="es-ES" sz="4000" b="1" dirty="0">
                <a:solidFill>
                  <a:schemeClr val="bg1"/>
                </a:solidFill>
              </a:rPr>
              <a:t>Análisis de expresión diferencial de genes relacionados con la obesidad mediante RNA-</a:t>
            </a:r>
            <a:r>
              <a:rPr lang="es-ES" sz="4000" b="1" dirty="0" err="1">
                <a:solidFill>
                  <a:schemeClr val="bg1"/>
                </a:solidFill>
              </a:rPr>
              <a:t>seq</a:t>
            </a:r>
            <a:endParaRPr lang="es-ES_tradnl" sz="40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s-ES_tradnl" sz="2000" b="1" i="1" u="sng" dirty="0">
                <a:solidFill>
                  <a:schemeClr val="bg1"/>
                </a:solidFill>
              </a:rPr>
              <a:t>Asignatura</a:t>
            </a:r>
            <a:r>
              <a:rPr lang="es-ES_tradnl" sz="2000" b="1" i="1" dirty="0">
                <a:solidFill>
                  <a:schemeClr val="bg1"/>
                </a:solidFill>
              </a:rPr>
              <a:t>: </a:t>
            </a:r>
            <a:r>
              <a:rPr lang="es-ES" sz="2000" b="1" i="1" dirty="0">
                <a:solidFill>
                  <a:schemeClr val="bg1"/>
                </a:solidFill>
              </a:rPr>
              <a:t>Secuenciación y </a:t>
            </a:r>
            <a:r>
              <a:rPr lang="es-ES" sz="2000" b="1" i="1" dirty="0" err="1">
                <a:solidFill>
                  <a:schemeClr val="bg1"/>
                </a:solidFill>
              </a:rPr>
              <a:t>ómicas</a:t>
            </a:r>
            <a:r>
              <a:rPr lang="es-ES" sz="2000" b="1" i="1" dirty="0">
                <a:solidFill>
                  <a:schemeClr val="bg1"/>
                </a:solidFill>
              </a:rPr>
              <a:t> de Próxima Generación</a:t>
            </a:r>
          </a:p>
          <a:p>
            <a:pPr algn="ctr">
              <a:lnSpc>
                <a:spcPct val="80000"/>
              </a:lnSpc>
            </a:pPr>
            <a:endParaRPr lang="es-ES_tradnl" sz="2000" b="1" i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s-ES_tradnl" sz="2000" b="1" i="1" u="sng" dirty="0">
                <a:solidFill>
                  <a:schemeClr val="bg1"/>
                </a:solidFill>
              </a:rPr>
              <a:t>Autores</a:t>
            </a:r>
            <a:r>
              <a:rPr lang="es-ES_tradnl" sz="2000" b="1" i="1" dirty="0">
                <a:solidFill>
                  <a:schemeClr val="bg1"/>
                </a:solidFill>
              </a:rPr>
              <a:t>: Paula Damián Moral - Paula Sofía </a:t>
            </a:r>
            <a:r>
              <a:rPr lang="es-ES_tradnl" sz="2000" b="1" i="1" dirty="0" err="1">
                <a:solidFill>
                  <a:schemeClr val="bg1"/>
                </a:solidFill>
              </a:rPr>
              <a:t>Norniella</a:t>
            </a:r>
            <a:r>
              <a:rPr lang="es-ES_tradnl" sz="2000" b="1" i="1" dirty="0">
                <a:solidFill>
                  <a:schemeClr val="bg1"/>
                </a:solidFill>
              </a:rPr>
              <a:t> </a:t>
            </a:r>
            <a:r>
              <a:rPr lang="es-ES_tradnl" sz="2000" b="1" i="1" dirty="0" err="1">
                <a:solidFill>
                  <a:schemeClr val="bg1"/>
                </a:solidFill>
              </a:rPr>
              <a:t>Jamart</a:t>
            </a:r>
            <a:r>
              <a:rPr lang="es-ES_tradnl" sz="2000" b="1" i="1" dirty="0">
                <a:solidFill>
                  <a:schemeClr val="bg1"/>
                </a:solidFill>
              </a:rPr>
              <a:t> - Pedro García Sáez - Pedro Manuel Rodríguez Santos - Pilar Navarro Sánchez - Rubén Martín Blázquez</a:t>
            </a:r>
          </a:p>
        </p:txBody>
      </p:sp>
      <p:grpSp>
        <p:nvGrpSpPr>
          <p:cNvPr id="33" name="Grupo 32">
            <a:extLst>
              <a:ext uri="{FF2B5EF4-FFF2-40B4-BE49-F238E27FC236}">
                <a16:creationId xmlns:a16="http://schemas.microsoft.com/office/drawing/2014/main" id="{2C6C9477-586D-D4FB-ADEE-063D77B3A812}"/>
              </a:ext>
            </a:extLst>
          </p:cNvPr>
          <p:cNvGrpSpPr/>
          <p:nvPr/>
        </p:nvGrpSpPr>
        <p:grpSpPr>
          <a:xfrm>
            <a:off x="200156" y="16455234"/>
            <a:ext cx="9095800" cy="3334555"/>
            <a:chOff x="225181" y="17303689"/>
            <a:chExt cx="9095800" cy="3844742"/>
          </a:xfrm>
        </p:grpSpPr>
        <p:sp>
          <p:nvSpPr>
            <p:cNvPr id="34" name="Rectángulo redondeado 33">
              <a:extLst>
                <a:ext uri="{FF2B5EF4-FFF2-40B4-BE49-F238E27FC236}">
                  <a16:creationId xmlns:a16="http://schemas.microsoft.com/office/drawing/2014/main" id="{1B34C5B1-3A9B-391B-803D-711026F44639}"/>
                </a:ext>
              </a:extLst>
            </p:cNvPr>
            <p:cNvSpPr/>
            <p:nvPr/>
          </p:nvSpPr>
          <p:spPr>
            <a:xfrm>
              <a:off x="225181" y="17620211"/>
              <a:ext cx="9095800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_tradnl" i="1" dirty="0">
                  <a:solidFill>
                    <a:schemeClr val="tx1"/>
                  </a:solidFill>
                </a:rPr>
                <a:t>Interpretación de resultados, posibles relaciones si aplica, etc.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35" name="Rectángulo redondeado 34">
              <a:extLst>
                <a:ext uri="{FF2B5EF4-FFF2-40B4-BE49-F238E27FC236}">
                  <a16:creationId xmlns:a16="http://schemas.microsoft.com/office/drawing/2014/main" id="{3BC039B6-C9D2-02F3-8F27-C85043A7CC84}"/>
                </a:ext>
              </a:extLst>
            </p:cNvPr>
            <p:cNvSpPr/>
            <p:nvPr/>
          </p:nvSpPr>
          <p:spPr>
            <a:xfrm>
              <a:off x="518258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DISCUSIÓN</a:t>
              </a: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7CDA7380-1384-C476-FC20-7A4A09E7B7FE}"/>
              </a:ext>
            </a:extLst>
          </p:cNvPr>
          <p:cNvGrpSpPr/>
          <p:nvPr/>
        </p:nvGrpSpPr>
        <p:grpSpPr>
          <a:xfrm>
            <a:off x="9509874" y="16455234"/>
            <a:ext cx="5366712" cy="3334555"/>
            <a:chOff x="7784856" y="17303689"/>
            <a:chExt cx="7109314" cy="3844742"/>
          </a:xfrm>
        </p:grpSpPr>
        <p:sp>
          <p:nvSpPr>
            <p:cNvPr id="37" name="Rectángulo redondeado 36">
              <a:extLst>
                <a:ext uri="{FF2B5EF4-FFF2-40B4-BE49-F238E27FC236}">
                  <a16:creationId xmlns:a16="http://schemas.microsoft.com/office/drawing/2014/main" id="{367F38DE-6476-4ED5-51AD-7070BD6A603F}"/>
                </a:ext>
              </a:extLst>
            </p:cNvPr>
            <p:cNvSpPr/>
            <p:nvPr/>
          </p:nvSpPr>
          <p:spPr>
            <a:xfrm>
              <a:off x="7784856" y="17620211"/>
              <a:ext cx="7109314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_tradnl" i="1" dirty="0">
                  <a:solidFill>
                    <a:schemeClr val="tx1"/>
                  </a:solidFill>
                </a:rPr>
                <a:t>Resumen principal de hallazgos y limitaciones del análisis si aplica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38" name="Rectángulo redondeado 37">
              <a:extLst>
                <a:ext uri="{FF2B5EF4-FFF2-40B4-BE49-F238E27FC236}">
                  <a16:creationId xmlns:a16="http://schemas.microsoft.com/office/drawing/2014/main" id="{0757AA33-190F-8E74-0CAC-D7C442BACE75}"/>
                </a:ext>
              </a:extLst>
            </p:cNvPr>
            <p:cNvSpPr/>
            <p:nvPr/>
          </p:nvSpPr>
          <p:spPr>
            <a:xfrm>
              <a:off x="8077933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CONCLUSIONES</a:t>
              </a:r>
            </a:p>
          </p:txBody>
        </p:sp>
      </p:grpSp>
      <p:sp>
        <p:nvSpPr>
          <p:cNvPr id="39" name="Rectángulo redondeado 38">
            <a:extLst>
              <a:ext uri="{FF2B5EF4-FFF2-40B4-BE49-F238E27FC236}">
                <a16:creationId xmlns:a16="http://schemas.microsoft.com/office/drawing/2014/main" id="{05ACB882-C17A-7163-5754-50C1DB29AA22}"/>
              </a:ext>
            </a:extLst>
          </p:cNvPr>
          <p:cNvSpPr/>
          <p:nvPr/>
        </p:nvSpPr>
        <p:spPr>
          <a:xfrm>
            <a:off x="518258" y="8461560"/>
            <a:ext cx="6218922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1.</a:t>
            </a:r>
            <a:r>
              <a:rPr lang="es-ES_tradnl" b="1" dirty="0">
                <a:solidFill>
                  <a:srgbClr val="4196C9"/>
                </a:solidFill>
                <a:latin typeface="Aptos" panose="02110004020202020204"/>
              </a:rPr>
              <a:t>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Volcano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Plot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 de la expresión diferencial genética entre las categorías Obeso1 y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Normopeso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.</a:t>
            </a: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0" name="Rectángulo redondeado 39">
            <a:extLst>
              <a:ext uri="{FF2B5EF4-FFF2-40B4-BE49-F238E27FC236}">
                <a16:creationId xmlns:a16="http://schemas.microsoft.com/office/drawing/2014/main" id="{3F03464F-6AD8-145A-F4F0-58880920BB73}"/>
              </a:ext>
            </a:extLst>
          </p:cNvPr>
          <p:cNvSpPr/>
          <p:nvPr/>
        </p:nvSpPr>
        <p:spPr>
          <a:xfrm>
            <a:off x="7735700" y="8415985"/>
            <a:ext cx="6705696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2. 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Mapa de calor solo de los genes diferencialmente expresados entre Obeso1 y </a:t>
            </a:r>
            <a:r>
              <a:rPr lang="es-ES_tradnl" b="1" dirty="0" err="1">
                <a:solidFill>
                  <a:prstClr val="black"/>
                </a:solidFill>
                <a:latin typeface="Aptos" panose="02110004020202020204"/>
              </a:rPr>
              <a:t>Normopeso</a:t>
            </a:r>
            <a:r>
              <a:rPr lang="es-ES_tradnl" b="1" dirty="0">
                <a:solidFill>
                  <a:prstClr val="black"/>
                </a:solidFill>
                <a:latin typeface="Aptos" panose="02110004020202020204"/>
              </a:rPr>
              <a:t>.</a:t>
            </a:r>
            <a:endParaRPr kumimoji="0" lang="es-ES_tradnl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2" name="Grupo 21">
            <a:extLst>
              <a:ext uri="{FF2B5EF4-FFF2-40B4-BE49-F238E27FC236}">
                <a16:creationId xmlns:a16="http://schemas.microsoft.com/office/drawing/2014/main" id="{3C0430B1-DA84-A5E7-56D9-DB622393E1A9}"/>
              </a:ext>
            </a:extLst>
          </p:cNvPr>
          <p:cNvGrpSpPr/>
          <p:nvPr/>
        </p:nvGrpSpPr>
        <p:grpSpPr>
          <a:xfrm>
            <a:off x="207596" y="19986171"/>
            <a:ext cx="14668990" cy="1332412"/>
            <a:chOff x="207596" y="5986333"/>
            <a:chExt cx="14668990" cy="2117079"/>
          </a:xfrm>
        </p:grpSpPr>
        <p:sp>
          <p:nvSpPr>
            <p:cNvPr id="23" name="Rectángulo redondeado 13">
              <a:extLst>
                <a:ext uri="{FF2B5EF4-FFF2-40B4-BE49-F238E27FC236}">
                  <a16:creationId xmlns:a16="http://schemas.microsoft.com/office/drawing/2014/main" id="{389A8E42-9C9B-7815-0785-B232A9801221}"/>
                </a:ext>
              </a:extLst>
            </p:cNvPr>
            <p:cNvSpPr/>
            <p:nvPr/>
          </p:nvSpPr>
          <p:spPr>
            <a:xfrm>
              <a:off x="207596" y="6427010"/>
              <a:ext cx="14668990" cy="1676402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24" name="Rectángulo redondeado 14">
              <a:extLst>
                <a:ext uri="{FF2B5EF4-FFF2-40B4-BE49-F238E27FC236}">
                  <a16:creationId xmlns:a16="http://schemas.microsoft.com/office/drawing/2014/main" id="{EAEAA6AB-78C4-75DC-9D64-9A08D61943C5}"/>
                </a:ext>
              </a:extLst>
            </p:cNvPr>
            <p:cNvSpPr/>
            <p:nvPr/>
          </p:nvSpPr>
          <p:spPr>
            <a:xfrm>
              <a:off x="500674" y="5986333"/>
              <a:ext cx="5838092" cy="757200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BIBLIOGRAFÍA</a:t>
              </a:r>
              <a:endParaRPr lang="es-ES_tradnl" sz="2800" b="1" dirty="0"/>
            </a:p>
          </p:txBody>
        </p:sp>
      </p:grpSp>
      <p:pic>
        <p:nvPicPr>
          <p:cNvPr id="12" name="Imagen 11">
            <a:extLst>
              <a:ext uri="{FF2B5EF4-FFF2-40B4-BE49-F238E27FC236}">
                <a16:creationId xmlns:a16="http://schemas.microsoft.com/office/drawing/2014/main" id="{45EFED08-FC75-02A5-5F6D-D8433E84B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258" y="9402703"/>
            <a:ext cx="6218921" cy="5366187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C7F60FA9-309A-CE83-972D-FF6E7BA361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0122" y="9207953"/>
            <a:ext cx="6501273" cy="560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99993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27c1adeb-3674-457c-b08c-8a73f31b6e23" xsi:nil="true"/>
    <lcf76f155ced4ddcb4097134ff3c332f xmlns="27c1adeb-3674-457c-b08c-8a73f31b6e23">
      <Terms xmlns="http://schemas.microsoft.com/office/infopath/2007/PartnerControls"/>
    </lcf76f155ced4ddcb4097134ff3c332f>
    <TaxCatchAll xmlns="0a70e875-3d35-4be2-921f-7117c31bab9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3D7C797EA12745A270EF30E38719B9" ma:contentTypeVersion="20" ma:contentTypeDescription="Crear nuevo documento." ma:contentTypeScope="" ma:versionID="98b23ce13f8ef13134c980882a27b8cc">
  <xsd:schema xmlns:xsd="http://www.w3.org/2001/XMLSchema" xmlns:xs="http://www.w3.org/2001/XMLSchema" xmlns:p="http://schemas.microsoft.com/office/2006/metadata/properties" xmlns:ns2="0a70e875-3d35-4be2-921f-7117c31bab9b" xmlns:ns3="27c1adeb-3674-457c-b08c-8a73f31b6e23" targetNamespace="http://schemas.microsoft.com/office/2006/metadata/properties" ma:root="true" ma:fieldsID="83d50475b18a8f95f7f8edf1c6caa3f2" ns2:_="" ns3:_="">
    <xsd:import namespace="0a70e875-3d35-4be2-921f-7117c31bab9b"/>
    <xsd:import namespace="27c1adeb-3674-457c-b08c-8a73f31b6e2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Flow_SignoffStatu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0e875-3d35-4be2-921f-7117c31bab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7f67346-78c9-4c4d-b954-8d350fdf60db}" ma:internalName="TaxCatchAll" ma:showField="CatchAllData" ma:web="0a70e875-3d35-4be2-921f-7117c31bab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c1adeb-3674-457c-b08c-8a73f31b6e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17631b59-e624-4eb7-963c-219f14f88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5" nillable="true" ma:displayName="Estado de aprobación" ma:internalName="Estado_x0020_de_x0020_aprobaci_x00f3_n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3E95016-93A9-4903-BA02-7A05B5939C7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48B5577-5CCE-4E9D-BDFA-952900719EE2}">
  <ds:schemaRefs>
    <ds:schemaRef ds:uri="http://schemas.microsoft.com/office/2006/metadata/properties"/>
    <ds:schemaRef ds:uri="http://schemas.microsoft.com/office/infopath/2007/PartnerControls"/>
    <ds:schemaRef ds:uri="27c1adeb-3674-457c-b08c-8a73f31b6e23"/>
    <ds:schemaRef ds:uri="0a70e875-3d35-4be2-921f-7117c31bab9b"/>
  </ds:schemaRefs>
</ds:datastoreItem>
</file>

<file path=customXml/itemProps3.xml><?xml version="1.0" encoding="utf-8"?>
<ds:datastoreItem xmlns:ds="http://schemas.openxmlformats.org/officeDocument/2006/customXml" ds:itemID="{EA933766-0056-42DC-9416-E7C06BCFC0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0e875-3d35-4be2-921f-7117c31bab9b"/>
    <ds:schemaRef ds:uri="27c1adeb-3674-457c-b08c-8a73f31b6e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361ecad-3f61-4749-aa5c-87fde47ef9ad}" enabled="1" method="Privileged" siteId="{22c8b4a4-d926-43b2-bcc7-87b998590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142</TotalTime>
  <Words>353</Words>
  <Application>Microsoft Office PowerPoint</Application>
  <PresentationFormat>Personalizado</PresentationFormat>
  <Paragraphs>41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 de la O Pascual</dc:creator>
  <cp:lastModifiedBy>Pedro Manuel Rodriguez Santos</cp:lastModifiedBy>
  <cp:revision>33</cp:revision>
  <dcterms:created xsi:type="dcterms:W3CDTF">2025-04-21T10:03:24Z</dcterms:created>
  <dcterms:modified xsi:type="dcterms:W3CDTF">2025-12-19T20:56:55Z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0x010100DF3D7C797EA12745A270EF30E38719B9</vt:lpwstr>
  </property>
  <property fmtid="{D5CDD505-2E9C-101B-9397-08002B2CF9AE}" pid="3" name="MediaServiceImageTags">
    <vt:lpwstr/>
  </property>
</Properties>
</file>