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García" initials="PG" lastIdx="2" clrIdx="0">
    <p:extLst>
      <p:ext uri="{19B8F6BF-5375-455C-9EA6-DF929625EA0E}">
        <p15:presenceInfo xmlns:p15="http://schemas.microsoft.com/office/powerpoint/2012/main" userId="S::pgarcia@stoller.es::cf999d9a-c9a7-46a8-bf6e-7f4789723d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7"/>
    <p:restoredTop sz="94729"/>
  </p:normalViewPr>
  <p:slideViewPr>
    <p:cSldViewPr snapToGrid="0">
      <p:cViewPr varScale="1">
        <p:scale>
          <a:sx n="26" d="100"/>
          <a:sy n="26" d="100"/>
        </p:scale>
        <p:origin x="26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ommentAuthors" Target="comment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20/12/2025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549043"/>
            <a:ext cx="14668990" cy="1494048"/>
            <a:chOff x="225180" y="3930299"/>
            <a:chExt cx="14668990" cy="1494048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35936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dirty="0">
                  <a:solidFill>
                    <a:schemeClr val="tx1"/>
                  </a:solidFill>
                </a:rPr>
                <a:t>La obesidad es un problema de salud pública en Springfield, USA. En este estudio se analizan las diferencias de expresión génica entre individuos con obesidad y </a:t>
              </a:r>
              <a:r>
                <a:rPr lang="es-ES" dirty="0" err="1">
                  <a:solidFill>
                    <a:schemeClr val="tx1"/>
                  </a:solidFill>
                </a:rPr>
                <a:t>normopeso</a:t>
              </a:r>
              <a:r>
                <a:rPr lang="es-ES" dirty="0">
                  <a:solidFill>
                    <a:schemeClr val="tx1"/>
                  </a:solidFill>
                </a:rPr>
                <a:t> de la familia Simpson. Comprobaremos si en la familia Simpson, genes asociados a la obesidad están sobre-expresados en individuos tipo Obeso1 comparados con individuos tipo </a:t>
              </a:r>
              <a:r>
                <a:rPr lang="es-ES" dirty="0" err="1">
                  <a:solidFill>
                    <a:schemeClr val="tx1"/>
                  </a:solidFill>
                </a:rPr>
                <a:t>Normopeso</a:t>
              </a:r>
              <a:r>
                <a:rPr lang="es-ES" dirty="0">
                  <a:solidFill>
                    <a:schemeClr val="tx1"/>
                  </a:solidFill>
                </a:rPr>
                <a:t>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2093807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dirty="0">
                  <a:solidFill>
                    <a:schemeClr val="tx1"/>
                  </a:solidFill>
                </a:rPr>
                <a:t>Se analizaron librerías de RNA-</a:t>
              </a:r>
              <a:r>
                <a:rPr lang="es-ES" dirty="0" err="1">
                  <a:solidFill>
                    <a:schemeClr val="tx1"/>
                  </a:solidFill>
                </a:rPr>
                <a:t>seq</a:t>
              </a:r>
              <a:r>
                <a:rPr lang="es-ES" dirty="0">
                  <a:solidFill>
                    <a:schemeClr val="tx1"/>
                  </a:solidFill>
                </a:rPr>
                <a:t> generadas a partir de individuos tipo </a:t>
              </a:r>
              <a:r>
                <a:rPr lang="es-ES" dirty="0" err="1">
                  <a:solidFill>
                    <a:schemeClr val="tx1"/>
                  </a:solidFill>
                </a:rPr>
                <a:t>Normopeso</a:t>
              </a:r>
              <a:r>
                <a:rPr lang="es-ES" dirty="0">
                  <a:solidFill>
                    <a:schemeClr val="tx1"/>
                  </a:solidFill>
                </a:rPr>
                <a:t> y Obeso1 de la familia Simpson. Primero se realizó un control de calidad inicial de las lecturas con </a:t>
              </a:r>
              <a:r>
                <a:rPr lang="es-ES" dirty="0" err="1">
                  <a:solidFill>
                    <a:schemeClr val="tx1"/>
                  </a:solidFill>
                </a:rPr>
                <a:t>FastQC</a:t>
              </a:r>
              <a:r>
                <a:rPr lang="es-ES" dirty="0">
                  <a:solidFill>
                    <a:schemeClr val="tx1"/>
                  </a:solidFill>
                </a:rPr>
                <a:t>, </a:t>
              </a:r>
              <a:r>
                <a:rPr lang="es-ES" dirty="0" smtClean="0">
                  <a:solidFill>
                    <a:schemeClr val="tx1"/>
                  </a:solidFill>
                </a:rPr>
                <a:t>seguido de un </a:t>
              </a:r>
              <a:r>
                <a:rPr lang="es-ES" dirty="0">
                  <a:solidFill>
                    <a:schemeClr val="tx1"/>
                  </a:solidFill>
                </a:rPr>
                <a:t>paso de </a:t>
              </a:r>
              <a:r>
                <a:rPr lang="es-ES" dirty="0" err="1">
                  <a:solidFill>
                    <a:schemeClr val="tx1"/>
                  </a:solidFill>
                </a:rPr>
                <a:t>trimming</a:t>
              </a:r>
              <a:r>
                <a:rPr lang="es-ES" dirty="0">
                  <a:solidFill>
                    <a:schemeClr val="tx1"/>
                  </a:solidFill>
                </a:rPr>
                <a:t> con </a:t>
              </a:r>
              <a:r>
                <a:rPr lang="es-ES" dirty="0" err="1">
                  <a:solidFill>
                    <a:schemeClr val="tx1"/>
                  </a:solidFill>
                </a:rPr>
                <a:t>Fastp</a:t>
              </a:r>
              <a:r>
                <a:rPr lang="es-ES" dirty="0">
                  <a:solidFill>
                    <a:schemeClr val="tx1"/>
                  </a:solidFill>
                </a:rPr>
                <a:t>, seguido de la cuantificación de la expresión génica con Salmon y </a:t>
              </a:r>
              <a:r>
                <a:rPr lang="es-ES" dirty="0" err="1">
                  <a:solidFill>
                    <a:schemeClr val="tx1"/>
                  </a:solidFill>
                </a:rPr>
                <a:t>tximport</a:t>
              </a:r>
              <a:r>
                <a:rPr lang="es-ES" dirty="0">
                  <a:solidFill>
                    <a:schemeClr val="tx1"/>
                  </a:solidFill>
                </a:rPr>
                <a:t>. El análisis de expresión diferencial entre los grupos Obeso1 y </a:t>
              </a:r>
              <a:r>
                <a:rPr lang="es-ES" dirty="0" err="1">
                  <a:solidFill>
                    <a:schemeClr val="tx1"/>
                  </a:solidFill>
                </a:rPr>
                <a:t>Normopeso</a:t>
              </a:r>
              <a:r>
                <a:rPr lang="es-ES" dirty="0">
                  <a:solidFill>
                    <a:schemeClr val="tx1"/>
                  </a:solidFill>
                </a:rPr>
                <a:t> se llevó a cabo utilizando DESeq2. Se usaron las librerías de R ‘</a:t>
              </a:r>
              <a:r>
                <a:rPr lang="es-ES" dirty="0" err="1">
                  <a:solidFill>
                    <a:schemeClr val="tx1"/>
                  </a:solidFill>
                </a:rPr>
                <a:t>EnhancedVolcano</a:t>
              </a:r>
              <a:r>
                <a:rPr lang="es-ES" dirty="0">
                  <a:solidFill>
                    <a:schemeClr val="tx1"/>
                  </a:solidFill>
                </a:rPr>
                <a:t>’ y ‘</a:t>
              </a:r>
              <a:r>
                <a:rPr lang="es-ES" dirty="0" err="1">
                  <a:solidFill>
                    <a:schemeClr val="tx1"/>
                  </a:solidFill>
                </a:rPr>
                <a:t>pheatmap</a:t>
              </a:r>
              <a:r>
                <a:rPr lang="es-ES" dirty="0">
                  <a:solidFill>
                    <a:schemeClr val="tx1"/>
                  </a:solidFill>
                </a:rPr>
                <a:t>’ para visualizar los resultados. La interpretación biológica se realizó mediante las bases de datos </a:t>
              </a:r>
              <a:r>
                <a:rPr lang="es-ES" dirty="0" err="1">
                  <a:solidFill>
                    <a:schemeClr val="tx1"/>
                  </a:solidFill>
                </a:rPr>
                <a:t>UniProtKB</a:t>
              </a:r>
              <a:r>
                <a:rPr lang="es-ES" dirty="0">
                  <a:solidFill>
                    <a:schemeClr val="tx1"/>
                  </a:solidFill>
                </a:rPr>
                <a:t> y </a:t>
              </a:r>
              <a:r>
                <a:rPr lang="es-ES" dirty="0" err="1">
                  <a:solidFill>
                    <a:schemeClr val="tx1"/>
                  </a:solidFill>
                </a:rPr>
                <a:t>PubMed</a:t>
              </a:r>
              <a:r>
                <a:rPr lang="es-ES" dirty="0">
                  <a:solidFill>
                    <a:schemeClr val="tx1"/>
                  </a:solidFill>
                </a:rPr>
                <a:t>.</a:t>
              </a:r>
              <a:endParaRPr lang="es-ES_tradnl" sz="24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474425"/>
            <a:ext cx="14668990" cy="8420055"/>
            <a:chOff x="225180" y="8290675"/>
            <a:chExt cx="14668990" cy="9032720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779455"/>
              <a:ext cx="14668990" cy="8543940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086983"/>
            <a:ext cx="13763441" cy="2392388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" sz="3800" b="1" dirty="0">
                <a:solidFill>
                  <a:schemeClr val="bg1"/>
                </a:solidFill>
              </a:rPr>
              <a:t>Análisis de expresión diferencial de genes relacionados con la obesidad mediante RNA-</a:t>
            </a:r>
            <a:r>
              <a:rPr lang="es-ES" sz="3800" b="1" dirty="0" err="1">
                <a:solidFill>
                  <a:schemeClr val="bg1"/>
                </a:solidFill>
              </a:rPr>
              <a:t>seq</a:t>
            </a:r>
            <a:endParaRPr lang="es-ES_tradnl" sz="38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b="1" i="1" u="sng" dirty="0">
                <a:solidFill>
                  <a:schemeClr val="bg1"/>
                </a:solidFill>
              </a:rPr>
              <a:t>Asignatura</a:t>
            </a:r>
            <a:r>
              <a:rPr lang="es-ES_tradnl" b="1" i="1" dirty="0">
                <a:solidFill>
                  <a:schemeClr val="bg1"/>
                </a:solidFill>
              </a:rPr>
              <a:t>: </a:t>
            </a:r>
            <a:r>
              <a:rPr lang="es-ES" b="1" i="1" dirty="0">
                <a:solidFill>
                  <a:schemeClr val="bg1"/>
                </a:solidFill>
              </a:rPr>
              <a:t>Secuenciación y </a:t>
            </a:r>
            <a:r>
              <a:rPr lang="es-ES" b="1" i="1" dirty="0" err="1">
                <a:solidFill>
                  <a:schemeClr val="bg1"/>
                </a:solidFill>
              </a:rPr>
              <a:t>ómicas</a:t>
            </a:r>
            <a:r>
              <a:rPr lang="es-ES" b="1" i="1" dirty="0">
                <a:solidFill>
                  <a:schemeClr val="bg1"/>
                </a:solidFill>
              </a:rPr>
              <a:t> de Próxima Generación</a:t>
            </a:r>
          </a:p>
          <a:p>
            <a:pPr algn="ctr">
              <a:lnSpc>
                <a:spcPct val="80000"/>
              </a:lnSpc>
            </a:pPr>
            <a:endParaRPr lang="es-ES_tradnl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b="1" i="1" u="sng" dirty="0">
                <a:solidFill>
                  <a:schemeClr val="bg1"/>
                </a:solidFill>
              </a:rPr>
              <a:t>Autores</a:t>
            </a:r>
            <a:r>
              <a:rPr lang="es-ES_tradnl" b="1" i="1" dirty="0">
                <a:solidFill>
                  <a:schemeClr val="bg1"/>
                </a:solidFill>
              </a:rPr>
              <a:t>: Paula Damián Moral - Paula Sofía </a:t>
            </a:r>
            <a:r>
              <a:rPr lang="es-ES_tradnl" b="1" i="1" dirty="0" err="1">
                <a:solidFill>
                  <a:schemeClr val="bg1"/>
                </a:solidFill>
              </a:rPr>
              <a:t>Norniella</a:t>
            </a:r>
            <a:r>
              <a:rPr lang="es-ES_tradnl" b="1" i="1" dirty="0">
                <a:solidFill>
                  <a:schemeClr val="bg1"/>
                </a:solidFill>
              </a:rPr>
              <a:t> </a:t>
            </a:r>
            <a:r>
              <a:rPr lang="es-ES_tradnl" b="1" i="1" dirty="0" err="1">
                <a:solidFill>
                  <a:schemeClr val="bg1"/>
                </a:solidFill>
              </a:rPr>
              <a:t>Jamart</a:t>
            </a:r>
            <a:r>
              <a:rPr lang="es-ES_tradnl" b="1" i="1" dirty="0">
                <a:solidFill>
                  <a:schemeClr val="bg1"/>
                </a:solidFill>
              </a:rPr>
              <a:t> - Pedro García Sáez - Pedro Manuel Rodríguez Santos - Pilar Navarro Sánchez - Rubén Martín Blázquez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42764" y="16096664"/>
            <a:ext cx="9095800" cy="3542430"/>
            <a:chOff x="225181" y="17303689"/>
            <a:chExt cx="9095800" cy="408442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76790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sz="1600" dirty="0">
                  <a:solidFill>
                    <a:schemeClr val="tx1"/>
                  </a:solidFill>
                </a:rPr>
                <a:t>Los nueve genes diferencialmente expresados están ligados a la obesidad. El más diferencialmente expresado en individuos tipo obeso 1 fue </a:t>
              </a:r>
              <a:r>
                <a:rPr lang="es-ES_tradnl" sz="1600" i="1" dirty="0">
                  <a:solidFill>
                    <a:schemeClr val="tx1"/>
                  </a:solidFill>
                </a:rPr>
                <a:t>LEPR</a:t>
              </a:r>
              <a:r>
                <a:rPr lang="es-ES_tradnl" sz="1600" dirty="0">
                  <a:solidFill>
                    <a:schemeClr val="tx1"/>
                  </a:solidFill>
                </a:rPr>
                <a:t>, un receptor de </a:t>
              </a:r>
              <a:r>
                <a:rPr lang="es-ES_tradnl" sz="1600" dirty="0" err="1">
                  <a:solidFill>
                    <a:schemeClr val="tx1"/>
                  </a:solidFill>
                </a:rPr>
                <a:t>leptina</a:t>
              </a:r>
              <a:r>
                <a:rPr lang="es-ES_tradnl" sz="1600" dirty="0">
                  <a:solidFill>
                    <a:schemeClr val="tx1"/>
                  </a:solidFill>
                </a:rPr>
                <a:t> (</a:t>
              </a:r>
              <a:r>
                <a:rPr lang="es-ES_tradnl" sz="1600" i="1" dirty="0">
                  <a:solidFill>
                    <a:schemeClr val="tx1"/>
                  </a:solidFill>
                </a:rPr>
                <a:t>LEP</a:t>
              </a:r>
              <a:r>
                <a:rPr lang="es-ES_tradnl" sz="1600" dirty="0">
                  <a:solidFill>
                    <a:schemeClr val="tx1"/>
                  </a:solidFill>
                </a:rPr>
                <a:t>), gen que regula la grasa corporal mediante la saciedad [1]. La sobre-expresión de su receptor en individuos tipo obeso1 puede indicar una pérdida de sensibilidad a la respuesta de </a:t>
              </a:r>
              <a:r>
                <a:rPr lang="es-ES_tradnl" sz="1600" i="1" dirty="0">
                  <a:solidFill>
                    <a:schemeClr val="tx1"/>
                  </a:solidFill>
                </a:rPr>
                <a:t>LEP</a:t>
              </a:r>
              <a:r>
                <a:rPr lang="es-ES_tradnl" sz="1600" dirty="0">
                  <a:solidFill>
                    <a:schemeClr val="tx1"/>
                  </a:solidFill>
                </a:rPr>
                <a:t>, no activándose la sensación de saciedad. Además, el gen </a:t>
              </a:r>
              <a:r>
                <a:rPr lang="es-ES_tradnl" sz="1600" i="1" dirty="0">
                  <a:solidFill>
                    <a:schemeClr val="tx1"/>
                  </a:solidFill>
                </a:rPr>
                <a:t>MC4R</a:t>
              </a:r>
              <a:r>
                <a:rPr lang="es-ES_tradnl" sz="1600" dirty="0">
                  <a:solidFill>
                    <a:schemeClr val="tx1"/>
                  </a:solidFill>
                </a:rPr>
                <a:t> también regula el apetito, la saciedad y el gasto energético </a:t>
              </a:r>
              <a:r>
                <a:rPr lang="es-ES_tradnl" sz="1600" dirty="0" smtClean="0">
                  <a:solidFill>
                    <a:schemeClr val="tx1"/>
                  </a:solidFill>
                </a:rPr>
                <a:t>[2], </a:t>
              </a:r>
              <a:r>
                <a:rPr lang="es-ES_tradnl" sz="1600" dirty="0">
                  <a:solidFill>
                    <a:schemeClr val="tx1"/>
                  </a:solidFill>
                </a:rPr>
                <a:t>cuya </a:t>
              </a:r>
              <a:r>
                <a:rPr lang="es-ES_tradnl" sz="1600" dirty="0" err="1">
                  <a:solidFill>
                    <a:schemeClr val="tx1"/>
                  </a:solidFill>
                </a:rPr>
                <a:t>infraexpresión</a:t>
              </a:r>
              <a:r>
                <a:rPr lang="es-ES_tradnl" sz="1600" dirty="0">
                  <a:solidFill>
                    <a:schemeClr val="tx1"/>
                  </a:solidFill>
                </a:rPr>
                <a:t> aumentaría la percepción de hambre y la dificultad de controlar la ingesta de alimentos. El gen </a:t>
              </a:r>
              <a:r>
                <a:rPr lang="es-ES_tradnl" sz="1600" i="1" dirty="0">
                  <a:solidFill>
                    <a:schemeClr val="tx1"/>
                  </a:solidFill>
                </a:rPr>
                <a:t>NTRK2</a:t>
              </a:r>
              <a:r>
                <a:rPr lang="es-ES_tradnl" sz="1600" dirty="0">
                  <a:solidFill>
                    <a:schemeClr val="tx1"/>
                  </a:solidFill>
                </a:rPr>
                <a:t>, el más diferencialmente expresado en </a:t>
              </a:r>
              <a:r>
                <a:rPr lang="es-ES_tradnl" sz="1600" dirty="0" err="1">
                  <a:solidFill>
                    <a:schemeClr val="tx1"/>
                  </a:solidFill>
                </a:rPr>
                <a:t>n</a:t>
              </a:r>
              <a:r>
                <a:rPr lang="es-ES_tradnl" sz="1600" dirty="0" err="1" smtClean="0">
                  <a:solidFill>
                    <a:schemeClr val="tx1"/>
                  </a:solidFill>
                </a:rPr>
                <a:t>ormopeso</a:t>
              </a:r>
              <a:r>
                <a:rPr lang="es-ES_tradnl" sz="1600" dirty="0">
                  <a:solidFill>
                    <a:schemeClr val="tx1"/>
                  </a:solidFill>
                </a:rPr>
                <a:t>, está ligado a la enfermedad </a:t>
              </a:r>
              <a:r>
                <a:rPr lang="en-US" sz="1600" dirty="0">
                  <a:solidFill>
                    <a:schemeClr val="tx1"/>
                  </a:solidFill>
                </a:rPr>
                <a:t>OBHD, </a:t>
              </a:r>
              <a:r>
                <a:rPr lang="en-US" sz="1600" dirty="0" err="1">
                  <a:solidFill>
                    <a:schemeClr val="tx1"/>
                  </a:solidFill>
                </a:rPr>
                <a:t>donde</a:t>
              </a:r>
              <a:r>
                <a:rPr lang="en-US" sz="1600" dirty="0">
                  <a:solidFill>
                    <a:schemeClr val="tx1"/>
                  </a:solidFill>
                </a:rPr>
                <a:t> el </a:t>
              </a:r>
              <a:r>
                <a:rPr lang="en-US" sz="1600" dirty="0" err="1">
                  <a:solidFill>
                    <a:schemeClr val="tx1"/>
                  </a:solidFill>
                </a:rPr>
                <a:t>déficit</a:t>
              </a:r>
              <a:r>
                <a:rPr lang="en-US" sz="1600" dirty="0">
                  <a:solidFill>
                    <a:schemeClr val="tx1"/>
                  </a:solidFill>
                </a:rPr>
                <a:t> de </a:t>
              </a:r>
              <a:r>
                <a:rPr lang="en-US" sz="1600" dirty="0" err="1">
                  <a:solidFill>
                    <a:schemeClr val="tx1"/>
                  </a:solidFill>
                </a:rPr>
                <a:t>esta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proteína</a:t>
              </a:r>
              <a:r>
                <a:rPr lang="en-US" sz="1600" dirty="0">
                  <a:solidFill>
                    <a:schemeClr val="tx1"/>
                  </a:solidFill>
                </a:rPr>
                <a:t> causa un </a:t>
              </a:r>
              <a:r>
                <a:rPr lang="en-US" sz="1600" dirty="0" err="1">
                  <a:solidFill>
                    <a:schemeClr val="tx1"/>
                  </a:solidFill>
                </a:rPr>
                <a:t>trastorno</a:t>
              </a:r>
              <a:r>
                <a:rPr lang="en-US" sz="1600" dirty="0">
                  <a:solidFill>
                    <a:schemeClr val="tx1"/>
                  </a:solidFill>
                </a:rPr>
                <a:t> que produce </a:t>
              </a:r>
              <a:r>
                <a:rPr lang="en-US" sz="1600" dirty="0" err="1">
                  <a:solidFill>
                    <a:schemeClr val="tx1"/>
                  </a:solidFill>
                </a:rPr>
                <a:t>obesidad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temprana</a:t>
              </a:r>
              <a:r>
                <a:rPr lang="en-US" sz="1600" dirty="0">
                  <a:solidFill>
                    <a:schemeClr val="tx1"/>
                  </a:solidFill>
                </a:rPr>
                <a:t>, </a:t>
              </a:r>
              <a:r>
                <a:rPr lang="en-US" sz="1600" dirty="0" err="1">
                  <a:solidFill>
                    <a:schemeClr val="tx1"/>
                  </a:solidFill>
                </a:rPr>
                <a:t>hiperfagia</a:t>
              </a:r>
              <a:r>
                <a:rPr lang="en-US" sz="1600" dirty="0">
                  <a:solidFill>
                    <a:schemeClr val="tx1"/>
                  </a:solidFill>
                </a:rPr>
                <a:t>, y </a:t>
              </a:r>
              <a:r>
                <a:rPr lang="en-US" sz="1600" dirty="0" err="1">
                  <a:solidFill>
                    <a:schemeClr val="tx1"/>
                  </a:solidFill>
                </a:rPr>
                <a:t>desarrollo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tardío</a:t>
              </a:r>
              <a:r>
                <a:rPr lang="en-US" sz="1600" dirty="0">
                  <a:solidFill>
                    <a:schemeClr val="tx1"/>
                  </a:solidFill>
                </a:rPr>
                <a:t> de </a:t>
              </a:r>
              <a:r>
                <a:rPr lang="en-US" sz="1600" dirty="0" err="1">
                  <a:solidFill>
                    <a:schemeClr val="tx1"/>
                  </a:solidFill>
                </a:rPr>
                <a:t>funciones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motoras</a:t>
              </a:r>
              <a:r>
                <a:rPr lang="en-US" sz="1600" dirty="0">
                  <a:solidFill>
                    <a:schemeClr val="tx1"/>
                  </a:solidFill>
                </a:rPr>
                <a:t> e </a:t>
              </a:r>
              <a:r>
                <a:rPr lang="en-US" sz="1600" dirty="0" err="1">
                  <a:solidFill>
                    <a:schemeClr val="tx1"/>
                  </a:solidFill>
                </a:rPr>
                <a:t>impedimento</a:t>
              </a:r>
              <a:r>
                <a:rPr lang="en-US" sz="1600" dirty="0">
                  <a:solidFill>
                    <a:schemeClr val="tx1"/>
                  </a:solidFill>
                </a:rPr>
                <a:t> del </a:t>
              </a:r>
              <a:r>
                <a:rPr lang="en-US" sz="1600" dirty="0" err="1">
                  <a:solidFill>
                    <a:schemeClr val="tx1"/>
                  </a:solidFill>
                </a:rPr>
                <a:t>habla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smtClean="0">
                  <a:solidFill>
                    <a:schemeClr val="tx1"/>
                  </a:solidFill>
                </a:rPr>
                <a:t>[3], </a:t>
              </a:r>
              <a:r>
                <a:rPr lang="en-US" sz="1600" dirty="0" err="1">
                  <a:solidFill>
                    <a:schemeClr val="tx1"/>
                  </a:solidFill>
                </a:rPr>
                <a:t>por</a:t>
              </a:r>
              <a:r>
                <a:rPr lang="en-US" sz="1600" dirty="0">
                  <a:solidFill>
                    <a:schemeClr val="tx1"/>
                  </a:solidFill>
                </a:rPr>
                <a:t> lo que es </a:t>
              </a:r>
              <a:r>
                <a:rPr lang="en-US" sz="1600" dirty="0" err="1">
                  <a:solidFill>
                    <a:schemeClr val="tx1"/>
                  </a:solidFill>
                </a:rPr>
                <a:t>esperable</a:t>
              </a:r>
              <a:r>
                <a:rPr lang="en-US" sz="1600" dirty="0">
                  <a:solidFill>
                    <a:schemeClr val="tx1"/>
                  </a:solidFill>
                </a:rPr>
                <a:t> que </a:t>
              </a:r>
              <a:r>
                <a:rPr lang="en-US" sz="1600" dirty="0" err="1">
                  <a:solidFill>
                    <a:schemeClr val="tx1"/>
                  </a:solidFill>
                </a:rPr>
                <a:t>los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individuos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tipo</a:t>
              </a:r>
              <a:r>
                <a:rPr lang="en-US" sz="1600" dirty="0">
                  <a:solidFill>
                    <a:schemeClr val="tx1"/>
                  </a:solidFill>
                </a:rPr>
                <a:t> Obeso1 </a:t>
              </a:r>
              <a:r>
                <a:rPr lang="en-US" sz="1600" dirty="0" err="1">
                  <a:solidFill>
                    <a:schemeClr val="tx1"/>
                  </a:solidFill>
                </a:rPr>
                <a:t>sean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propensos</a:t>
              </a:r>
              <a:r>
                <a:rPr lang="en-US" sz="1600" dirty="0">
                  <a:solidFill>
                    <a:schemeClr val="tx1"/>
                  </a:solidFill>
                </a:rPr>
                <a:t> a presenter </a:t>
              </a:r>
              <a:r>
                <a:rPr lang="en-US" sz="1600" dirty="0" err="1">
                  <a:solidFill>
                    <a:schemeClr val="tx1"/>
                  </a:solidFill>
                </a:rPr>
                <a:t>estos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trastornos</a:t>
              </a:r>
              <a:r>
                <a:rPr lang="en-US" sz="1600" dirty="0">
                  <a:solidFill>
                    <a:schemeClr val="tx1"/>
                  </a:solidFill>
                </a:rPr>
                <a:t>.</a:t>
              </a:r>
              <a:endParaRPr lang="es-ES_tradnl" sz="16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4" y="16096664"/>
            <a:ext cx="5366712" cy="3550620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dirty="0">
                  <a:solidFill>
                    <a:schemeClr val="tx1"/>
                  </a:solidFill>
                </a:rPr>
                <a:t>Nuestros resultados sugieren que los individuos tipo Obeso1 de la familia Simpson pueden desarrollar trastornos más allá de la obesidad, incluyendo problemas de desarrollo físico y cognitivo generados por déficit de </a:t>
              </a:r>
              <a:r>
                <a:rPr lang="es-ES_tradnl" i="1" dirty="0">
                  <a:solidFill>
                    <a:schemeClr val="tx1"/>
                  </a:solidFill>
                </a:rPr>
                <a:t>NTRK2</a:t>
              </a:r>
              <a:r>
                <a:rPr lang="es-ES_tradnl" dirty="0">
                  <a:solidFill>
                    <a:schemeClr val="tx1"/>
                  </a:solidFill>
                </a:rPr>
                <a:t>, que pueden aumentar el riesgo de mortalidad, además de un incremento del apetito, debido a la potencial inhibición de la señal de saciedad </a:t>
              </a:r>
              <a:r>
                <a:rPr lang="es-ES_tradnl" dirty="0" smtClean="0">
                  <a:solidFill>
                    <a:schemeClr val="tx1"/>
                  </a:solidFill>
                </a:rPr>
                <a:t>regulada por los genes </a:t>
              </a:r>
              <a:r>
                <a:rPr lang="es-ES_tradnl" i="1" dirty="0" smtClean="0">
                  <a:solidFill>
                    <a:schemeClr val="tx1"/>
                  </a:solidFill>
                </a:rPr>
                <a:t>LEPR</a:t>
              </a:r>
              <a:r>
                <a:rPr lang="es-ES_tradnl" dirty="0" smtClean="0">
                  <a:solidFill>
                    <a:schemeClr val="tx1"/>
                  </a:solidFill>
                </a:rPr>
                <a:t>, </a:t>
              </a:r>
              <a:r>
                <a:rPr lang="es-ES_tradnl" i="1" dirty="0" smtClean="0">
                  <a:solidFill>
                    <a:schemeClr val="tx1"/>
                  </a:solidFill>
                </a:rPr>
                <a:t>LEP</a:t>
              </a:r>
              <a:r>
                <a:rPr lang="es-ES_tradnl" dirty="0" smtClean="0">
                  <a:solidFill>
                    <a:schemeClr val="tx1"/>
                  </a:solidFill>
                </a:rPr>
                <a:t> y </a:t>
              </a:r>
              <a:r>
                <a:rPr lang="es-ES_tradnl" i="1" dirty="0" smtClean="0">
                  <a:solidFill>
                    <a:schemeClr val="tx1"/>
                  </a:solidFill>
                </a:rPr>
                <a:t>MC4R</a:t>
              </a:r>
              <a:r>
                <a:rPr lang="es-ES_tradnl" dirty="0" smtClean="0">
                  <a:solidFill>
                    <a:schemeClr val="tx1"/>
                  </a:solidFill>
                </a:rPr>
                <a:t>.</a:t>
              </a:r>
              <a:endParaRPr lang="es-ES_tradnl" sz="24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3C0430B1-DA84-A5E7-56D9-DB622393E1A9}"/>
              </a:ext>
            </a:extLst>
          </p:cNvPr>
          <p:cNvGrpSpPr/>
          <p:nvPr/>
        </p:nvGrpSpPr>
        <p:grpSpPr>
          <a:xfrm>
            <a:off x="200156" y="19736245"/>
            <a:ext cx="14668990" cy="1647380"/>
            <a:chOff x="207596" y="5986333"/>
            <a:chExt cx="14668990" cy="2117079"/>
          </a:xfrm>
        </p:grpSpPr>
        <p:sp>
          <p:nvSpPr>
            <p:cNvPr id="23" name="Rectángulo redondeado 13">
              <a:extLst>
                <a:ext uri="{FF2B5EF4-FFF2-40B4-BE49-F238E27FC236}">
                  <a16:creationId xmlns:a16="http://schemas.microsoft.com/office/drawing/2014/main" id="{389A8E42-9C9B-7815-0785-B232A9801221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ángulo redondeado 14">
              <a:extLst>
                <a:ext uri="{FF2B5EF4-FFF2-40B4-BE49-F238E27FC236}">
                  <a16:creationId xmlns:a16="http://schemas.microsoft.com/office/drawing/2014/main" id="{EAEAA6AB-78C4-75DC-9D64-9A08D61943C5}"/>
                </a:ext>
              </a:extLst>
            </p:cNvPr>
            <p:cNvSpPr/>
            <p:nvPr/>
          </p:nvSpPr>
          <p:spPr>
            <a:xfrm>
              <a:off x="500674" y="5986333"/>
              <a:ext cx="5838092" cy="757200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BIBLIOGRAFÍA</a:t>
              </a:r>
              <a:endParaRPr lang="es-ES_tradnl" sz="2800" b="1" dirty="0"/>
            </a:p>
          </p:txBody>
        </p:sp>
      </p:grp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18258" y="8161938"/>
            <a:ext cx="621892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</a:t>
            </a:r>
            <a:r>
              <a:rPr lang="es-ES_tradnl" b="1" dirty="0">
                <a:solidFill>
                  <a:srgbClr val="4196C9"/>
                </a:solidFill>
                <a:latin typeface="Aptos" panose="02110004020202020204"/>
              </a:rPr>
              <a:t>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Volcano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Plot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 de la expresión diferencial genética entre las categorías Obeso1 y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Normopeso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32" y="8848214"/>
            <a:ext cx="5497112" cy="4397689"/>
          </a:xfrm>
          <a:prstGeom prst="rect">
            <a:avLst/>
          </a:prstGeom>
        </p:spPr>
      </p:pic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7735699" y="8133338"/>
            <a:ext cx="6705696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Mapa de calor solo de los genes diferencialmente expresados entre Obeso1 y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Normopeso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200156" y="20474441"/>
            <a:ext cx="1410834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[1] </a:t>
            </a:r>
            <a:r>
              <a:rPr lang="es-ES" dirty="0" err="1"/>
              <a:t>Clément</a:t>
            </a:r>
            <a:r>
              <a:rPr lang="es-ES" dirty="0"/>
              <a:t> </a:t>
            </a:r>
            <a:r>
              <a:rPr lang="es-ES" i="1" dirty="0"/>
              <a:t>et al.</a:t>
            </a:r>
            <a:r>
              <a:rPr lang="es-ES" dirty="0"/>
              <a:t> (1998). </a:t>
            </a:r>
            <a:r>
              <a:rPr lang="es-ES" dirty="0" err="1"/>
              <a:t>Nature</a:t>
            </a:r>
            <a:r>
              <a:rPr lang="es-ES" dirty="0"/>
              <a:t>, 392(6674), 398–401. https://doi.org/10.1038/32911</a:t>
            </a:r>
          </a:p>
          <a:p>
            <a:r>
              <a:rPr lang="es-ES" dirty="0" smtClean="0"/>
              <a:t>[2] </a:t>
            </a:r>
            <a:r>
              <a:rPr lang="es-ES" dirty="0" err="1" smtClean="0"/>
              <a:t>Fani</a:t>
            </a:r>
            <a:r>
              <a:rPr lang="es-ES" dirty="0" smtClean="0"/>
              <a:t> </a:t>
            </a:r>
            <a:r>
              <a:rPr lang="es-ES" i="1" dirty="0"/>
              <a:t>et </a:t>
            </a:r>
            <a:r>
              <a:rPr lang="es-ES" i="1" dirty="0" smtClean="0"/>
              <a:t>al.</a:t>
            </a:r>
            <a:r>
              <a:rPr lang="es-ES" dirty="0" smtClean="0"/>
              <a:t> </a:t>
            </a:r>
            <a:r>
              <a:rPr lang="es-ES" dirty="0"/>
              <a:t>(2013) </a:t>
            </a:r>
            <a:r>
              <a:rPr lang="en-US" dirty="0"/>
              <a:t>International Journal of Obesity (2013), </a:t>
            </a:r>
            <a:r>
              <a:rPr lang="en-US" dirty="0" smtClean="0"/>
              <a:t>1–7.  </a:t>
            </a:r>
            <a:r>
              <a:rPr lang="en-US" dirty="0"/>
              <a:t>https://</a:t>
            </a:r>
            <a:r>
              <a:rPr lang="es-ES" dirty="0" smtClean="0"/>
              <a:t>doi:10.1038/ijo.2013.80</a:t>
            </a:r>
          </a:p>
          <a:p>
            <a:r>
              <a:rPr lang="es-ES" dirty="0"/>
              <a:t>[3] </a:t>
            </a:r>
            <a:r>
              <a:rPr lang="es-ES" dirty="0" err="1"/>
              <a:t>Yeo</a:t>
            </a:r>
            <a:r>
              <a:rPr lang="es-ES" dirty="0"/>
              <a:t> </a:t>
            </a:r>
            <a:r>
              <a:rPr lang="es-ES" i="1" dirty="0"/>
              <a:t>et al.</a:t>
            </a:r>
            <a:r>
              <a:rPr lang="es-ES" dirty="0"/>
              <a:t> (2004). </a:t>
            </a:r>
            <a:r>
              <a:rPr lang="es-ES" i="1" dirty="0" err="1"/>
              <a:t>Nature</a:t>
            </a:r>
            <a:r>
              <a:rPr lang="es-ES" i="1" dirty="0"/>
              <a:t> </a:t>
            </a:r>
            <a:r>
              <a:rPr lang="es-ES" i="1" dirty="0" err="1"/>
              <a:t>neuroscience</a:t>
            </a:r>
            <a:r>
              <a:rPr lang="es-ES" dirty="0"/>
              <a:t>, </a:t>
            </a:r>
            <a:r>
              <a:rPr lang="es-ES" i="1" dirty="0"/>
              <a:t>7</a:t>
            </a:r>
            <a:r>
              <a:rPr lang="es-ES" dirty="0"/>
              <a:t>(11), 1187–1189. https://</a:t>
            </a:r>
            <a:r>
              <a:rPr lang="es-ES" dirty="0" smtClean="0"/>
              <a:t>doi.org/10.1038/nn1336</a:t>
            </a:r>
            <a:endParaRPr lang="es-ES" dirty="0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35841" y="13244838"/>
            <a:ext cx="13905554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</a:t>
            </a:r>
            <a:r>
              <a:rPr kumimoji="0" lang="es-ES_tradnl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</a:t>
            </a:r>
            <a:r>
              <a:rPr lang="es-ES_tradnl" b="1" dirty="0" smtClean="0">
                <a:solidFill>
                  <a:srgbClr val="4196C9"/>
                </a:solidFill>
                <a:latin typeface="Aptos" panose="02110004020202020204"/>
              </a:rPr>
              <a:t> </a:t>
            </a:r>
            <a:r>
              <a:rPr lang="es-ES_tradnl" b="1" dirty="0" smtClean="0">
                <a:solidFill>
                  <a:prstClr val="black"/>
                </a:solidFill>
                <a:latin typeface="Aptos" panose="02110004020202020204"/>
              </a:rPr>
              <a:t>Niveles de expresión de genes diferencialmente expresados entre 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las categorías Obeso1 y </a:t>
            </a:r>
            <a:r>
              <a:rPr lang="es-ES_tradnl" b="1" dirty="0" err="1" smtClean="0">
                <a:solidFill>
                  <a:prstClr val="black"/>
                </a:solidFill>
                <a:latin typeface="Aptos" panose="02110004020202020204"/>
              </a:rPr>
              <a:t>Normopeso</a:t>
            </a:r>
            <a:r>
              <a:rPr lang="es-ES_tradnl" b="1" dirty="0" smtClean="0">
                <a:solidFill>
                  <a:prstClr val="black"/>
                </a:solidFill>
                <a:latin typeface="Aptos" panose="02110004020202020204"/>
              </a:rPr>
              <a:t> en la familia Simpson. Todos los genes muestran diferencias significativas (</a:t>
            </a:r>
            <a:r>
              <a:rPr lang="es-ES_tradnl" b="1" dirty="0" err="1" smtClean="0">
                <a:solidFill>
                  <a:prstClr val="black"/>
                </a:solidFill>
                <a:latin typeface="Aptos" panose="02110004020202020204"/>
              </a:rPr>
              <a:t>padj</a:t>
            </a:r>
            <a:r>
              <a:rPr lang="es-ES_tradnl" b="1" dirty="0" smtClean="0">
                <a:solidFill>
                  <a:prstClr val="black"/>
                </a:solidFill>
                <a:latin typeface="Aptos" panose="02110004020202020204"/>
              </a:rPr>
              <a:t> &lt; 0.05).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875" y="8799628"/>
            <a:ext cx="5926237" cy="4368830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99" y="13903433"/>
            <a:ext cx="11275412" cy="196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8B5577-5CCE-4E9D-BDFA-952900719EE2}">
  <ds:schemaRefs>
    <ds:schemaRef ds:uri="http://purl.org/dc/elements/1.1/"/>
    <ds:schemaRef ds:uri="0a70e875-3d35-4be2-921f-7117c31bab9b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27c1adeb-3674-457c-b08c-8a73f31b6e2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575</Words>
  <Application>Microsoft Office PowerPoint</Application>
  <PresentationFormat>Personalizado</PresentationFormat>
  <Paragraphs>39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Ruben</cp:lastModifiedBy>
  <cp:revision>52</cp:revision>
  <dcterms:created xsi:type="dcterms:W3CDTF">2025-04-21T10:03:24Z</dcterms:created>
  <dcterms:modified xsi:type="dcterms:W3CDTF">2025-12-20T13:25:15Z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